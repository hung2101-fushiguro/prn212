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514" r:id="rId3"/>
    <p:sldId id="278" r:id="rId4"/>
    <p:sldId id="447" r:id="rId5"/>
    <p:sldId id="441" r:id="rId6"/>
    <p:sldId id="458" r:id="rId7"/>
    <p:sldId id="470" r:id="rId8"/>
    <p:sldId id="472" r:id="rId9"/>
    <p:sldId id="471" r:id="rId10"/>
    <p:sldId id="507" r:id="rId11"/>
    <p:sldId id="483" r:id="rId12"/>
    <p:sldId id="484" r:id="rId13"/>
    <p:sldId id="485" r:id="rId14"/>
    <p:sldId id="508" r:id="rId15"/>
    <p:sldId id="488" r:id="rId16"/>
    <p:sldId id="492" r:id="rId17"/>
    <p:sldId id="493" r:id="rId18"/>
    <p:sldId id="494" r:id="rId19"/>
    <p:sldId id="495" r:id="rId20"/>
    <p:sldId id="496" r:id="rId21"/>
    <p:sldId id="509" r:id="rId22"/>
    <p:sldId id="476" r:id="rId23"/>
    <p:sldId id="506" r:id="rId24"/>
    <p:sldId id="478" r:id="rId25"/>
    <p:sldId id="520" r:id="rId26"/>
    <p:sldId id="510" r:id="rId27"/>
    <p:sldId id="497" r:id="rId28"/>
    <p:sldId id="501" r:id="rId29"/>
    <p:sldId id="502" r:id="rId30"/>
    <p:sldId id="498" r:id="rId31"/>
    <p:sldId id="503" r:id="rId32"/>
    <p:sldId id="468" r:id="rId33"/>
    <p:sldId id="499" r:id="rId34"/>
    <p:sldId id="500" r:id="rId35"/>
    <p:sldId id="505" r:id="rId36"/>
    <p:sldId id="511" r:id="rId37"/>
    <p:sldId id="512" r:id="rId38"/>
    <p:sldId id="513" r:id="rId39"/>
    <p:sldId id="515" r:id="rId40"/>
    <p:sldId id="516" r:id="rId41"/>
    <p:sldId id="517" r:id="rId42"/>
    <p:sldId id="518" r:id="rId43"/>
    <p:sldId id="519" r:id="rId44"/>
    <p:sldId id="266"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39" autoAdjust="0"/>
    <p:restoredTop sz="96170" autoAdjust="0"/>
  </p:normalViewPr>
  <p:slideViewPr>
    <p:cSldViewPr snapToGrid="0">
      <p:cViewPr varScale="1">
        <p:scale>
          <a:sx n="117" d="100"/>
          <a:sy n="117" d="100"/>
        </p:scale>
        <p:origin x="61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5/28/2024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3008833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3</a:t>
            </a:fld>
            <a:endParaRPr lang="en-US"/>
          </a:p>
        </p:txBody>
      </p:sp>
    </p:spTree>
    <p:extLst>
      <p:ext uri="{BB962C8B-B14F-4D97-AF65-F5344CB8AC3E}">
        <p14:creationId xmlns:p14="http://schemas.microsoft.com/office/powerpoint/2010/main" val="2886006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a:solidFill>
                  <a:srgbClr val="0D0D0D"/>
                </a:solidFill>
                <a:effectLst/>
                <a:latin typeface="ui-sans-serif"/>
              </a:rPr>
              <a:t>Vai trò của Mẫu thiết kế trong phát triển phần mềm</a:t>
            </a:r>
            <a:endParaRPr lang="vi-VN" b="0" i="0">
              <a:solidFill>
                <a:srgbClr val="0D0D0D"/>
              </a:solidFill>
              <a:effectLst/>
              <a:latin typeface="ui-sans-serif"/>
            </a:endParaRPr>
          </a:p>
          <a:p>
            <a:pPr algn="l">
              <a:buFont typeface="+mj-lt"/>
              <a:buAutoNum type="arabicPeriod"/>
            </a:pPr>
            <a:r>
              <a:rPr lang="vi-VN" b="1" i="0">
                <a:solidFill>
                  <a:srgbClr val="0D0D0D"/>
                </a:solidFill>
                <a:effectLst/>
                <a:latin typeface="ui-sans-serif"/>
              </a:rPr>
              <a:t>Tái sử dụng mã (Code Reusability)</a:t>
            </a:r>
            <a:r>
              <a:rPr lang="vi-VN" b="0" i="0">
                <a:solidFill>
                  <a:srgbClr val="0D0D0D"/>
                </a:solidFill>
                <a:effectLst/>
                <a:latin typeface="ui-sans-serif"/>
              </a:rPr>
              <a:t>:</a:t>
            </a:r>
          </a:p>
          <a:p>
            <a:pPr marL="742950" lvl="1" indent="-285750" algn="l">
              <a:buFont typeface="+mj-lt"/>
              <a:buAutoNum type="arabicPeriod"/>
            </a:pPr>
            <a:r>
              <a:rPr lang="vi-VN" b="0" i="0">
                <a:solidFill>
                  <a:srgbClr val="0D0D0D"/>
                </a:solidFill>
                <a:effectLst/>
                <a:latin typeface="ui-sans-serif"/>
              </a:rPr>
              <a:t>Mẫu thiết kế giúp phát triển các giải pháp có thể tái sử dụng, giúp tiết kiệm thời gian và công sức khi phải giải quyết lại các vấn đề đã gặp trước đó. Điều này giúp cải thiện hiệu suất làm việc của nhóm phát triển và giảm thiểu lỗi.</a:t>
            </a:r>
          </a:p>
          <a:p>
            <a:pPr algn="l">
              <a:buFont typeface="+mj-lt"/>
              <a:buAutoNum type="arabicPeriod"/>
            </a:pPr>
            <a:r>
              <a:rPr lang="vi-VN" b="1" i="0">
                <a:solidFill>
                  <a:srgbClr val="0D0D0D"/>
                </a:solidFill>
                <a:effectLst/>
                <a:latin typeface="ui-sans-serif"/>
              </a:rPr>
              <a:t>Tăng cường khả năng bảo trì (Maintainability)</a:t>
            </a:r>
            <a:r>
              <a:rPr lang="vi-VN" b="0" i="0">
                <a:solidFill>
                  <a:srgbClr val="0D0D0D"/>
                </a:solidFill>
                <a:effectLst/>
                <a:latin typeface="ui-sans-serif"/>
              </a:rPr>
              <a:t>:</a:t>
            </a:r>
          </a:p>
          <a:p>
            <a:pPr marL="742950" lvl="1" indent="-285750" algn="l">
              <a:buFont typeface="+mj-lt"/>
              <a:buAutoNum type="arabicPeriod"/>
            </a:pPr>
            <a:r>
              <a:rPr lang="vi-VN" b="0" i="0">
                <a:solidFill>
                  <a:srgbClr val="0D0D0D"/>
                </a:solidFill>
                <a:effectLst/>
                <a:latin typeface="ui-sans-serif"/>
              </a:rPr>
              <a:t>Bằng cách áp dụng các mẫu thiết kế, mã nguồn trở nên dễ đọc, dễ hiểu và dễ bảo trì hơn. Các mẫu thiết kế cung cấp một cấu trúc rõ ràng và có hệ thống, giúp các nhà phát triển dễ dàng nắm bắt và sửa đổi mã khi cần thiết.</a:t>
            </a:r>
          </a:p>
          <a:p>
            <a:pPr algn="l">
              <a:buFont typeface="+mj-lt"/>
              <a:buAutoNum type="arabicPeriod"/>
            </a:pPr>
            <a:r>
              <a:rPr lang="vi-VN" b="1" i="0">
                <a:solidFill>
                  <a:srgbClr val="0D0D0D"/>
                </a:solidFill>
                <a:effectLst/>
                <a:latin typeface="ui-sans-serif"/>
              </a:rPr>
              <a:t>Giải pháp đã được kiểm chứng (Proven Solutions)</a:t>
            </a:r>
            <a:r>
              <a:rPr lang="vi-VN" b="0" i="0">
                <a:solidFill>
                  <a:srgbClr val="0D0D0D"/>
                </a:solidFill>
                <a:effectLst/>
                <a:latin typeface="ui-sans-serif"/>
              </a:rPr>
              <a:t>:</a:t>
            </a:r>
          </a:p>
          <a:p>
            <a:pPr marL="742950" lvl="1" indent="-285750" algn="l">
              <a:buFont typeface="+mj-lt"/>
              <a:buAutoNum type="arabicPeriod"/>
            </a:pPr>
            <a:r>
              <a:rPr lang="vi-VN" b="0" i="0">
                <a:solidFill>
                  <a:srgbClr val="0D0D0D"/>
                </a:solidFill>
                <a:effectLst/>
                <a:latin typeface="ui-sans-serif"/>
              </a:rPr>
              <a:t>Mẫu thiết kế cung cấp các giải pháp đã được kiểm chứng qua thời gian và sử dụng trong nhiều dự án khác nhau. Điều này đảm bảo rằng các giải pháp này đã được thử nghiệm và đáng tin cậy.</a:t>
            </a:r>
          </a:p>
          <a:p>
            <a:pPr algn="l">
              <a:buFont typeface="+mj-lt"/>
              <a:buAutoNum type="arabicPeriod"/>
            </a:pPr>
            <a:r>
              <a:rPr lang="vi-VN" b="1" i="0">
                <a:solidFill>
                  <a:srgbClr val="0D0D0D"/>
                </a:solidFill>
                <a:effectLst/>
                <a:latin typeface="ui-sans-serif"/>
              </a:rPr>
              <a:t>Giao tiếp và hiểu biết chung (Common Language)</a:t>
            </a:r>
            <a:r>
              <a:rPr lang="vi-VN" b="0" i="0">
                <a:solidFill>
                  <a:srgbClr val="0D0D0D"/>
                </a:solidFill>
                <a:effectLst/>
                <a:latin typeface="ui-sans-serif"/>
              </a:rPr>
              <a:t>:</a:t>
            </a:r>
          </a:p>
          <a:p>
            <a:pPr marL="742950" lvl="1" indent="-285750" algn="l">
              <a:buFont typeface="+mj-lt"/>
              <a:buAutoNum type="arabicPeriod"/>
            </a:pPr>
            <a:r>
              <a:rPr lang="vi-VN" b="0" i="0">
                <a:solidFill>
                  <a:srgbClr val="0D0D0D"/>
                </a:solidFill>
                <a:effectLst/>
                <a:latin typeface="ui-sans-serif"/>
              </a:rPr>
              <a:t>Mẫu thiết kế cung cấp một ngôn ngữ chung cho các nhà phát triển. Khi mọi người đều hiểu và sử dụng cùng một bộ mẫu thiết kế, việc giao tiếp và hợp tác giữa các thành viên trong nhóm trở nên dễ dàng hơn.</a:t>
            </a:r>
          </a:p>
          <a:p>
            <a:pPr algn="l">
              <a:buFont typeface="+mj-lt"/>
              <a:buAutoNum type="arabicPeriod"/>
            </a:pPr>
            <a:r>
              <a:rPr lang="vi-VN" b="1" i="0">
                <a:solidFill>
                  <a:srgbClr val="0D0D0D"/>
                </a:solidFill>
                <a:effectLst/>
                <a:latin typeface="ui-sans-serif"/>
              </a:rPr>
              <a:t>Cải thiện chất lượng phần mềm (Improved Software Quality)</a:t>
            </a:r>
            <a:r>
              <a:rPr lang="vi-VN" b="0" i="0">
                <a:solidFill>
                  <a:srgbClr val="0D0D0D"/>
                </a:solidFill>
                <a:effectLst/>
                <a:latin typeface="ui-sans-serif"/>
              </a:rPr>
              <a:t>:</a:t>
            </a:r>
          </a:p>
          <a:p>
            <a:pPr marL="742950" lvl="1" indent="-285750" algn="l">
              <a:buFont typeface="+mj-lt"/>
              <a:buAutoNum type="arabicPeriod"/>
            </a:pPr>
            <a:r>
              <a:rPr lang="vi-VN" b="0" i="0">
                <a:solidFill>
                  <a:srgbClr val="0D0D0D"/>
                </a:solidFill>
                <a:effectLst/>
                <a:latin typeface="ui-sans-serif"/>
              </a:rPr>
              <a:t>Việc sử dụng các mẫu thiết kế giúp tăng cường chất lượng của phần mềm. Bằng cách áp dụng các nguyên tắc và thực hành tốt nhất được gói gọn trong các mẫu thiết kế, phần mềm trở nên ổn định, linh hoạt và dễ mở rộng hơn.</a:t>
            </a:r>
          </a:p>
          <a:p>
            <a:pPr algn="l">
              <a:buFont typeface="+mj-lt"/>
              <a:buAutoNum type="arabicPeriod"/>
            </a:pPr>
            <a:r>
              <a:rPr lang="vi-VN" b="1" i="0">
                <a:solidFill>
                  <a:srgbClr val="0D0D0D"/>
                </a:solidFill>
                <a:effectLst/>
                <a:latin typeface="ui-sans-serif"/>
              </a:rPr>
              <a:t>Giải quyết các vấn đề phức tạp (Solving Complex Problems)</a:t>
            </a:r>
            <a:r>
              <a:rPr lang="vi-VN" b="0" i="0">
                <a:solidFill>
                  <a:srgbClr val="0D0D0D"/>
                </a:solidFill>
                <a:effectLst/>
                <a:latin typeface="ui-sans-serif"/>
              </a:rPr>
              <a:t>:</a:t>
            </a:r>
          </a:p>
          <a:p>
            <a:pPr marL="742950" lvl="1" indent="-285750" algn="l">
              <a:buFont typeface="+mj-lt"/>
              <a:buAutoNum type="arabicPeriod"/>
            </a:pPr>
            <a:r>
              <a:rPr lang="vi-VN" b="0" i="0">
                <a:solidFill>
                  <a:srgbClr val="0D0D0D"/>
                </a:solidFill>
                <a:effectLst/>
                <a:latin typeface="ui-sans-serif"/>
              </a:rPr>
              <a:t>Mẫu thiết kế giúp đơn giản hóa việc giải quyết các vấn đề phức tạp bằng cách cung cấp các mô hình dễ hiểu và áp dụng. Điều này giúp các nhà phát triển tập trung vào việc giải quyết vấn đề cụ thể mà không phải lo lắng về cấu trúc tổng thể của hệ thống.</a:t>
            </a:r>
          </a:p>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4</a:t>
            </a:fld>
            <a:endParaRPr lang="en-US"/>
          </a:p>
        </p:txBody>
      </p:sp>
    </p:spTree>
    <p:extLst>
      <p:ext uri="{BB962C8B-B14F-4D97-AF65-F5344CB8AC3E}">
        <p14:creationId xmlns:p14="http://schemas.microsoft.com/office/powerpoint/2010/main" val="675886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5</a:t>
            </a:fld>
            <a:endParaRPr lang="en-US"/>
          </a:p>
        </p:txBody>
      </p:sp>
    </p:spTree>
    <p:extLst>
      <p:ext uri="{BB962C8B-B14F-4D97-AF65-F5344CB8AC3E}">
        <p14:creationId xmlns:p14="http://schemas.microsoft.com/office/powerpoint/2010/main" val="3643436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6</a:t>
            </a:fld>
            <a:endParaRPr lang="en-US"/>
          </a:p>
        </p:txBody>
      </p:sp>
    </p:spTree>
    <p:extLst>
      <p:ext uri="{BB962C8B-B14F-4D97-AF65-F5344CB8AC3E}">
        <p14:creationId xmlns:p14="http://schemas.microsoft.com/office/powerpoint/2010/main" val="2574196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a:solidFill>
                  <a:srgbClr val="0D0D0D"/>
                </a:solidFill>
                <a:effectLst/>
                <a:latin typeface="ui-sans-serif"/>
              </a:rPr>
              <a:t>Ưu điểm và nhược điểm của Mẫu thiết kế (Design Pattern)</a:t>
            </a:r>
            <a:endParaRPr lang="vi-VN" b="0" i="0">
              <a:solidFill>
                <a:srgbClr val="0D0D0D"/>
              </a:solidFill>
              <a:effectLst/>
              <a:latin typeface="ui-sans-serif"/>
            </a:endParaRPr>
          </a:p>
          <a:p>
            <a:pPr algn="l"/>
            <a:r>
              <a:rPr lang="vi-VN" b="1" i="0">
                <a:solidFill>
                  <a:srgbClr val="0D0D0D"/>
                </a:solidFill>
                <a:effectLst/>
                <a:latin typeface="ui-sans-serif"/>
              </a:rPr>
              <a:t>Ưu điểm (Pros)</a:t>
            </a:r>
            <a:r>
              <a:rPr lang="vi-VN" b="0" i="0">
                <a:solidFill>
                  <a:srgbClr val="0D0D0D"/>
                </a:solidFill>
                <a:effectLst/>
                <a:latin typeface="ui-sans-serif"/>
              </a:rPr>
              <a:t>:</a:t>
            </a:r>
          </a:p>
          <a:p>
            <a:pPr algn="l">
              <a:buFont typeface="+mj-lt"/>
              <a:buAutoNum type="arabicPeriod"/>
            </a:pPr>
            <a:r>
              <a:rPr lang="vi-VN" b="1" i="0">
                <a:solidFill>
                  <a:srgbClr val="0D0D0D"/>
                </a:solidFill>
                <a:effectLst/>
                <a:latin typeface="ui-sans-serif"/>
              </a:rPr>
              <a:t>Tái sử dụng mã (Code Reusability)</a:t>
            </a:r>
            <a:r>
              <a:rPr lang="vi-VN" b="0" i="0">
                <a:solidFill>
                  <a:srgbClr val="0D0D0D"/>
                </a:solidFill>
                <a:effectLst/>
                <a:latin typeface="ui-sans-serif"/>
              </a:rPr>
              <a:t>:</a:t>
            </a:r>
          </a:p>
          <a:p>
            <a:pPr marL="742950" lvl="1" indent="-285750" algn="l">
              <a:buFont typeface="+mj-lt"/>
              <a:buAutoNum type="arabicPeriod"/>
            </a:pPr>
            <a:r>
              <a:rPr lang="vi-VN" b="0" i="0">
                <a:solidFill>
                  <a:srgbClr val="0D0D0D"/>
                </a:solidFill>
                <a:effectLst/>
                <a:latin typeface="ui-sans-serif"/>
              </a:rPr>
              <a:t>Mẫu thiết kế cung cấp các giải pháp có thể tái sử dụng cho các vấn đề phổ biến, giúp tiết kiệm thời gian và công sức trong quá trình phát triển.</a:t>
            </a:r>
          </a:p>
          <a:p>
            <a:pPr algn="l">
              <a:buFont typeface="+mj-lt"/>
              <a:buAutoNum type="arabicPeriod"/>
            </a:pPr>
            <a:r>
              <a:rPr lang="vi-VN" b="1" i="0">
                <a:solidFill>
                  <a:srgbClr val="0D0D0D"/>
                </a:solidFill>
                <a:effectLst/>
                <a:latin typeface="ui-sans-serif"/>
              </a:rPr>
              <a:t>Cải thiện chất lượng phần mềm (Improved Software Quality)</a:t>
            </a:r>
            <a:r>
              <a:rPr lang="vi-VN" b="0" i="0">
                <a:solidFill>
                  <a:srgbClr val="0D0D0D"/>
                </a:solidFill>
                <a:effectLst/>
                <a:latin typeface="ui-sans-serif"/>
              </a:rPr>
              <a:t>:</a:t>
            </a:r>
          </a:p>
          <a:p>
            <a:pPr marL="742950" lvl="1" indent="-285750" algn="l">
              <a:buFont typeface="+mj-lt"/>
              <a:buAutoNum type="arabicPeriod"/>
            </a:pPr>
            <a:r>
              <a:rPr lang="vi-VN" b="0" i="0">
                <a:solidFill>
                  <a:srgbClr val="0D0D0D"/>
                </a:solidFill>
                <a:effectLst/>
                <a:latin typeface="ui-sans-serif"/>
              </a:rPr>
              <a:t>Việc sử dụng các mẫu thiết kế giúp tạo ra mã nguồn chất lượng cao, dễ bảo trì và mở rộng.</a:t>
            </a:r>
          </a:p>
          <a:p>
            <a:pPr algn="l">
              <a:buFont typeface="+mj-lt"/>
              <a:buAutoNum type="arabicPeriod"/>
            </a:pPr>
            <a:r>
              <a:rPr lang="vi-VN" b="1" i="0">
                <a:solidFill>
                  <a:srgbClr val="0D0D0D"/>
                </a:solidFill>
                <a:effectLst/>
                <a:latin typeface="ui-sans-serif"/>
              </a:rPr>
              <a:t>Tăng cường khả năng giao tiếp (Improved Communication)</a:t>
            </a:r>
            <a:r>
              <a:rPr lang="vi-VN" b="0" i="0">
                <a:solidFill>
                  <a:srgbClr val="0D0D0D"/>
                </a:solidFill>
                <a:effectLst/>
                <a:latin typeface="ui-sans-serif"/>
              </a:rPr>
              <a:t>:</a:t>
            </a:r>
          </a:p>
          <a:p>
            <a:pPr marL="742950" lvl="1" indent="-285750" algn="l">
              <a:buFont typeface="+mj-lt"/>
              <a:buAutoNum type="arabicPeriod"/>
            </a:pPr>
            <a:r>
              <a:rPr lang="vi-VN" b="0" i="0">
                <a:solidFill>
                  <a:srgbClr val="0D0D0D"/>
                </a:solidFill>
                <a:effectLst/>
                <a:latin typeface="ui-sans-serif"/>
              </a:rPr>
              <a:t>Mẫu thiết kế cung cấp một ngôn ngữ chung cho các nhà phát triển, giúp tăng cường khả năng giao tiếp và hiểu biết chung trong nhóm.</a:t>
            </a:r>
          </a:p>
          <a:p>
            <a:pPr algn="l">
              <a:buFont typeface="+mj-lt"/>
              <a:buAutoNum type="arabicPeriod"/>
            </a:pPr>
            <a:r>
              <a:rPr lang="vi-VN" b="1" i="0">
                <a:solidFill>
                  <a:srgbClr val="0D0D0D"/>
                </a:solidFill>
                <a:effectLst/>
                <a:latin typeface="ui-sans-serif"/>
              </a:rPr>
              <a:t>Giải pháp đã được kiểm chứng (Proven Solutions)</a:t>
            </a:r>
            <a:r>
              <a:rPr lang="vi-VN" b="0" i="0">
                <a:solidFill>
                  <a:srgbClr val="0D0D0D"/>
                </a:solidFill>
                <a:effectLst/>
                <a:latin typeface="ui-sans-serif"/>
              </a:rPr>
              <a:t>:</a:t>
            </a:r>
          </a:p>
          <a:p>
            <a:pPr marL="742950" lvl="1" indent="-285750" algn="l">
              <a:buFont typeface="+mj-lt"/>
              <a:buAutoNum type="arabicPeriod"/>
            </a:pPr>
            <a:r>
              <a:rPr lang="vi-VN" b="0" i="0">
                <a:solidFill>
                  <a:srgbClr val="0D0D0D"/>
                </a:solidFill>
                <a:effectLst/>
                <a:latin typeface="ui-sans-serif"/>
              </a:rPr>
              <a:t>Các mẫu thiết kế đã được thử nghiệm và chứng minh là hiệu quả trong nhiều tình huống, giúp giảm thiểu rủi ro khi triển khai các giải pháp mới.</a:t>
            </a:r>
          </a:p>
          <a:p>
            <a:pPr algn="l">
              <a:buFont typeface="+mj-lt"/>
              <a:buAutoNum type="arabicPeriod"/>
            </a:pPr>
            <a:r>
              <a:rPr lang="vi-VN" b="1" i="0">
                <a:solidFill>
                  <a:srgbClr val="0D0D0D"/>
                </a:solidFill>
                <a:effectLst/>
                <a:latin typeface="ui-sans-serif"/>
              </a:rPr>
              <a:t>Tăng cường khả năng bảo trì (Maintainability)</a:t>
            </a:r>
            <a:r>
              <a:rPr lang="vi-VN" b="0" i="0">
                <a:solidFill>
                  <a:srgbClr val="0D0D0D"/>
                </a:solidFill>
                <a:effectLst/>
                <a:latin typeface="ui-sans-serif"/>
              </a:rPr>
              <a:t>:</a:t>
            </a:r>
          </a:p>
          <a:p>
            <a:pPr marL="742950" lvl="1" indent="-285750" algn="l">
              <a:buFont typeface="+mj-lt"/>
              <a:buAutoNum type="arabicPeriod"/>
            </a:pPr>
            <a:r>
              <a:rPr lang="vi-VN" b="0" i="0">
                <a:solidFill>
                  <a:srgbClr val="0D0D0D"/>
                </a:solidFill>
                <a:effectLst/>
                <a:latin typeface="ui-sans-serif"/>
              </a:rPr>
              <a:t>Các mẫu thiết kế giúp tạo ra các cấu trúc mã rõ ràng và có hệ thống, dễ dàng cho việc bảo trì và sửa đổi.</a:t>
            </a:r>
          </a:p>
          <a:p>
            <a:pPr algn="l"/>
            <a:r>
              <a:rPr lang="vi-VN" b="1" i="0">
                <a:solidFill>
                  <a:srgbClr val="0D0D0D"/>
                </a:solidFill>
                <a:effectLst/>
                <a:latin typeface="ui-sans-serif"/>
              </a:rPr>
              <a:t>Nhược điểm (Cons)</a:t>
            </a:r>
            <a:r>
              <a:rPr lang="vi-VN" b="0" i="0">
                <a:solidFill>
                  <a:srgbClr val="0D0D0D"/>
                </a:solidFill>
                <a:effectLst/>
                <a:latin typeface="ui-sans-serif"/>
              </a:rPr>
              <a:t>:</a:t>
            </a:r>
          </a:p>
          <a:p>
            <a:pPr algn="l">
              <a:buFont typeface="+mj-lt"/>
              <a:buAutoNum type="arabicPeriod"/>
            </a:pPr>
            <a:r>
              <a:rPr lang="vi-VN" b="1" i="0">
                <a:solidFill>
                  <a:srgbClr val="0D0D0D"/>
                </a:solidFill>
                <a:effectLst/>
                <a:latin typeface="ui-sans-serif"/>
              </a:rPr>
              <a:t>Độ phức tạp (Complexity)</a:t>
            </a:r>
            <a:r>
              <a:rPr lang="vi-VN" b="0" i="0">
                <a:solidFill>
                  <a:srgbClr val="0D0D0D"/>
                </a:solidFill>
                <a:effectLst/>
                <a:latin typeface="ui-sans-serif"/>
              </a:rPr>
              <a:t>:</a:t>
            </a:r>
          </a:p>
          <a:p>
            <a:pPr marL="742950" lvl="1" indent="-285750" algn="l">
              <a:buFont typeface="+mj-lt"/>
              <a:buAutoNum type="arabicPeriod"/>
            </a:pPr>
            <a:r>
              <a:rPr lang="vi-VN" b="0" i="0">
                <a:solidFill>
                  <a:srgbClr val="0D0D0D"/>
                </a:solidFill>
                <a:effectLst/>
                <a:latin typeface="ui-sans-serif"/>
              </a:rPr>
              <a:t>Việc áp dụng các mẫu thiết kế có thể làm tăng độ phức tạp của mã nguồn, đặc biệt khi sử dụng không đúng cách hoặc quá mức.</a:t>
            </a:r>
          </a:p>
          <a:p>
            <a:pPr algn="l">
              <a:buFont typeface="+mj-lt"/>
              <a:buAutoNum type="arabicPeriod"/>
            </a:pPr>
            <a:r>
              <a:rPr lang="vi-VN" b="1" i="0">
                <a:solidFill>
                  <a:srgbClr val="0D0D0D"/>
                </a:solidFill>
                <a:effectLst/>
                <a:latin typeface="ui-sans-serif"/>
              </a:rPr>
              <a:t>Học tập và áp dụng (Learning Curve)</a:t>
            </a:r>
            <a:r>
              <a:rPr lang="vi-VN" b="0" i="0">
                <a:solidFill>
                  <a:srgbClr val="0D0D0D"/>
                </a:solidFill>
                <a:effectLst/>
                <a:latin typeface="ui-sans-serif"/>
              </a:rPr>
              <a:t>:</a:t>
            </a:r>
          </a:p>
          <a:p>
            <a:pPr marL="742950" lvl="1" indent="-285750" algn="l">
              <a:buFont typeface="+mj-lt"/>
              <a:buAutoNum type="arabicPeriod"/>
            </a:pPr>
            <a:r>
              <a:rPr lang="vi-VN" b="0" i="0">
                <a:solidFill>
                  <a:srgbClr val="0D0D0D"/>
                </a:solidFill>
                <a:effectLst/>
                <a:latin typeface="ui-sans-serif"/>
              </a:rPr>
              <a:t>Các mẫu thiết kế đòi hỏi người phát triển phải có kiến thức và kinh nghiệm, có thể gây khó khăn cho những người mới bắt đầu.</a:t>
            </a:r>
          </a:p>
          <a:p>
            <a:pPr algn="l">
              <a:buFont typeface="+mj-lt"/>
              <a:buAutoNum type="arabicPeriod"/>
            </a:pPr>
            <a:r>
              <a:rPr lang="vi-VN" b="1" i="0">
                <a:solidFill>
                  <a:srgbClr val="0D0D0D"/>
                </a:solidFill>
                <a:effectLst/>
                <a:latin typeface="ui-sans-serif"/>
              </a:rPr>
              <a:t>Lạm dụng (Overuse)</a:t>
            </a:r>
            <a:r>
              <a:rPr lang="vi-VN" b="0" i="0">
                <a:solidFill>
                  <a:srgbClr val="0D0D0D"/>
                </a:solidFill>
                <a:effectLst/>
                <a:latin typeface="ui-sans-serif"/>
              </a:rPr>
              <a:t>:</a:t>
            </a:r>
          </a:p>
          <a:p>
            <a:pPr marL="742950" lvl="1" indent="-285750" algn="l">
              <a:buFont typeface="+mj-lt"/>
              <a:buAutoNum type="arabicPeriod"/>
            </a:pPr>
            <a:r>
              <a:rPr lang="vi-VN" b="0" i="0">
                <a:solidFill>
                  <a:srgbClr val="0D0D0D"/>
                </a:solidFill>
                <a:effectLst/>
                <a:latin typeface="ui-sans-serif"/>
              </a:rPr>
              <a:t>Lạm dụng mẫu thiết kế có thể dẫn đến việc tạo ra các giải pháp quá phức tạp cho các vấn đề đơn giản, làm giảm hiệu quả và tăng chi phí bảo trì.</a:t>
            </a:r>
          </a:p>
          <a:p>
            <a:pPr algn="l">
              <a:buFont typeface="+mj-lt"/>
              <a:buAutoNum type="arabicPeriod"/>
            </a:pPr>
            <a:r>
              <a:rPr lang="vi-VN" b="1" i="0">
                <a:solidFill>
                  <a:srgbClr val="0D0D0D"/>
                </a:solidFill>
                <a:effectLst/>
                <a:latin typeface="ui-sans-serif"/>
              </a:rPr>
              <a:t>Thiếu tính linh hoạt (Lack of Flexibility)</a:t>
            </a:r>
            <a:r>
              <a:rPr lang="vi-VN" b="0" i="0">
                <a:solidFill>
                  <a:srgbClr val="0D0D0D"/>
                </a:solidFill>
                <a:effectLst/>
                <a:latin typeface="ui-sans-serif"/>
              </a:rPr>
              <a:t>:</a:t>
            </a:r>
          </a:p>
          <a:p>
            <a:pPr marL="742950" lvl="1" indent="-285750" algn="l">
              <a:buFont typeface="+mj-lt"/>
              <a:buAutoNum type="arabicPeriod"/>
            </a:pPr>
            <a:r>
              <a:rPr lang="vi-VN" b="0" i="0">
                <a:solidFill>
                  <a:srgbClr val="0D0D0D"/>
                </a:solidFill>
                <a:effectLst/>
                <a:latin typeface="ui-sans-serif"/>
              </a:rPr>
              <a:t>Một số mẫu thiết kế có thể làm giảm tính linh hoạt của mã nguồn nếu không được áp dụng một cách cẩn thận, gây khó khăn trong việc thay đổi yêu cầu hoặc mở rộng tính năng.</a:t>
            </a:r>
          </a:p>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7</a:t>
            </a:fld>
            <a:endParaRPr lang="en-US"/>
          </a:p>
        </p:txBody>
      </p:sp>
    </p:spTree>
    <p:extLst>
      <p:ext uri="{BB962C8B-B14F-4D97-AF65-F5344CB8AC3E}">
        <p14:creationId xmlns:p14="http://schemas.microsoft.com/office/powerpoint/2010/main" val="42831337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Gang of Four </a:t>
            </a:r>
          </a:p>
        </p:txBody>
      </p:sp>
      <p:sp>
        <p:nvSpPr>
          <p:cNvPr id="4" name="Slide Number Placeholder 3"/>
          <p:cNvSpPr>
            <a:spLocks noGrp="1"/>
          </p:cNvSpPr>
          <p:nvPr>
            <p:ph type="sldNum" sz="quarter" idx="10"/>
          </p:nvPr>
        </p:nvSpPr>
        <p:spPr/>
        <p:txBody>
          <a:bodyPr/>
          <a:lstStyle/>
          <a:p>
            <a:fld id="{1D510F9E-0979-4C8E-BC74-25806C6B870B}" type="slidenum">
              <a:rPr lang="en-US" smtClean="0"/>
              <a:t>8</a:t>
            </a:fld>
            <a:endParaRPr lang="en-US"/>
          </a:p>
        </p:txBody>
      </p:sp>
    </p:spTree>
    <p:extLst>
      <p:ext uri="{BB962C8B-B14F-4D97-AF65-F5344CB8AC3E}">
        <p14:creationId xmlns:p14="http://schemas.microsoft.com/office/powerpoint/2010/main" val="2371815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9</a:t>
            </a:fld>
            <a:endParaRPr lang="en-US"/>
          </a:p>
        </p:txBody>
      </p:sp>
    </p:spTree>
    <p:extLst>
      <p:ext uri="{BB962C8B-B14F-4D97-AF65-F5344CB8AC3E}">
        <p14:creationId xmlns:p14="http://schemas.microsoft.com/office/powerpoint/2010/main" val="27701899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11</a:t>
            </a:fld>
            <a:endParaRPr lang="en-US"/>
          </a:p>
        </p:txBody>
      </p:sp>
    </p:spTree>
    <p:extLst>
      <p:ext uri="{BB962C8B-B14F-4D97-AF65-F5344CB8AC3E}">
        <p14:creationId xmlns:p14="http://schemas.microsoft.com/office/powerpoint/2010/main" val="10911052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12</a:t>
            </a:fld>
            <a:endParaRPr lang="en-US"/>
          </a:p>
        </p:txBody>
      </p:sp>
    </p:spTree>
    <p:extLst>
      <p:ext uri="{BB962C8B-B14F-4D97-AF65-F5344CB8AC3E}">
        <p14:creationId xmlns:p14="http://schemas.microsoft.com/office/powerpoint/2010/main" val="30230631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13</a:t>
            </a:fld>
            <a:endParaRPr lang="en-US"/>
          </a:p>
        </p:txBody>
      </p:sp>
    </p:spTree>
    <p:extLst>
      <p:ext uri="{BB962C8B-B14F-4D97-AF65-F5344CB8AC3E}">
        <p14:creationId xmlns:p14="http://schemas.microsoft.com/office/powerpoint/2010/main" val="17723952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15</a:t>
            </a:fld>
            <a:endParaRPr lang="en-US"/>
          </a:p>
        </p:txBody>
      </p:sp>
    </p:spTree>
    <p:extLst>
      <p:ext uri="{BB962C8B-B14F-4D97-AF65-F5344CB8AC3E}">
        <p14:creationId xmlns:p14="http://schemas.microsoft.com/office/powerpoint/2010/main" val="29513777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16</a:t>
            </a:fld>
            <a:endParaRPr lang="en-US"/>
          </a:p>
        </p:txBody>
      </p:sp>
    </p:spTree>
    <p:extLst>
      <p:ext uri="{BB962C8B-B14F-4D97-AF65-F5344CB8AC3E}">
        <p14:creationId xmlns:p14="http://schemas.microsoft.com/office/powerpoint/2010/main" val="2454758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17</a:t>
            </a:fld>
            <a:endParaRPr lang="en-US"/>
          </a:p>
        </p:txBody>
      </p:sp>
    </p:spTree>
    <p:extLst>
      <p:ext uri="{BB962C8B-B14F-4D97-AF65-F5344CB8AC3E}">
        <p14:creationId xmlns:p14="http://schemas.microsoft.com/office/powerpoint/2010/main" val="6722906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18</a:t>
            </a:fld>
            <a:endParaRPr lang="en-US"/>
          </a:p>
        </p:txBody>
      </p:sp>
    </p:spTree>
    <p:extLst>
      <p:ext uri="{BB962C8B-B14F-4D97-AF65-F5344CB8AC3E}">
        <p14:creationId xmlns:p14="http://schemas.microsoft.com/office/powerpoint/2010/main" val="16608045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19</a:t>
            </a:fld>
            <a:endParaRPr lang="en-US"/>
          </a:p>
        </p:txBody>
      </p:sp>
    </p:spTree>
    <p:extLst>
      <p:ext uri="{BB962C8B-B14F-4D97-AF65-F5344CB8AC3E}">
        <p14:creationId xmlns:p14="http://schemas.microsoft.com/office/powerpoint/2010/main" val="34299356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20</a:t>
            </a:fld>
            <a:endParaRPr lang="en-US"/>
          </a:p>
        </p:txBody>
      </p:sp>
    </p:spTree>
    <p:extLst>
      <p:ext uri="{BB962C8B-B14F-4D97-AF65-F5344CB8AC3E}">
        <p14:creationId xmlns:p14="http://schemas.microsoft.com/office/powerpoint/2010/main" val="17864990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22</a:t>
            </a:fld>
            <a:endParaRPr lang="en-US"/>
          </a:p>
        </p:txBody>
      </p:sp>
    </p:spTree>
    <p:extLst>
      <p:ext uri="{BB962C8B-B14F-4D97-AF65-F5344CB8AC3E}">
        <p14:creationId xmlns:p14="http://schemas.microsoft.com/office/powerpoint/2010/main" val="22925883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23</a:t>
            </a:fld>
            <a:endParaRPr lang="en-US"/>
          </a:p>
        </p:txBody>
      </p:sp>
    </p:spTree>
    <p:extLst>
      <p:ext uri="{BB962C8B-B14F-4D97-AF65-F5344CB8AC3E}">
        <p14:creationId xmlns:p14="http://schemas.microsoft.com/office/powerpoint/2010/main" val="15437345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24</a:t>
            </a:fld>
            <a:endParaRPr lang="en-US"/>
          </a:p>
        </p:txBody>
      </p:sp>
    </p:spTree>
    <p:extLst>
      <p:ext uri="{BB962C8B-B14F-4D97-AF65-F5344CB8AC3E}">
        <p14:creationId xmlns:p14="http://schemas.microsoft.com/office/powerpoint/2010/main" val="8410006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27</a:t>
            </a:fld>
            <a:endParaRPr lang="en-US"/>
          </a:p>
        </p:txBody>
      </p:sp>
    </p:spTree>
    <p:extLst>
      <p:ext uri="{BB962C8B-B14F-4D97-AF65-F5344CB8AC3E}">
        <p14:creationId xmlns:p14="http://schemas.microsoft.com/office/powerpoint/2010/main" val="34772823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28</a:t>
            </a:fld>
            <a:endParaRPr lang="en-US"/>
          </a:p>
        </p:txBody>
      </p:sp>
    </p:spTree>
    <p:extLst>
      <p:ext uri="{BB962C8B-B14F-4D97-AF65-F5344CB8AC3E}">
        <p14:creationId xmlns:p14="http://schemas.microsoft.com/office/powerpoint/2010/main" val="2602957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29</a:t>
            </a:fld>
            <a:endParaRPr lang="en-US"/>
          </a:p>
        </p:txBody>
      </p:sp>
    </p:spTree>
    <p:extLst>
      <p:ext uri="{BB962C8B-B14F-4D97-AF65-F5344CB8AC3E}">
        <p14:creationId xmlns:p14="http://schemas.microsoft.com/office/powerpoint/2010/main" val="33685020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30</a:t>
            </a:fld>
            <a:endParaRPr lang="en-US"/>
          </a:p>
        </p:txBody>
      </p:sp>
    </p:spTree>
    <p:extLst>
      <p:ext uri="{BB962C8B-B14F-4D97-AF65-F5344CB8AC3E}">
        <p14:creationId xmlns:p14="http://schemas.microsoft.com/office/powerpoint/2010/main" val="27200754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31</a:t>
            </a:fld>
            <a:endParaRPr lang="en-US"/>
          </a:p>
        </p:txBody>
      </p:sp>
    </p:spTree>
    <p:extLst>
      <p:ext uri="{BB962C8B-B14F-4D97-AF65-F5344CB8AC3E}">
        <p14:creationId xmlns:p14="http://schemas.microsoft.com/office/powerpoint/2010/main" val="42777509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33</a:t>
            </a:fld>
            <a:endParaRPr lang="en-US"/>
          </a:p>
        </p:txBody>
      </p:sp>
    </p:spTree>
    <p:extLst>
      <p:ext uri="{BB962C8B-B14F-4D97-AF65-F5344CB8AC3E}">
        <p14:creationId xmlns:p14="http://schemas.microsoft.com/office/powerpoint/2010/main" val="18931051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34</a:t>
            </a:fld>
            <a:endParaRPr lang="en-US"/>
          </a:p>
        </p:txBody>
      </p:sp>
    </p:spTree>
    <p:extLst>
      <p:ext uri="{BB962C8B-B14F-4D97-AF65-F5344CB8AC3E}">
        <p14:creationId xmlns:p14="http://schemas.microsoft.com/office/powerpoint/2010/main" val="34977412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35</a:t>
            </a:fld>
            <a:endParaRPr lang="en-US"/>
          </a:p>
        </p:txBody>
      </p:sp>
    </p:spTree>
    <p:extLst>
      <p:ext uri="{BB962C8B-B14F-4D97-AF65-F5344CB8AC3E}">
        <p14:creationId xmlns:p14="http://schemas.microsoft.com/office/powerpoint/2010/main" val="2750542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36</a:t>
            </a:fld>
            <a:endParaRPr lang="en-US"/>
          </a:p>
        </p:txBody>
      </p:sp>
    </p:spTree>
    <p:extLst>
      <p:ext uri="{BB962C8B-B14F-4D97-AF65-F5344CB8AC3E}">
        <p14:creationId xmlns:p14="http://schemas.microsoft.com/office/powerpoint/2010/main" val="34266828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37</a:t>
            </a:fld>
            <a:endParaRPr lang="en-US"/>
          </a:p>
        </p:txBody>
      </p:sp>
    </p:spTree>
    <p:extLst>
      <p:ext uri="{BB962C8B-B14F-4D97-AF65-F5344CB8AC3E}">
        <p14:creationId xmlns:p14="http://schemas.microsoft.com/office/powerpoint/2010/main" val="29063257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38</a:t>
            </a:fld>
            <a:endParaRPr lang="en-US"/>
          </a:p>
        </p:txBody>
      </p:sp>
    </p:spTree>
    <p:extLst>
      <p:ext uri="{BB962C8B-B14F-4D97-AF65-F5344CB8AC3E}">
        <p14:creationId xmlns:p14="http://schemas.microsoft.com/office/powerpoint/2010/main" val="2165638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40</a:t>
            </a:fld>
            <a:endParaRPr lang="en-US"/>
          </a:p>
        </p:txBody>
      </p:sp>
    </p:spTree>
    <p:extLst>
      <p:ext uri="{BB962C8B-B14F-4D97-AF65-F5344CB8AC3E}">
        <p14:creationId xmlns:p14="http://schemas.microsoft.com/office/powerpoint/2010/main" val="42223075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41</a:t>
            </a:fld>
            <a:endParaRPr lang="en-US"/>
          </a:p>
        </p:txBody>
      </p:sp>
    </p:spTree>
    <p:extLst>
      <p:ext uri="{BB962C8B-B14F-4D97-AF65-F5344CB8AC3E}">
        <p14:creationId xmlns:p14="http://schemas.microsoft.com/office/powerpoint/2010/main" val="31246371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42</a:t>
            </a:fld>
            <a:endParaRPr lang="en-US"/>
          </a:p>
        </p:txBody>
      </p:sp>
    </p:spTree>
    <p:extLst>
      <p:ext uri="{BB962C8B-B14F-4D97-AF65-F5344CB8AC3E}">
        <p14:creationId xmlns:p14="http://schemas.microsoft.com/office/powerpoint/2010/main" val="12366018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510F9E-0979-4C8E-BC74-25806C6B870B}" type="slidenum">
              <a:rPr lang="en-US" smtClean="0"/>
              <a:t>43</a:t>
            </a:fld>
            <a:endParaRPr lang="en-US"/>
          </a:p>
        </p:txBody>
      </p:sp>
    </p:spTree>
    <p:extLst>
      <p:ext uri="{BB962C8B-B14F-4D97-AF65-F5344CB8AC3E}">
        <p14:creationId xmlns:p14="http://schemas.microsoft.com/office/powerpoint/2010/main" val="275761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TextEdit="1"/>
          </p:cNvSpPr>
          <p:nvPr>
            <p:ph type="sldImg"/>
          </p:nvPr>
        </p:nvSpPr>
        <p:spPr bwMode="auto">
          <a:noFill/>
          <a:ln>
            <a:solidFill>
              <a:srgbClr val="000000"/>
            </a:solidFill>
            <a:miter lim="800000"/>
            <a:headEnd/>
            <a:tailEnd/>
          </a:ln>
        </p:spPr>
      </p:sp>
      <p:sp>
        <p:nvSpPr>
          <p:cNvPr id="1741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988598"/>
            <a:ext cx="9144000" cy="152136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9" name="Picture 2" descr="NET Exceptions - System.Data.ObjectNotFoundException">
            <a:extLst>
              <a:ext uri="{FF2B5EF4-FFF2-40B4-BE49-F238E27FC236}">
                <a16:creationId xmlns:a16="http://schemas.microsoft.com/office/drawing/2014/main" id="{0E34F79C-EF24-43DE-BD57-B4D9A321B70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77178" y="0"/>
            <a:ext cx="1953088" cy="781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xfrm>
            <a:off x="838200" y="620209"/>
            <a:ext cx="10515600" cy="575433"/>
          </a:xfrm>
          <a:solidFill>
            <a:schemeClr val="bg1"/>
          </a:solidFill>
        </p:spPr>
        <p:txBody>
          <a:bodyPr/>
          <a:lstStyle/>
          <a:p>
            <a:r>
              <a:rPr lang="en-US" dirty="0"/>
              <a:t>Click to edit Master title style</a:t>
            </a:r>
          </a:p>
        </p:txBody>
      </p:sp>
      <p:sp>
        <p:nvSpPr>
          <p:cNvPr id="3" name="Content Placeholder 2"/>
          <p:cNvSpPr>
            <a:spLocks noGrp="1"/>
          </p:cNvSpPr>
          <p:nvPr>
            <p:ph idx="1"/>
          </p:nvPr>
        </p:nvSpPr>
        <p:spPr>
          <a:xfrm>
            <a:off x="838200" y="1535811"/>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dirty="0"/>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pic>
        <p:nvPicPr>
          <p:cNvPr id="10" name="Picture 2" descr="NET Exceptions - System.Data.ObjectNotFoundException">
            <a:extLst>
              <a:ext uri="{FF2B5EF4-FFF2-40B4-BE49-F238E27FC236}">
                <a16:creationId xmlns:a16="http://schemas.microsoft.com/office/drawing/2014/main" id="{3B7C805C-C49E-470D-A3F6-88B774BFE7A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77178" y="0"/>
            <a:ext cx="1953088" cy="781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E1B290-3044-40C7-AA46-9B0CCEDB6684}" type="datetime1">
              <a:rPr lang="en-US" smtClean="0"/>
              <a:t>5/28/2024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5BA51A4-3D8F-4464-8762-2F11075995B0}" type="datetime1">
              <a:rPr lang="en-US" smtClean="0"/>
              <a:t>5/28/2024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C9A75F2-1863-4BCF-AC90-7D654EE5EB9B}" type="datetime1">
              <a:rPr lang="en-US" smtClean="0"/>
              <a:t>5/28/2024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6B88147-667F-48AF-BB78-925C77FB1ED5}" type="datetime1">
              <a:rPr lang="en-US" smtClean="0"/>
              <a:t>5/28/2024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CF7447-14DD-4ED9-9DC3-53E53412F13F}" type="datetime1">
              <a:rPr lang="en-US" smtClean="0"/>
              <a:t>5/28/2024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B989FD-A8A7-4EF7-934B-4294CDFB4341}" type="datetime1">
              <a:rPr lang="en-US" smtClean="0"/>
              <a:t>5/28/2024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BA8CCC-DE58-4D83-99E0-7A1DE88915B5}" type="datetime1">
              <a:rPr lang="en-US" smtClean="0"/>
              <a:t>5/28/2024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414C8F-3CFE-44B4-89F8-C659E998D398}" type="datetime1">
              <a:rPr lang="en-US" smtClean="0"/>
              <a:t>5/28/2024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BAC03C-5900-4E12-A645-6AFB6C5C4596}" type="datetime1">
              <a:rPr lang="en-US" smtClean="0"/>
              <a:t>5/28/2024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22FEAF-88BC-4AD8-A38B-DFC1FEA4C83E}" type="datetime1">
              <a:rPr lang="en-US" smtClean="0"/>
              <a:t>5/28/2024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pic>
        <p:nvPicPr>
          <p:cNvPr id="8" name="Picture 7">
            <a:extLst>
              <a:ext uri="{FF2B5EF4-FFF2-40B4-BE49-F238E27FC236}">
                <a16:creationId xmlns:a16="http://schemas.microsoft.com/office/drawing/2014/main" id="{F30464D6-6EA2-4AF5-87F1-A58DA30983B3}"/>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8200" y="5003"/>
            <a:ext cx="1182102" cy="650156"/>
          </a:xfrm>
          <a:prstGeom prst="rect">
            <a:avLst/>
          </a:prstGeom>
        </p:spPr>
      </p:pic>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1458"/>
            <a:ext cx="9202270"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latin typeface="Arial" panose="020B0604020202020204" pitchFamily="34" charset="0"/>
                <a:cs typeface="Arial" panose="020B0604020202020204" pitchFamily="34" charset="0"/>
              </a:rPr>
              <a:t> </a:t>
            </a:r>
            <a:r>
              <a:rPr lang="en-US" altLang="ko-KR" sz="4400" b="1">
                <a:solidFill>
                  <a:schemeClr val="accent2"/>
                </a:solidFill>
                <a:latin typeface="Arial" panose="020B0604020202020204" pitchFamily="34" charset="0"/>
                <a:cs typeface="Arial" panose="020B0604020202020204" pitchFamily="34" charset="0"/>
              </a:rPr>
              <a:t>Design Pattern in .NET</a:t>
            </a:r>
            <a:endParaRPr lang="en-US" sz="4400" dirty="0">
              <a:solidFill>
                <a:schemeClr val="accent2"/>
              </a:solidFill>
            </a:endParaRP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509" y="754812"/>
            <a:ext cx="10515600" cy="709226"/>
          </a:xfrm>
        </p:spPr>
        <p:txBody>
          <a:bodyPr>
            <a:normAutofit/>
          </a:bodyPr>
          <a:lstStyle/>
          <a:p>
            <a:r>
              <a:rPr lang="en-US" altLang="ko-KR" sz="3600" b="1">
                <a:solidFill>
                  <a:schemeClr val="accent2"/>
                </a:solidFill>
                <a:latin typeface="Arial" panose="020B0604020202020204" pitchFamily="34" charset="0"/>
                <a:cs typeface="Arial" panose="020B0604020202020204" pitchFamily="34" charset="0"/>
              </a:rPr>
              <a:t>Constructivism Topics</a:t>
            </a:r>
            <a:endParaRPr lang="en-US" sz="3600" b="1" dirty="0"/>
          </a:p>
        </p:txBody>
      </p:sp>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492981" y="1501089"/>
            <a:ext cx="10936280" cy="4602099"/>
          </a:xfrm>
        </p:spPr>
        <p:txBody>
          <a:bodyPr>
            <a:normAutofit fontScale="62500" lnSpcReduction="20000"/>
          </a:bodyPr>
          <a:lstStyle/>
          <a:p>
            <a:pPr marL="514350" indent="-514350" algn="just">
              <a:lnSpc>
                <a:spcPct val="200000"/>
              </a:lnSpc>
              <a:spcBef>
                <a:spcPts val="600"/>
              </a:spcBef>
              <a:buClr>
                <a:srgbClr val="973735"/>
              </a:buClr>
              <a:buSzPct val="100000"/>
              <a:buFont typeface="+mj-lt"/>
              <a:buAutoNum type="arabicPeriod"/>
              <a:defRPr/>
            </a:pPr>
            <a:r>
              <a:rPr lang="en-US"/>
              <a:t>What is the </a:t>
            </a:r>
            <a:r>
              <a:rPr lang="nl-NL"/>
              <a:t>Design Pattern? </a:t>
            </a:r>
            <a:r>
              <a:rPr lang="en-US"/>
              <a:t>What is the role of </a:t>
            </a:r>
            <a:r>
              <a:rPr lang="nl-NL"/>
              <a:t>Design Pattern in Software Development? 4</a:t>
            </a:r>
            <a:endParaRPr lang="en-US" dirty="0"/>
          </a:p>
          <a:p>
            <a:pPr marL="514350" indent="-514350" algn="just">
              <a:lnSpc>
                <a:spcPct val="200000"/>
              </a:lnSpc>
              <a:spcBef>
                <a:spcPts val="600"/>
              </a:spcBef>
              <a:buClr>
                <a:srgbClr val="973735"/>
              </a:buClr>
              <a:buSzPct val="100000"/>
              <a:buFont typeface="+mj-lt"/>
              <a:buAutoNum type="arabicPeriod"/>
              <a:defRPr/>
            </a:pPr>
            <a:r>
              <a:rPr lang="en-US"/>
              <a:t>What is the relationship between OOP (Object Oriented Programming) and </a:t>
            </a:r>
            <a:r>
              <a:rPr lang="nl-NL"/>
              <a:t>Design Pattern? </a:t>
            </a:r>
            <a:r>
              <a:rPr lang="en-US"/>
              <a:t>What are Pros and Cons of </a:t>
            </a:r>
            <a:r>
              <a:rPr lang="nl-NL"/>
              <a:t>Design Pattern? 10</a:t>
            </a:r>
          </a:p>
          <a:p>
            <a:pPr marL="514350" indent="-514350" algn="just">
              <a:lnSpc>
                <a:spcPct val="200000"/>
              </a:lnSpc>
              <a:spcBef>
                <a:spcPts val="600"/>
              </a:spcBef>
              <a:buClr>
                <a:srgbClr val="973735"/>
              </a:buClr>
              <a:buSzPct val="100000"/>
              <a:buFont typeface="+mj-lt"/>
              <a:buAutoNum type="arabicPeriod"/>
              <a:defRPr/>
            </a:pPr>
            <a:r>
              <a:rPr lang="en-US"/>
              <a:t>What is singleton pattern? give some case-studies and demo. 2</a:t>
            </a:r>
          </a:p>
          <a:p>
            <a:pPr marL="514350" indent="-514350" algn="just">
              <a:lnSpc>
                <a:spcPct val="200000"/>
              </a:lnSpc>
              <a:spcBef>
                <a:spcPts val="600"/>
              </a:spcBef>
              <a:buClr>
                <a:srgbClr val="973735"/>
              </a:buClr>
              <a:buSzPct val="100000"/>
              <a:buFont typeface="+mj-lt"/>
              <a:buAutoNum type="arabicPeriod"/>
              <a:defRPr/>
            </a:pPr>
            <a:r>
              <a:rPr lang="en-US"/>
              <a:t>What is factories pattern? give some case-studies and demo. 8</a:t>
            </a:r>
          </a:p>
          <a:p>
            <a:pPr marL="514350" indent="-514350" algn="just">
              <a:lnSpc>
                <a:spcPct val="200000"/>
              </a:lnSpc>
              <a:spcBef>
                <a:spcPts val="600"/>
              </a:spcBef>
              <a:buClr>
                <a:srgbClr val="973735"/>
              </a:buClr>
              <a:buSzPct val="100000"/>
              <a:buFont typeface="+mj-lt"/>
              <a:buAutoNum type="arabicPeriod"/>
              <a:defRPr/>
            </a:pPr>
            <a:r>
              <a:rPr lang="en-US"/>
              <a:t>What is abstract factory pattern? give some case-studies and demo. 7</a:t>
            </a:r>
          </a:p>
          <a:p>
            <a:pPr marL="514350" indent="-514350" algn="just">
              <a:lnSpc>
                <a:spcPct val="200000"/>
              </a:lnSpc>
              <a:spcBef>
                <a:spcPts val="600"/>
              </a:spcBef>
              <a:buClr>
                <a:srgbClr val="973735"/>
              </a:buClr>
              <a:buSzPct val="100000"/>
              <a:buFont typeface="+mj-lt"/>
              <a:buAutoNum type="arabicPeriod"/>
              <a:defRPr/>
            </a:pPr>
            <a:r>
              <a:rPr lang="en-US"/>
              <a:t>What is builder pattern? give some case-studies and demo. 6</a:t>
            </a:r>
          </a:p>
          <a:p>
            <a:pPr marL="514350" indent="-514350" algn="just">
              <a:lnSpc>
                <a:spcPct val="200000"/>
              </a:lnSpc>
              <a:spcBef>
                <a:spcPts val="600"/>
              </a:spcBef>
              <a:buClr>
                <a:srgbClr val="973735"/>
              </a:buClr>
              <a:buSzPct val="100000"/>
              <a:buFont typeface="+mj-lt"/>
              <a:buAutoNum type="arabicPeriod"/>
              <a:defRPr/>
            </a:pPr>
            <a:r>
              <a:rPr lang="en-US"/>
              <a:t>What is prototype pattern? give some case-studies and demo. 3</a:t>
            </a:r>
          </a:p>
          <a:p>
            <a:pPr marL="514350" indent="-514350" algn="just">
              <a:lnSpc>
                <a:spcPct val="200000"/>
              </a:lnSpc>
              <a:spcBef>
                <a:spcPts val="600"/>
              </a:spcBef>
              <a:buClr>
                <a:srgbClr val="973735"/>
              </a:buClr>
              <a:buSzPct val="100000"/>
              <a:buFont typeface="+mj-lt"/>
              <a:buAutoNum type="arabicPeriod"/>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28/05/2024</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a:t>
            </a:fld>
            <a:endParaRPr kumimoji="0" lang="en-US" dirty="0"/>
          </a:p>
        </p:txBody>
      </p:sp>
      <p:sp>
        <p:nvSpPr>
          <p:cNvPr id="4" name="Content Placeholder 3"/>
          <p:cNvSpPr>
            <a:spLocks noGrp="1"/>
          </p:cNvSpPr>
          <p:nvPr>
            <p:ph sz="quarter" idx="1"/>
          </p:nvPr>
        </p:nvSpPr>
        <p:spPr>
          <a:xfrm>
            <a:off x="323392" y="1470074"/>
            <a:ext cx="11868608" cy="4857154"/>
          </a:xfrm>
        </p:spPr>
        <p:txBody>
          <a:bodyPr>
            <a:noAutofit/>
          </a:bodyPr>
          <a:lstStyle/>
          <a:p>
            <a:pPr marL="342900" indent="-342900">
              <a:lnSpc>
                <a:spcPct val="100000"/>
              </a:lnSpc>
              <a:buClr>
                <a:srgbClr val="973735"/>
              </a:buClr>
              <a:buSzPct val="50000"/>
              <a:buFont typeface="Wingdings" pitchFamily="2" charset="2"/>
              <a:buChar char="u"/>
              <a:defRPr/>
            </a:pPr>
            <a:r>
              <a:rPr lang="en-US" sz="2600" dirty="0"/>
              <a:t>Overview about Design Pattern</a:t>
            </a:r>
          </a:p>
          <a:p>
            <a:pPr marL="342900" indent="-342900">
              <a:lnSpc>
                <a:spcPct val="100000"/>
              </a:lnSpc>
              <a:buClr>
                <a:srgbClr val="973735"/>
              </a:buClr>
              <a:buSzPct val="50000"/>
              <a:buFont typeface="Wingdings" pitchFamily="2" charset="2"/>
              <a:buChar char="u"/>
              <a:defRPr/>
            </a:pPr>
            <a:r>
              <a:rPr lang="en-US" sz="2600" dirty="0"/>
              <a:t>Why must use Design Pattern?</a:t>
            </a:r>
          </a:p>
          <a:p>
            <a:pPr marL="342900" indent="-342900">
              <a:lnSpc>
                <a:spcPct val="100000"/>
              </a:lnSpc>
              <a:buClr>
                <a:srgbClr val="973735"/>
              </a:buClr>
              <a:buSzPct val="50000"/>
              <a:buFont typeface="Wingdings" pitchFamily="2" charset="2"/>
              <a:buChar char="u"/>
              <a:defRPr/>
            </a:pPr>
            <a:r>
              <a:rPr lang="en-US" sz="2600" dirty="0"/>
              <a:t>Explain about Singleton Pattern</a:t>
            </a:r>
          </a:p>
          <a:p>
            <a:pPr marL="342900" indent="-342900">
              <a:lnSpc>
                <a:spcPct val="100000"/>
              </a:lnSpc>
              <a:buClr>
                <a:srgbClr val="973735"/>
              </a:buClr>
              <a:buSzPct val="50000"/>
              <a:buFont typeface="Wingdings" pitchFamily="2" charset="2"/>
              <a:buChar char="u"/>
              <a:defRPr/>
            </a:pPr>
            <a:r>
              <a:rPr lang="en-US" sz="2600" dirty="0"/>
              <a:t>Explain about Factories Pattern</a:t>
            </a:r>
          </a:p>
          <a:p>
            <a:pPr marL="342900" indent="-342900">
              <a:lnSpc>
                <a:spcPct val="100000"/>
              </a:lnSpc>
              <a:buClr>
                <a:srgbClr val="973735"/>
              </a:buClr>
              <a:buSzPct val="50000"/>
              <a:buFont typeface="Wingdings" pitchFamily="2" charset="2"/>
              <a:buChar char="u"/>
              <a:defRPr/>
            </a:pPr>
            <a:r>
              <a:rPr lang="en-US" sz="2600" dirty="0"/>
              <a:t>Explain about Abstract Factory Pattern</a:t>
            </a:r>
          </a:p>
          <a:p>
            <a:pPr marL="342900" indent="-342900">
              <a:lnSpc>
                <a:spcPct val="100000"/>
              </a:lnSpc>
              <a:buClr>
                <a:srgbClr val="973735"/>
              </a:buClr>
              <a:buSzPct val="50000"/>
              <a:buFont typeface="Wingdings" pitchFamily="2" charset="2"/>
              <a:buChar char="u"/>
              <a:defRPr/>
            </a:pPr>
            <a:r>
              <a:rPr lang="en-US" sz="2600" dirty="0"/>
              <a:t>Explain about Builder Pattern</a:t>
            </a:r>
          </a:p>
          <a:p>
            <a:pPr marL="342900" indent="-342900">
              <a:lnSpc>
                <a:spcPct val="100000"/>
              </a:lnSpc>
              <a:buClr>
                <a:srgbClr val="973735"/>
              </a:buClr>
              <a:buSzPct val="50000"/>
              <a:buFont typeface="Wingdings" pitchFamily="2" charset="2"/>
              <a:buChar char="u"/>
              <a:defRPr/>
            </a:pPr>
            <a:r>
              <a:rPr lang="en-US" sz="2600" dirty="0"/>
              <a:t>Explain about Prototype Pattern</a:t>
            </a:r>
          </a:p>
          <a:p>
            <a:pPr marL="342900" indent="-342900">
              <a:lnSpc>
                <a:spcPct val="100000"/>
              </a:lnSpc>
              <a:buClr>
                <a:srgbClr val="973735"/>
              </a:buClr>
              <a:buSzPct val="50000"/>
              <a:buFont typeface="Wingdings" pitchFamily="2" charset="2"/>
              <a:buChar char="u"/>
              <a:defRPr/>
            </a:pPr>
            <a:r>
              <a:rPr lang="en-US" sz="2600" dirty="0"/>
              <a:t>Explain about Observer Pattern </a:t>
            </a:r>
          </a:p>
          <a:p>
            <a:pPr marL="342900" indent="-342900">
              <a:lnSpc>
                <a:spcPct val="100000"/>
              </a:lnSpc>
              <a:buClr>
                <a:srgbClr val="973735"/>
              </a:buClr>
              <a:buSzPct val="50000"/>
              <a:buFont typeface="Wingdings" pitchFamily="2" charset="2"/>
              <a:buChar char="u"/>
              <a:defRPr/>
            </a:pPr>
            <a:r>
              <a:rPr lang="en-US" sz="2600" dirty="0"/>
              <a:t>Demo about Factories Method, Prototype Pattern and Singleton Pattern in .NET applications</a:t>
            </a:r>
          </a:p>
        </p:txBody>
      </p:sp>
      <p:sp>
        <p:nvSpPr>
          <p:cNvPr id="7" name="Date Placeholder 3">
            <a:extLst>
              <a:ext uri="{FF2B5EF4-FFF2-40B4-BE49-F238E27FC236}">
                <a16:creationId xmlns:a16="http://schemas.microsoft.com/office/drawing/2014/main" id="{1753D172-1458-45E9-A4F8-A4845EE390FE}"/>
              </a:ext>
            </a:extLst>
          </p:cNvPr>
          <p:cNvSpPr>
            <a:spLocks noGrp="1"/>
          </p:cNvSpPr>
          <p:nvPr>
            <p:ph type="dt" sz="half" idx="10"/>
          </p:nvPr>
        </p:nvSpPr>
        <p:spPr>
          <a:xfrm>
            <a:off x="838200" y="6487317"/>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8" name="Rectangle 2">
            <a:extLst>
              <a:ext uri="{FF2B5EF4-FFF2-40B4-BE49-F238E27FC236}">
                <a16:creationId xmlns:a16="http://schemas.microsoft.com/office/drawing/2014/main" id="{FF319F56-852E-4ECD-A4BE-395F066166B4}"/>
              </a:ext>
            </a:extLst>
          </p:cNvPr>
          <p:cNvSpPr>
            <a:spLocks noGrp="1"/>
          </p:cNvSpPr>
          <p:nvPr>
            <p:ph type="title"/>
          </p:nvPr>
        </p:nvSpPr>
        <p:spPr>
          <a:xfrm>
            <a:off x="244167" y="722057"/>
            <a:ext cx="10806720" cy="748017"/>
          </a:xfrm>
        </p:spPr>
        <p:txBody>
          <a:bodyPr>
            <a:normAutofit/>
          </a:bodyPr>
          <a:lstStyle/>
          <a:p>
            <a:r>
              <a:rPr lang="en-US" sz="4000" b="1" dirty="0"/>
              <a:t>Objectives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4</a:t>
            </a:fld>
            <a:endParaRPr lang="en-US" dirty="0"/>
          </a:p>
        </p:txBody>
      </p:sp>
      <p:sp>
        <p:nvSpPr>
          <p:cNvPr id="8" name="object 2">
            <a:extLst>
              <a:ext uri="{FF2B5EF4-FFF2-40B4-BE49-F238E27FC236}">
                <a16:creationId xmlns:a16="http://schemas.microsoft.com/office/drawing/2014/main" id="{752235DF-AEE8-4419-B263-AE5723BD292C}"/>
              </a:ext>
            </a:extLst>
          </p:cNvPr>
          <p:cNvSpPr txBox="1">
            <a:spLocks/>
          </p:cNvSpPr>
          <p:nvPr/>
        </p:nvSpPr>
        <p:spPr>
          <a:xfrm>
            <a:off x="396252" y="620052"/>
            <a:ext cx="8747748" cy="628377"/>
          </a:xfrm>
          <a:prstGeom prst="rect">
            <a:avLst/>
          </a:prstGeom>
          <a:solidFill>
            <a:schemeClr val="bg1"/>
          </a:solidFill>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0"/>
              </a:spcBef>
            </a:pPr>
            <a:r>
              <a:rPr lang="en-US" sz="4000" b="1"/>
              <a:t>Understanding Design Patterns</a:t>
            </a:r>
            <a:endParaRPr lang="en-US" sz="4000" b="1" dirty="0"/>
          </a:p>
        </p:txBody>
      </p:sp>
      <p:sp>
        <p:nvSpPr>
          <p:cNvPr id="7" name="TextBox 6">
            <a:extLst>
              <a:ext uri="{FF2B5EF4-FFF2-40B4-BE49-F238E27FC236}">
                <a16:creationId xmlns:a16="http://schemas.microsoft.com/office/drawing/2014/main" id="{06E0B064-86F5-402C-AC96-92781B7E8582}"/>
              </a:ext>
            </a:extLst>
          </p:cNvPr>
          <p:cNvSpPr txBox="1"/>
          <p:nvPr/>
        </p:nvSpPr>
        <p:spPr>
          <a:xfrm>
            <a:off x="133493" y="1556923"/>
            <a:ext cx="11848299" cy="4727192"/>
          </a:xfrm>
          <a:prstGeom prst="rect">
            <a:avLst/>
          </a:prstGeom>
          <a:noFill/>
        </p:spPr>
        <p:txBody>
          <a:bodyPr wrap="square">
            <a:spAutoFit/>
          </a:bodyPr>
          <a:lstStyle/>
          <a:p>
            <a:pPr marL="342900" marR="0" lvl="0" indent="-342900" algn="just">
              <a:spcBef>
                <a:spcPts val="600"/>
              </a:spcBef>
              <a:spcAft>
                <a:spcPts val="600"/>
              </a:spcAft>
              <a:buClr>
                <a:srgbClr val="973735"/>
              </a:buClr>
              <a:buSzPct val="50000"/>
              <a:buFont typeface="Wingdings" pitchFamily="2" charset="2"/>
              <a:buChar char="u"/>
              <a:tabLst>
                <a:tab pos="241300" algn="l"/>
              </a:tabLst>
              <a:defRPr/>
            </a:pPr>
            <a:r>
              <a:rPr lang="en-US" sz="2600"/>
              <a:t>A design pattern provides a general reusable solution for the common problems that occur in software design</a:t>
            </a:r>
          </a:p>
          <a:p>
            <a:pPr marL="342900" marR="0" lvl="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t>A design pattern isn't a finished design that can be transformed directly into code. It is a description or template for how to solve a problem that can be used in many different situations</a:t>
            </a:r>
          </a:p>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t>Design patterns are programming language independent strategies for solving a common problem. That means a design pattern represents an idea, not a particular implementation</a:t>
            </a:r>
          </a:p>
        </p:txBody>
      </p:sp>
    </p:spTree>
    <p:extLst>
      <p:ext uri="{BB962C8B-B14F-4D97-AF65-F5344CB8AC3E}">
        <p14:creationId xmlns:p14="http://schemas.microsoft.com/office/powerpoint/2010/main" val="3282511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5</a:t>
            </a:fld>
            <a:endParaRPr lang="en-US" dirty="0"/>
          </a:p>
        </p:txBody>
      </p:sp>
      <p:sp>
        <p:nvSpPr>
          <p:cNvPr id="10" name="TextBox 9">
            <a:extLst>
              <a:ext uri="{FF2B5EF4-FFF2-40B4-BE49-F238E27FC236}">
                <a16:creationId xmlns:a16="http://schemas.microsoft.com/office/drawing/2014/main" id="{0A322FE7-3E66-4DEB-87D3-633EFBFA6058}"/>
              </a:ext>
            </a:extLst>
          </p:cNvPr>
          <p:cNvSpPr txBox="1"/>
          <p:nvPr/>
        </p:nvSpPr>
        <p:spPr>
          <a:xfrm>
            <a:off x="10510" y="1613569"/>
            <a:ext cx="12044855" cy="4555093"/>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t>Design patterns are not meant for project development. Design patterns are meant for common problem-solving and whenever there is a need, we have to implement a suitable pattern to avoid such problems in the future</a:t>
            </a:r>
          </a:p>
          <a:p>
            <a:pPr marL="342900" marR="0" lvl="0" indent="-342900" algn="just">
              <a:spcBef>
                <a:spcPts val="600"/>
              </a:spcBef>
              <a:spcAft>
                <a:spcPts val="600"/>
              </a:spcAft>
              <a:buClr>
                <a:srgbClr val="973735"/>
              </a:buClr>
              <a:buSzPct val="50000"/>
              <a:buFont typeface="Wingdings" pitchFamily="2" charset="2"/>
              <a:buChar char="u"/>
              <a:tabLst>
                <a:tab pos="241300" algn="l"/>
              </a:tabLst>
              <a:defRPr/>
            </a:pPr>
            <a:r>
              <a:rPr lang="en-US" sz="2600"/>
              <a:t>The pattern typically shows relationships and interactions between classes or objects</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t>By using the design patterns we can make our code more flexible, reusable, and maintainable</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t>The Gang of Four (GoF) patterns are generally considered the foundation for all other patterns. They are categorized in three groups: </a:t>
            </a:r>
            <a:r>
              <a:rPr lang="en-US" sz="2600" b="1"/>
              <a:t>Creational</a:t>
            </a:r>
            <a:r>
              <a:rPr lang="en-US" sz="2600"/>
              <a:t>, </a:t>
            </a:r>
            <a:r>
              <a:rPr lang="en-US" sz="2600" b="1"/>
              <a:t>Structural</a:t>
            </a:r>
            <a:r>
              <a:rPr lang="en-US" sz="2600"/>
              <a:t>, and </a:t>
            </a:r>
            <a:r>
              <a:rPr lang="en-US" sz="2600" b="1"/>
              <a:t>Behavioral</a:t>
            </a:r>
            <a:endParaRPr lang="en-US" sz="2600"/>
          </a:p>
        </p:txBody>
      </p:sp>
      <p:sp>
        <p:nvSpPr>
          <p:cNvPr id="11" name="object 2">
            <a:extLst>
              <a:ext uri="{FF2B5EF4-FFF2-40B4-BE49-F238E27FC236}">
                <a16:creationId xmlns:a16="http://schemas.microsoft.com/office/drawing/2014/main" id="{E1E4DA9B-CB8C-4440-9571-BFA6EDB561BC}"/>
              </a:ext>
            </a:extLst>
          </p:cNvPr>
          <p:cNvSpPr txBox="1">
            <a:spLocks/>
          </p:cNvSpPr>
          <p:nvPr/>
        </p:nvSpPr>
        <p:spPr>
          <a:xfrm>
            <a:off x="396252" y="620052"/>
            <a:ext cx="8747748" cy="628377"/>
          </a:xfrm>
          <a:prstGeom prst="rect">
            <a:avLst/>
          </a:prstGeom>
          <a:solidFill>
            <a:schemeClr val="bg1"/>
          </a:solidFill>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0"/>
              </a:spcBef>
            </a:pPr>
            <a:r>
              <a:rPr lang="en-US" sz="4000" b="1"/>
              <a:t>Understanding Design Patterns</a:t>
            </a:r>
            <a:endParaRPr lang="en-US" sz="4000" b="1" dirty="0"/>
          </a:p>
        </p:txBody>
      </p:sp>
    </p:spTree>
    <p:extLst>
      <p:ext uri="{BB962C8B-B14F-4D97-AF65-F5344CB8AC3E}">
        <p14:creationId xmlns:p14="http://schemas.microsoft.com/office/powerpoint/2010/main" val="3725674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25821" y="688473"/>
            <a:ext cx="11204028" cy="575433"/>
          </a:xfrm>
        </p:spPr>
        <p:txBody>
          <a:bodyPr>
            <a:noAutofit/>
          </a:bodyPr>
          <a:lstStyle/>
          <a:p>
            <a:r>
              <a:rPr lang="en-US" altLang="ko-KR" sz="4000" b="1">
                <a:latin typeface="Arial" panose="020B0604020202020204" pitchFamily="34" charset="0"/>
                <a:cs typeface="Arial" panose="020B0604020202020204" pitchFamily="34" charset="0"/>
              </a:rPr>
              <a:t>Why use Design Pattern?</a:t>
            </a:r>
            <a:endParaRPr lang="en-US" sz="4000" b="1" dirty="0"/>
          </a:p>
        </p:txBody>
      </p:sp>
      <p:sp>
        <p:nvSpPr>
          <p:cNvPr id="8" name="TextBox 7">
            <a:extLst>
              <a:ext uri="{FF2B5EF4-FFF2-40B4-BE49-F238E27FC236}">
                <a16:creationId xmlns:a16="http://schemas.microsoft.com/office/drawing/2014/main" id="{D32E4060-9E24-47C5-950F-22712280FA9B}"/>
              </a:ext>
            </a:extLst>
          </p:cNvPr>
          <p:cNvSpPr txBox="1"/>
          <p:nvPr/>
        </p:nvSpPr>
        <p:spPr>
          <a:xfrm>
            <a:off x="0" y="1603444"/>
            <a:ext cx="12044855" cy="4834913"/>
          </a:xfrm>
          <a:prstGeom prst="rect">
            <a:avLst/>
          </a:prstGeom>
          <a:noFill/>
        </p:spPr>
        <p:txBody>
          <a:bodyPr wrap="square">
            <a:spAutoFit/>
          </a:bodyPr>
          <a:lstStyle/>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a:t>Design patterns can speed up the development process by providing tested, proven development paradigms</a:t>
            </a:r>
          </a:p>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a:t>Effective software design requires considering issues that may not become visible until later in the implementation</a:t>
            </a:r>
          </a:p>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a:t>Reusing design patterns helps to prevent subtle issues that can cause major problems and improves code readability for coders and architects familiar with the patterns</a:t>
            </a:r>
          </a:p>
        </p:txBody>
      </p:sp>
    </p:spTree>
    <p:extLst>
      <p:ext uri="{BB962C8B-B14F-4D97-AF65-F5344CB8AC3E}">
        <p14:creationId xmlns:p14="http://schemas.microsoft.com/office/powerpoint/2010/main" val="2449178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7</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25821" y="688473"/>
            <a:ext cx="11204028" cy="575433"/>
          </a:xfrm>
        </p:spPr>
        <p:txBody>
          <a:bodyPr>
            <a:noAutofit/>
          </a:bodyPr>
          <a:lstStyle/>
          <a:p>
            <a:r>
              <a:rPr lang="en-US" altLang="ko-KR" sz="4000" b="1">
                <a:latin typeface="Arial" panose="020B0604020202020204" pitchFamily="34" charset="0"/>
                <a:cs typeface="Arial" panose="020B0604020202020204" pitchFamily="34" charset="0"/>
              </a:rPr>
              <a:t>Why use Design Pattern?</a:t>
            </a:r>
            <a:endParaRPr lang="en-US" sz="4000" b="1" dirty="0"/>
          </a:p>
        </p:txBody>
      </p:sp>
      <p:sp>
        <p:nvSpPr>
          <p:cNvPr id="8" name="TextBox 7">
            <a:extLst>
              <a:ext uri="{FF2B5EF4-FFF2-40B4-BE49-F238E27FC236}">
                <a16:creationId xmlns:a16="http://schemas.microsoft.com/office/drawing/2014/main" id="{D32E4060-9E24-47C5-950F-22712280FA9B}"/>
              </a:ext>
            </a:extLst>
          </p:cNvPr>
          <p:cNvSpPr txBox="1"/>
          <p:nvPr/>
        </p:nvSpPr>
        <p:spPr>
          <a:xfrm>
            <a:off x="-58017" y="1306312"/>
            <a:ext cx="12164673" cy="5127301"/>
          </a:xfrm>
          <a:prstGeom prst="rect">
            <a:avLst/>
          </a:prstGeom>
          <a:noFill/>
        </p:spPr>
        <p:txBody>
          <a:bodyPr wrap="square">
            <a:spAutoFit/>
          </a:bodyPr>
          <a:lstStyle/>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t>Often, we only understand how to apply certain software design techniques to certain problems. These techniques are difficult to apply to a broader range of problems</a:t>
            </a:r>
          </a:p>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t>Design patterns provide general solutions, documented in a format that doesn't require specifics tied to a particular problem</a:t>
            </a:r>
          </a:p>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t>Patterns allow developers to communicate using well-known, well understood names for software interactions. Common design patterns can be improved over time, making them more robust than ad-hoc designs</a:t>
            </a:r>
          </a:p>
        </p:txBody>
      </p:sp>
    </p:spTree>
    <p:extLst>
      <p:ext uri="{BB962C8B-B14F-4D97-AF65-F5344CB8AC3E}">
        <p14:creationId xmlns:p14="http://schemas.microsoft.com/office/powerpoint/2010/main" val="2994900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8</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dirty="0"/>
              <a:t>Introduction to </a:t>
            </a:r>
            <a:r>
              <a:rPr lang="en-US" sz="4000" b="1" dirty="0" err="1"/>
              <a:t>GoF</a:t>
            </a:r>
            <a:r>
              <a:rPr lang="en-US" sz="4000" b="1" dirty="0"/>
              <a:t> Patterns</a:t>
            </a:r>
          </a:p>
        </p:txBody>
      </p:sp>
      <p:sp>
        <p:nvSpPr>
          <p:cNvPr id="13" name="TextBox 12">
            <a:extLst>
              <a:ext uri="{FF2B5EF4-FFF2-40B4-BE49-F238E27FC236}">
                <a16:creationId xmlns:a16="http://schemas.microsoft.com/office/drawing/2014/main" id="{794B0636-141A-48F4-9618-4F89090694F3}"/>
              </a:ext>
            </a:extLst>
          </p:cNvPr>
          <p:cNvSpPr txBox="1"/>
          <p:nvPr/>
        </p:nvSpPr>
        <p:spPr>
          <a:xfrm>
            <a:off x="-64008" y="1387976"/>
            <a:ext cx="12161519" cy="5047536"/>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300" b="1">
                <a:solidFill>
                  <a:srgbClr val="111111"/>
                </a:solidFill>
                <a:latin typeface="+mj-lt"/>
              </a:rPr>
              <a:t>Creational Design Patterns </a:t>
            </a:r>
          </a:p>
          <a:p>
            <a:pPr marL="514350" indent="-230188" algn="just">
              <a:spcBef>
                <a:spcPts val="600"/>
              </a:spcBef>
              <a:spcAft>
                <a:spcPts val="600"/>
              </a:spcAft>
              <a:buClr>
                <a:srgbClr val="973735"/>
              </a:buClr>
              <a:buSzPct val="70000"/>
              <a:buFont typeface="Wingdings" panose="05000000000000000000" pitchFamily="2" charset="2"/>
              <a:buChar char="§"/>
              <a:tabLst>
                <a:tab pos="241300" algn="l"/>
              </a:tabLst>
              <a:defRPr/>
            </a:pPr>
            <a:r>
              <a:rPr lang="en-US" sz="2100"/>
              <a:t>These design patterns are all about class instantiation or object creation</a:t>
            </a:r>
          </a:p>
          <a:p>
            <a:pPr marL="514350" indent="-230188" algn="just">
              <a:spcBef>
                <a:spcPts val="600"/>
              </a:spcBef>
              <a:spcAft>
                <a:spcPts val="600"/>
              </a:spcAft>
              <a:buClr>
                <a:srgbClr val="973735"/>
              </a:buClr>
              <a:buSzPct val="70000"/>
              <a:buFont typeface="Wingdings" panose="05000000000000000000" pitchFamily="2" charset="2"/>
              <a:buChar char="§"/>
              <a:tabLst>
                <a:tab pos="241300" algn="l"/>
              </a:tabLst>
              <a:defRPr/>
            </a:pPr>
            <a:r>
              <a:rPr lang="en-US" sz="2100"/>
              <a:t>These patterns can be further categorized into Class-creational patterns and object-creational patterns</a:t>
            </a:r>
          </a:p>
          <a:p>
            <a:pPr marL="514350" indent="-230188" algn="just">
              <a:spcBef>
                <a:spcPts val="600"/>
              </a:spcBef>
              <a:spcAft>
                <a:spcPts val="600"/>
              </a:spcAft>
              <a:buClr>
                <a:srgbClr val="973735"/>
              </a:buClr>
              <a:buSzPct val="70000"/>
              <a:buFont typeface="Wingdings" panose="05000000000000000000" pitchFamily="2" charset="2"/>
              <a:buChar char="§"/>
              <a:tabLst>
                <a:tab pos="241300" algn="l"/>
              </a:tabLst>
              <a:defRPr/>
            </a:pPr>
            <a:r>
              <a:rPr lang="en-US" sz="2100"/>
              <a:t>While class-creation patterns use inheritance effectively in the instantiation process, object-creation patterns use delegation effectively to get the job done </a:t>
            </a:r>
          </a:p>
          <a:p>
            <a:pPr marL="514350" indent="-230188" algn="just">
              <a:spcBef>
                <a:spcPts val="600"/>
              </a:spcBef>
              <a:spcAft>
                <a:spcPts val="600"/>
              </a:spcAft>
              <a:buClr>
                <a:srgbClr val="973735"/>
              </a:buClr>
              <a:buSzPct val="70000"/>
              <a:buFont typeface="Wingdings" panose="05000000000000000000" pitchFamily="2" charset="2"/>
              <a:buChar char="§"/>
              <a:tabLst>
                <a:tab pos="241300" algn="l"/>
              </a:tabLst>
              <a:defRPr/>
            </a:pPr>
            <a:r>
              <a:rPr lang="en-US" sz="2100"/>
              <a:t>Creational design patterns are the Singleton, Factory Method, Abstract Factory, Builder, and Prototype</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300" b="1">
                <a:solidFill>
                  <a:srgbClr val="111111"/>
                </a:solidFill>
                <a:latin typeface="+mj-lt"/>
              </a:rPr>
              <a:t>Structural Design Patterns: </a:t>
            </a:r>
            <a:r>
              <a:rPr lang="en-US" sz="2300">
                <a:solidFill>
                  <a:srgbClr val="111111"/>
                </a:solidFill>
                <a:latin typeface="+mj-lt"/>
              </a:rPr>
              <a:t>Adapter, Bridge, Composite, Decorator, Facade, Flyweight, Private Class Data, and Proxy</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300" b="1">
                <a:solidFill>
                  <a:srgbClr val="111111"/>
                </a:solidFill>
                <a:latin typeface="+mj-lt"/>
              </a:rPr>
              <a:t>Behavioral Design Patterns: </a:t>
            </a:r>
            <a:r>
              <a:rPr lang="en-US" sz="2300">
                <a:solidFill>
                  <a:srgbClr val="111111"/>
                </a:solidFill>
                <a:latin typeface="+mj-lt"/>
              </a:rPr>
              <a:t>Chain of responsibility, Command, Interpreter, Iterator, Mediator, Memento, Null Object, Observer, State, Strategy, Template method and Visitor </a:t>
            </a:r>
            <a:endParaRPr lang="en-US" sz="2300" dirty="0"/>
          </a:p>
        </p:txBody>
      </p:sp>
    </p:spTree>
    <p:extLst>
      <p:ext uri="{BB962C8B-B14F-4D97-AF65-F5344CB8AC3E}">
        <p14:creationId xmlns:p14="http://schemas.microsoft.com/office/powerpoint/2010/main" val="2293146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9</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Creational Design Patterns</a:t>
            </a:r>
            <a:endParaRPr lang="en-US" sz="4000" b="1" dirty="0"/>
          </a:p>
        </p:txBody>
      </p:sp>
      <p:sp>
        <p:nvSpPr>
          <p:cNvPr id="13" name="TextBox 12">
            <a:extLst>
              <a:ext uri="{FF2B5EF4-FFF2-40B4-BE49-F238E27FC236}">
                <a16:creationId xmlns:a16="http://schemas.microsoft.com/office/drawing/2014/main" id="{794B0636-141A-48F4-9618-4F89090694F3}"/>
              </a:ext>
            </a:extLst>
          </p:cNvPr>
          <p:cNvSpPr txBox="1"/>
          <p:nvPr/>
        </p:nvSpPr>
        <p:spPr>
          <a:xfrm>
            <a:off x="-64008" y="1463690"/>
            <a:ext cx="12140764" cy="5006499"/>
          </a:xfrm>
          <a:prstGeom prst="rect">
            <a:avLst/>
          </a:prstGeom>
          <a:noFill/>
        </p:spPr>
        <p:txBody>
          <a:bodyPr wrap="square">
            <a:spAutoFit/>
          </a:bodyPr>
          <a:lstStyle/>
          <a:p>
            <a:pPr marL="342900" indent="-342900" algn="just">
              <a:spcBef>
                <a:spcPts val="1000"/>
              </a:spcBef>
              <a:spcAft>
                <a:spcPts val="1000"/>
              </a:spcAft>
              <a:buClr>
                <a:srgbClr val="973735"/>
              </a:buClr>
              <a:buSzPct val="50000"/>
              <a:buFont typeface="Wingdings" pitchFamily="2" charset="2"/>
              <a:buChar char="u"/>
              <a:tabLst>
                <a:tab pos="241300" algn="l"/>
              </a:tabLst>
              <a:defRPr/>
            </a:pPr>
            <a:r>
              <a:rPr lang="en-US" sz="2600" b="1">
                <a:solidFill>
                  <a:srgbClr val="111111"/>
                </a:solidFill>
                <a:latin typeface="+mj-lt"/>
              </a:rPr>
              <a:t>The following five patterns are concerned with the instantiation of objects:</a:t>
            </a:r>
          </a:p>
          <a:p>
            <a:pPr marL="514350" indent="-230188" algn="just">
              <a:spcBef>
                <a:spcPts val="1000"/>
              </a:spcBef>
              <a:spcAft>
                <a:spcPts val="1000"/>
              </a:spcAft>
              <a:buClr>
                <a:srgbClr val="973735"/>
              </a:buClr>
              <a:buSzPct val="70000"/>
              <a:buFont typeface="Wingdings" panose="05000000000000000000" pitchFamily="2" charset="2"/>
              <a:buChar char="§"/>
              <a:tabLst>
                <a:tab pos="241300" algn="l"/>
              </a:tabLst>
              <a:defRPr/>
            </a:pPr>
            <a:r>
              <a:rPr lang="en-US" sz="2300" b="1"/>
              <a:t>Singleton</a:t>
            </a:r>
            <a:r>
              <a:rPr lang="en-US" sz="2300"/>
              <a:t>: A pattern for enforcing only one instance of a class</a:t>
            </a:r>
          </a:p>
          <a:p>
            <a:pPr marL="514350" indent="-230188" algn="just">
              <a:spcBef>
                <a:spcPts val="1000"/>
              </a:spcBef>
              <a:spcAft>
                <a:spcPts val="1000"/>
              </a:spcAft>
              <a:buClr>
                <a:srgbClr val="973735"/>
              </a:buClr>
              <a:buSzPct val="70000"/>
              <a:buFont typeface="Wingdings" panose="05000000000000000000" pitchFamily="2" charset="2"/>
              <a:buChar char="§"/>
              <a:tabLst>
                <a:tab pos="241300" algn="l"/>
              </a:tabLst>
              <a:defRPr/>
            </a:pPr>
            <a:r>
              <a:rPr lang="en-US" sz="2300" b="1"/>
              <a:t>Factory Method</a:t>
            </a:r>
            <a:r>
              <a:rPr lang="en-US" sz="2300"/>
              <a:t>: A pattern for creating objects derived from a class where the specific class is determined at runtime</a:t>
            </a:r>
          </a:p>
          <a:p>
            <a:pPr marL="514350" indent="-230188" algn="just">
              <a:spcBef>
                <a:spcPts val="1000"/>
              </a:spcBef>
              <a:spcAft>
                <a:spcPts val="1000"/>
              </a:spcAft>
              <a:buClr>
                <a:srgbClr val="973735"/>
              </a:buClr>
              <a:buSzPct val="70000"/>
              <a:buFont typeface="Wingdings" panose="05000000000000000000" pitchFamily="2" charset="2"/>
              <a:buChar char="§"/>
              <a:tabLst>
                <a:tab pos="241300" algn="l"/>
              </a:tabLst>
              <a:defRPr/>
            </a:pPr>
            <a:r>
              <a:rPr lang="en-US" sz="2300" b="1"/>
              <a:t>Abstract Factory</a:t>
            </a:r>
            <a:r>
              <a:rPr lang="en-US" sz="2300"/>
              <a:t>: A pattern for the creation of objects belonging to a family of classes. The specific object is determined at runtime</a:t>
            </a:r>
          </a:p>
          <a:p>
            <a:pPr marL="514350" indent="-230188" algn="just">
              <a:spcBef>
                <a:spcPts val="1000"/>
              </a:spcBef>
              <a:spcAft>
                <a:spcPts val="1000"/>
              </a:spcAft>
              <a:buClr>
                <a:srgbClr val="973735"/>
              </a:buClr>
              <a:buSzPct val="70000"/>
              <a:buFont typeface="Wingdings" panose="05000000000000000000" pitchFamily="2" charset="2"/>
              <a:buChar char="§"/>
              <a:tabLst>
                <a:tab pos="241300" algn="l"/>
              </a:tabLst>
              <a:defRPr/>
            </a:pPr>
            <a:r>
              <a:rPr lang="en-US" sz="2300" b="1"/>
              <a:t>Builder</a:t>
            </a:r>
            <a:r>
              <a:rPr lang="en-US" sz="2300"/>
              <a:t>: A useful pattern for more complex objects where the construction of the object is controlled externally to the constructed class</a:t>
            </a:r>
          </a:p>
          <a:p>
            <a:pPr marL="514350" indent="-230188" algn="just">
              <a:spcBef>
                <a:spcPts val="1000"/>
              </a:spcBef>
              <a:spcAft>
                <a:spcPts val="1000"/>
              </a:spcAft>
              <a:buClr>
                <a:srgbClr val="973735"/>
              </a:buClr>
              <a:buSzPct val="70000"/>
              <a:buFont typeface="Wingdings" panose="05000000000000000000" pitchFamily="2" charset="2"/>
              <a:buChar char="§"/>
              <a:tabLst>
                <a:tab pos="241300" algn="l"/>
              </a:tabLst>
              <a:defRPr/>
            </a:pPr>
            <a:r>
              <a:rPr lang="en-US" sz="2300" b="1"/>
              <a:t>Prototype</a:t>
            </a:r>
            <a:r>
              <a:rPr lang="en-US" sz="2300"/>
              <a:t>: A pattern for copying or cloning an object</a:t>
            </a:r>
          </a:p>
        </p:txBody>
      </p:sp>
    </p:spTree>
    <p:extLst>
      <p:ext uri="{BB962C8B-B14F-4D97-AF65-F5344CB8AC3E}">
        <p14:creationId xmlns:p14="http://schemas.microsoft.com/office/powerpoint/2010/main" val="953046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1458"/>
            <a:ext cx="9202270"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solidFill>
                  <a:schemeClr val="accent2"/>
                </a:solidFill>
                <a:latin typeface="Arial" panose="020B0604020202020204" pitchFamily="34" charset="0"/>
                <a:cs typeface="Arial" panose="020B0604020202020204" pitchFamily="34" charset="0"/>
              </a:rPr>
              <a:t>Singleton Pattern</a:t>
            </a:r>
            <a:endParaRPr lang="en-US" sz="4400" dirty="0">
              <a:solidFill>
                <a:schemeClr val="accent2"/>
              </a:solidFill>
            </a:endParaRPr>
          </a:p>
        </p:txBody>
      </p:sp>
    </p:spTree>
    <p:extLst>
      <p:ext uri="{BB962C8B-B14F-4D97-AF65-F5344CB8AC3E}">
        <p14:creationId xmlns:p14="http://schemas.microsoft.com/office/powerpoint/2010/main" val="1889436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11</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a:t>Singleton Pattern</a:t>
            </a:r>
            <a:endParaRPr lang="en-US" sz="4000" b="1" dirty="0"/>
          </a:p>
        </p:txBody>
      </p:sp>
      <p:sp>
        <p:nvSpPr>
          <p:cNvPr id="13" name="TextBox 12">
            <a:extLst>
              <a:ext uri="{FF2B5EF4-FFF2-40B4-BE49-F238E27FC236}">
                <a16:creationId xmlns:a16="http://schemas.microsoft.com/office/drawing/2014/main" id="{794B0636-141A-48F4-9618-4F89090694F3}"/>
              </a:ext>
            </a:extLst>
          </p:cNvPr>
          <p:cNvSpPr txBox="1"/>
          <p:nvPr/>
        </p:nvSpPr>
        <p:spPr>
          <a:xfrm>
            <a:off x="-54864" y="1446916"/>
            <a:ext cx="12140764" cy="1446550"/>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Defines an Instance operation that lets clients access its unique instance. Instance is a class operation</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Responsible for creating and maintaining its own unique instance</a:t>
            </a:r>
          </a:p>
        </p:txBody>
      </p:sp>
      <p:pic>
        <p:nvPicPr>
          <p:cNvPr id="5" name="Picture 4">
            <a:extLst>
              <a:ext uri="{FF2B5EF4-FFF2-40B4-BE49-F238E27FC236}">
                <a16:creationId xmlns:a16="http://schemas.microsoft.com/office/drawing/2014/main" id="{CAAD23CF-8EE3-45ED-A13E-77CDABF04AA6}"/>
              </a:ext>
            </a:extLst>
          </p:cNvPr>
          <p:cNvPicPr>
            <a:picLocks noChangeAspect="1"/>
          </p:cNvPicPr>
          <p:nvPr/>
        </p:nvPicPr>
        <p:blipFill>
          <a:blip r:embed="rId3"/>
          <a:stretch>
            <a:fillRect/>
          </a:stretch>
        </p:blipFill>
        <p:spPr>
          <a:xfrm>
            <a:off x="2883941" y="2855176"/>
            <a:ext cx="5545356" cy="2095223"/>
          </a:xfrm>
          <a:prstGeom prst="rect">
            <a:avLst/>
          </a:prstGeom>
        </p:spPr>
      </p:pic>
      <p:sp>
        <p:nvSpPr>
          <p:cNvPr id="10" name="TextBox 9">
            <a:extLst>
              <a:ext uri="{FF2B5EF4-FFF2-40B4-BE49-F238E27FC236}">
                <a16:creationId xmlns:a16="http://schemas.microsoft.com/office/drawing/2014/main" id="{D2376CAA-8184-47BE-9814-0E07E5F5EC51}"/>
              </a:ext>
            </a:extLst>
          </p:cNvPr>
          <p:cNvSpPr txBox="1"/>
          <p:nvPr/>
        </p:nvSpPr>
        <p:spPr>
          <a:xfrm>
            <a:off x="-10935" y="5063200"/>
            <a:ext cx="11885314" cy="1292662"/>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Make the class of the single instance responsible for access and "initialization on first use". The single instance is a private static attribute. The accessor function is a public static method</a:t>
            </a:r>
          </a:p>
        </p:txBody>
      </p:sp>
    </p:spTree>
    <p:extLst>
      <p:ext uri="{BB962C8B-B14F-4D97-AF65-F5344CB8AC3E}">
        <p14:creationId xmlns:p14="http://schemas.microsoft.com/office/powerpoint/2010/main" val="2290243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12</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a:t>Implement Singleton Pattern</a:t>
            </a:r>
            <a:endParaRPr lang="en-US" sz="4000" b="1" dirty="0"/>
          </a:p>
        </p:txBody>
      </p:sp>
      <p:pic>
        <p:nvPicPr>
          <p:cNvPr id="8" name="Picture 7">
            <a:extLst>
              <a:ext uri="{FF2B5EF4-FFF2-40B4-BE49-F238E27FC236}">
                <a16:creationId xmlns:a16="http://schemas.microsoft.com/office/drawing/2014/main" id="{36D02524-E5AA-455A-B23A-83B546FA035F}"/>
              </a:ext>
            </a:extLst>
          </p:cNvPr>
          <p:cNvPicPr>
            <a:picLocks noChangeAspect="1"/>
          </p:cNvPicPr>
          <p:nvPr/>
        </p:nvPicPr>
        <p:blipFill>
          <a:blip r:embed="rId3"/>
          <a:stretch>
            <a:fillRect/>
          </a:stretch>
        </p:blipFill>
        <p:spPr>
          <a:xfrm>
            <a:off x="1081605" y="1374172"/>
            <a:ext cx="10028789" cy="5006774"/>
          </a:xfrm>
          <a:prstGeom prst="rect">
            <a:avLst/>
          </a:prstGeom>
        </p:spPr>
      </p:pic>
    </p:spTree>
    <p:extLst>
      <p:ext uri="{BB962C8B-B14F-4D97-AF65-F5344CB8AC3E}">
        <p14:creationId xmlns:p14="http://schemas.microsoft.com/office/powerpoint/2010/main" val="870906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13</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a:t>Implement Singleton Pattern</a:t>
            </a:r>
            <a:endParaRPr lang="en-US" sz="4000" b="1" dirty="0"/>
          </a:p>
        </p:txBody>
      </p:sp>
      <p:pic>
        <p:nvPicPr>
          <p:cNvPr id="5" name="Picture 4">
            <a:extLst>
              <a:ext uri="{FF2B5EF4-FFF2-40B4-BE49-F238E27FC236}">
                <a16:creationId xmlns:a16="http://schemas.microsoft.com/office/drawing/2014/main" id="{098C622B-3F88-4DD3-AD0F-976186603CF0}"/>
              </a:ext>
            </a:extLst>
          </p:cNvPr>
          <p:cNvPicPr>
            <a:picLocks noChangeAspect="1"/>
          </p:cNvPicPr>
          <p:nvPr/>
        </p:nvPicPr>
        <p:blipFill>
          <a:blip r:embed="rId3"/>
          <a:stretch>
            <a:fillRect/>
          </a:stretch>
        </p:blipFill>
        <p:spPr>
          <a:xfrm>
            <a:off x="0" y="1579804"/>
            <a:ext cx="9617273" cy="4511431"/>
          </a:xfrm>
          <a:prstGeom prst="rect">
            <a:avLst/>
          </a:prstGeom>
        </p:spPr>
      </p:pic>
      <p:pic>
        <p:nvPicPr>
          <p:cNvPr id="7" name="Picture 6">
            <a:extLst>
              <a:ext uri="{FF2B5EF4-FFF2-40B4-BE49-F238E27FC236}">
                <a16:creationId xmlns:a16="http://schemas.microsoft.com/office/drawing/2014/main" id="{5FCE0F06-B318-4FAB-92C4-E4F20FAEEB00}"/>
              </a:ext>
            </a:extLst>
          </p:cNvPr>
          <p:cNvPicPr>
            <a:picLocks noChangeAspect="1"/>
          </p:cNvPicPr>
          <p:nvPr/>
        </p:nvPicPr>
        <p:blipFill>
          <a:blip r:embed="rId4"/>
          <a:stretch>
            <a:fillRect/>
          </a:stretch>
        </p:blipFill>
        <p:spPr>
          <a:xfrm>
            <a:off x="6965984" y="4574011"/>
            <a:ext cx="5194480" cy="1885668"/>
          </a:xfrm>
          <a:prstGeom prst="rect">
            <a:avLst/>
          </a:prstGeom>
        </p:spPr>
      </p:pic>
    </p:spTree>
    <p:extLst>
      <p:ext uri="{BB962C8B-B14F-4D97-AF65-F5344CB8AC3E}">
        <p14:creationId xmlns:p14="http://schemas.microsoft.com/office/powerpoint/2010/main" val="1822339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1458"/>
            <a:ext cx="9202270"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solidFill>
                  <a:schemeClr val="accent2"/>
                </a:solidFill>
                <a:latin typeface="Arial" panose="020B0604020202020204" pitchFamily="34" charset="0"/>
                <a:cs typeface="Arial" panose="020B0604020202020204" pitchFamily="34" charset="0"/>
              </a:rPr>
              <a:t>Factories Method Pattern</a:t>
            </a:r>
            <a:endParaRPr lang="en-US" sz="4400" dirty="0">
              <a:solidFill>
                <a:schemeClr val="accent2"/>
              </a:solidFill>
            </a:endParaRPr>
          </a:p>
        </p:txBody>
      </p:sp>
    </p:spTree>
    <p:extLst>
      <p:ext uri="{BB962C8B-B14F-4D97-AF65-F5344CB8AC3E}">
        <p14:creationId xmlns:p14="http://schemas.microsoft.com/office/powerpoint/2010/main" val="3104806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15</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a:t>Factories Method Pattern</a:t>
            </a:r>
            <a:endParaRPr lang="en-US" sz="4000" b="1" dirty="0"/>
          </a:p>
        </p:txBody>
      </p:sp>
      <p:sp>
        <p:nvSpPr>
          <p:cNvPr id="13" name="TextBox 12">
            <a:extLst>
              <a:ext uri="{FF2B5EF4-FFF2-40B4-BE49-F238E27FC236}">
                <a16:creationId xmlns:a16="http://schemas.microsoft.com/office/drawing/2014/main" id="{794B0636-141A-48F4-9618-4F89090694F3}"/>
              </a:ext>
            </a:extLst>
          </p:cNvPr>
          <p:cNvSpPr txBox="1"/>
          <p:nvPr/>
        </p:nvSpPr>
        <p:spPr>
          <a:xfrm>
            <a:off x="-63060" y="1338010"/>
            <a:ext cx="12140764" cy="5142690"/>
          </a:xfrm>
          <a:prstGeom prst="rect">
            <a:avLst/>
          </a:prstGeom>
          <a:noFill/>
        </p:spPr>
        <p:txBody>
          <a:bodyPr wrap="square">
            <a:spAutoFit/>
          </a:bodyPr>
          <a:lstStyle/>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Factory method related to object creation. Define an interface for creating an object, but let subclasses decide which class to instantiate</a:t>
            </a:r>
          </a:p>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Factory Method lets a class defer instantiation to subclasses</a:t>
            </a:r>
          </a:p>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In Factory pattern, we create object without exposing the creation logic to client and the client use the same common interface to create new type of object</a:t>
            </a:r>
          </a:p>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The idea is to use a (static) member-function or (static) factory method which creates and returns instances, hiding the details of class modules from user</a:t>
            </a:r>
          </a:p>
        </p:txBody>
      </p:sp>
    </p:spTree>
    <p:extLst>
      <p:ext uri="{BB962C8B-B14F-4D97-AF65-F5344CB8AC3E}">
        <p14:creationId xmlns:p14="http://schemas.microsoft.com/office/powerpoint/2010/main" val="3427227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16</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a:t>Factories Method Pattern</a:t>
            </a:r>
            <a:endParaRPr lang="en-US" sz="4000" b="1" dirty="0"/>
          </a:p>
        </p:txBody>
      </p:sp>
      <p:pic>
        <p:nvPicPr>
          <p:cNvPr id="6" name="Picture 5">
            <a:extLst>
              <a:ext uri="{FF2B5EF4-FFF2-40B4-BE49-F238E27FC236}">
                <a16:creationId xmlns:a16="http://schemas.microsoft.com/office/drawing/2014/main" id="{21FF99C0-B8EA-458D-B139-760A66FC74C9}"/>
              </a:ext>
            </a:extLst>
          </p:cNvPr>
          <p:cNvPicPr>
            <a:picLocks noChangeAspect="1"/>
          </p:cNvPicPr>
          <p:nvPr/>
        </p:nvPicPr>
        <p:blipFill>
          <a:blip r:embed="rId3"/>
          <a:stretch>
            <a:fillRect/>
          </a:stretch>
        </p:blipFill>
        <p:spPr>
          <a:xfrm>
            <a:off x="2011363" y="2560743"/>
            <a:ext cx="7931423" cy="3667636"/>
          </a:xfrm>
          <a:prstGeom prst="rect">
            <a:avLst/>
          </a:prstGeom>
        </p:spPr>
      </p:pic>
      <p:sp>
        <p:nvSpPr>
          <p:cNvPr id="7" name="TextBox 6">
            <a:extLst>
              <a:ext uri="{FF2B5EF4-FFF2-40B4-BE49-F238E27FC236}">
                <a16:creationId xmlns:a16="http://schemas.microsoft.com/office/drawing/2014/main" id="{7C77D0A4-4DC5-4E8A-8F00-26F1B560DDD0}"/>
              </a:ext>
            </a:extLst>
          </p:cNvPr>
          <p:cNvSpPr txBox="1"/>
          <p:nvPr/>
        </p:nvSpPr>
        <p:spPr>
          <a:xfrm>
            <a:off x="-54864" y="1497693"/>
            <a:ext cx="12140764" cy="1292662"/>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A factory pattern is one of the core design principles to create an object, allowing clients to create objects of a library in a way such that it doesn’t have tight coupling with the class hierarchy of the library</a:t>
            </a:r>
          </a:p>
        </p:txBody>
      </p:sp>
      <p:sp>
        <p:nvSpPr>
          <p:cNvPr id="8" name="TextBox 7">
            <a:extLst>
              <a:ext uri="{FF2B5EF4-FFF2-40B4-BE49-F238E27FC236}">
                <a16:creationId xmlns:a16="http://schemas.microsoft.com/office/drawing/2014/main" id="{7289D30D-04C6-4F71-8A31-4301024E787A}"/>
              </a:ext>
            </a:extLst>
          </p:cNvPr>
          <p:cNvSpPr txBox="1"/>
          <p:nvPr/>
        </p:nvSpPr>
        <p:spPr>
          <a:xfrm>
            <a:off x="4785038" y="5968717"/>
            <a:ext cx="2134340" cy="338554"/>
          </a:xfrm>
          <a:prstGeom prst="rect">
            <a:avLst/>
          </a:prstGeom>
          <a:noFill/>
        </p:spPr>
        <p:txBody>
          <a:bodyPr wrap="square">
            <a:spAutoFit/>
          </a:bodyPr>
          <a:lstStyle/>
          <a:p>
            <a:pPr algn="just">
              <a:spcBef>
                <a:spcPts val="1000"/>
              </a:spcBef>
              <a:spcAft>
                <a:spcPts val="1000"/>
              </a:spcAft>
              <a:buClr>
                <a:srgbClr val="973735"/>
              </a:buClr>
              <a:buSzPct val="50000"/>
              <a:tabLst>
                <a:tab pos="241300" algn="l"/>
              </a:tabLst>
              <a:defRPr/>
            </a:pPr>
            <a:r>
              <a:rPr lang="en-US" sz="1600" b="1" i="1" u="sng">
                <a:latin typeface="+mj-lt"/>
              </a:rPr>
              <a:t>UML class diagram</a:t>
            </a:r>
          </a:p>
        </p:txBody>
      </p:sp>
    </p:spTree>
    <p:extLst>
      <p:ext uri="{BB962C8B-B14F-4D97-AF65-F5344CB8AC3E}">
        <p14:creationId xmlns:p14="http://schemas.microsoft.com/office/powerpoint/2010/main" val="853849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17</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a:t>Implement Factories Method</a:t>
            </a:r>
            <a:endParaRPr lang="en-US" sz="4000" b="1" dirty="0"/>
          </a:p>
        </p:txBody>
      </p:sp>
      <p:sp>
        <p:nvSpPr>
          <p:cNvPr id="11" name="TextBox 10">
            <a:extLst>
              <a:ext uri="{FF2B5EF4-FFF2-40B4-BE49-F238E27FC236}">
                <a16:creationId xmlns:a16="http://schemas.microsoft.com/office/drawing/2014/main" id="{A9C5D26F-8D7A-4288-B414-F82DB403C7A5}"/>
              </a:ext>
            </a:extLst>
          </p:cNvPr>
          <p:cNvSpPr txBox="1"/>
          <p:nvPr/>
        </p:nvSpPr>
        <p:spPr>
          <a:xfrm>
            <a:off x="4595852" y="6131635"/>
            <a:ext cx="2134340" cy="338554"/>
          </a:xfrm>
          <a:prstGeom prst="rect">
            <a:avLst/>
          </a:prstGeom>
          <a:noFill/>
        </p:spPr>
        <p:txBody>
          <a:bodyPr wrap="square">
            <a:spAutoFit/>
          </a:bodyPr>
          <a:lstStyle/>
          <a:p>
            <a:pPr algn="just">
              <a:spcBef>
                <a:spcPts val="1000"/>
              </a:spcBef>
              <a:spcAft>
                <a:spcPts val="1000"/>
              </a:spcAft>
              <a:buClr>
                <a:srgbClr val="973735"/>
              </a:buClr>
              <a:buSzPct val="50000"/>
              <a:tabLst>
                <a:tab pos="241300" algn="l"/>
              </a:tabLst>
              <a:defRPr/>
            </a:pPr>
            <a:r>
              <a:rPr lang="en-US" sz="1600" b="1" i="1" u="sng">
                <a:latin typeface="+mj-lt"/>
              </a:rPr>
              <a:t>UML class diagram</a:t>
            </a:r>
          </a:p>
        </p:txBody>
      </p:sp>
      <p:grpSp>
        <p:nvGrpSpPr>
          <p:cNvPr id="13" name="Group 12">
            <a:extLst>
              <a:ext uri="{FF2B5EF4-FFF2-40B4-BE49-F238E27FC236}">
                <a16:creationId xmlns:a16="http://schemas.microsoft.com/office/drawing/2014/main" id="{52E78B83-5402-4119-873E-8150567ACB49}"/>
              </a:ext>
            </a:extLst>
          </p:cNvPr>
          <p:cNvGrpSpPr/>
          <p:nvPr/>
        </p:nvGrpSpPr>
        <p:grpSpPr>
          <a:xfrm>
            <a:off x="695569" y="1366621"/>
            <a:ext cx="10603051" cy="4771373"/>
            <a:chOff x="695569" y="1366621"/>
            <a:chExt cx="10603051" cy="4771373"/>
          </a:xfrm>
        </p:grpSpPr>
        <p:pic>
          <p:nvPicPr>
            <p:cNvPr id="2052" name="Picture 4">
              <a:extLst>
                <a:ext uri="{FF2B5EF4-FFF2-40B4-BE49-F238E27FC236}">
                  <a16:creationId xmlns:a16="http://schemas.microsoft.com/office/drawing/2014/main" id="{03B91338-2C1E-4F33-8A83-C7DF6600C1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569" y="1366621"/>
              <a:ext cx="10603051" cy="4771373"/>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a:extLst>
                <a:ext uri="{FF2B5EF4-FFF2-40B4-BE49-F238E27FC236}">
                  <a16:creationId xmlns:a16="http://schemas.microsoft.com/office/drawing/2014/main" id="{5A88D4A9-D43C-43C6-B3FD-E91EA91794CF}"/>
                </a:ext>
              </a:extLst>
            </p:cNvPr>
            <p:cNvCxnSpPr/>
            <p:nvPr/>
          </p:nvCxnSpPr>
          <p:spPr>
            <a:xfrm>
              <a:off x="7178566" y="4540469"/>
              <a:ext cx="0" cy="536028"/>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Straight Connector 14">
              <a:extLst>
                <a:ext uri="{FF2B5EF4-FFF2-40B4-BE49-F238E27FC236}">
                  <a16:creationId xmlns:a16="http://schemas.microsoft.com/office/drawing/2014/main" id="{701F1016-CB21-485B-AEC0-BCE430078053}"/>
                </a:ext>
              </a:extLst>
            </p:cNvPr>
            <p:cNvCxnSpPr/>
            <p:nvPr/>
          </p:nvCxnSpPr>
          <p:spPr>
            <a:xfrm>
              <a:off x="9659008" y="4519449"/>
              <a:ext cx="0" cy="536028"/>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22149847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18</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a:t>Implement Factories Method</a:t>
            </a:r>
            <a:endParaRPr lang="en-US" sz="4000" b="1" dirty="0"/>
          </a:p>
        </p:txBody>
      </p:sp>
      <p:grpSp>
        <p:nvGrpSpPr>
          <p:cNvPr id="13" name="Group 12">
            <a:extLst>
              <a:ext uri="{FF2B5EF4-FFF2-40B4-BE49-F238E27FC236}">
                <a16:creationId xmlns:a16="http://schemas.microsoft.com/office/drawing/2014/main" id="{1515F6D8-4A33-47E1-B93E-ACE9D3C1077F}"/>
              </a:ext>
            </a:extLst>
          </p:cNvPr>
          <p:cNvGrpSpPr/>
          <p:nvPr/>
        </p:nvGrpSpPr>
        <p:grpSpPr>
          <a:xfrm>
            <a:off x="2091559" y="1414555"/>
            <a:ext cx="7805302" cy="4947028"/>
            <a:chOff x="2091559" y="1414555"/>
            <a:chExt cx="7805302" cy="4947028"/>
          </a:xfrm>
        </p:grpSpPr>
        <p:pic>
          <p:nvPicPr>
            <p:cNvPr id="7" name="Picture 6">
              <a:extLst>
                <a:ext uri="{FF2B5EF4-FFF2-40B4-BE49-F238E27FC236}">
                  <a16:creationId xmlns:a16="http://schemas.microsoft.com/office/drawing/2014/main" id="{5B89D3F9-5812-48A9-ADD0-AAE2F241DF82}"/>
                </a:ext>
              </a:extLst>
            </p:cNvPr>
            <p:cNvPicPr>
              <a:picLocks noChangeAspect="1"/>
            </p:cNvPicPr>
            <p:nvPr/>
          </p:nvPicPr>
          <p:blipFill>
            <a:blip r:embed="rId3"/>
            <a:stretch>
              <a:fillRect/>
            </a:stretch>
          </p:blipFill>
          <p:spPr>
            <a:xfrm>
              <a:off x="2101844" y="1414555"/>
              <a:ext cx="7795017" cy="4947028"/>
            </a:xfrm>
            <a:prstGeom prst="rect">
              <a:avLst/>
            </a:prstGeom>
          </p:spPr>
        </p:pic>
        <p:sp>
          <p:nvSpPr>
            <p:cNvPr id="12" name="Rectangle 11">
              <a:extLst>
                <a:ext uri="{FF2B5EF4-FFF2-40B4-BE49-F238E27FC236}">
                  <a16:creationId xmlns:a16="http://schemas.microsoft.com/office/drawing/2014/main" id="{73D461FA-D15E-4BCC-98E2-210B41E50002}"/>
                </a:ext>
              </a:extLst>
            </p:cNvPr>
            <p:cNvSpPr/>
            <p:nvPr/>
          </p:nvSpPr>
          <p:spPr>
            <a:xfrm>
              <a:off x="2091559" y="1692166"/>
              <a:ext cx="6842234" cy="273268"/>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99502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19</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a:t>Implement Factories Method</a:t>
            </a:r>
            <a:endParaRPr lang="en-US" sz="4000" b="1" dirty="0"/>
          </a:p>
        </p:txBody>
      </p:sp>
      <p:pic>
        <p:nvPicPr>
          <p:cNvPr id="5" name="Picture 4">
            <a:extLst>
              <a:ext uri="{FF2B5EF4-FFF2-40B4-BE49-F238E27FC236}">
                <a16:creationId xmlns:a16="http://schemas.microsoft.com/office/drawing/2014/main" id="{766E35D4-AE15-4BAB-A706-F4867EDCD6E7}"/>
              </a:ext>
            </a:extLst>
          </p:cNvPr>
          <p:cNvPicPr>
            <a:picLocks noChangeAspect="1"/>
          </p:cNvPicPr>
          <p:nvPr/>
        </p:nvPicPr>
        <p:blipFill>
          <a:blip r:embed="rId3"/>
          <a:stretch>
            <a:fillRect/>
          </a:stretch>
        </p:blipFill>
        <p:spPr>
          <a:xfrm>
            <a:off x="1371480" y="1646796"/>
            <a:ext cx="9449040" cy="4461525"/>
          </a:xfrm>
          <a:prstGeom prst="rect">
            <a:avLst/>
          </a:prstGeom>
        </p:spPr>
      </p:pic>
    </p:spTree>
    <p:extLst>
      <p:ext uri="{BB962C8B-B14F-4D97-AF65-F5344CB8AC3E}">
        <p14:creationId xmlns:p14="http://schemas.microsoft.com/office/powerpoint/2010/main" val="642685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20</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a:t>Implement Factories Method</a:t>
            </a:r>
            <a:endParaRPr lang="en-US" sz="4000" b="1" dirty="0"/>
          </a:p>
        </p:txBody>
      </p:sp>
      <p:pic>
        <p:nvPicPr>
          <p:cNvPr id="13" name="Picture 12">
            <a:extLst>
              <a:ext uri="{FF2B5EF4-FFF2-40B4-BE49-F238E27FC236}">
                <a16:creationId xmlns:a16="http://schemas.microsoft.com/office/drawing/2014/main" id="{80CF6C36-5B6B-484F-9210-B711D90F9A0D}"/>
              </a:ext>
            </a:extLst>
          </p:cNvPr>
          <p:cNvPicPr>
            <a:picLocks noChangeAspect="1"/>
          </p:cNvPicPr>
          <p:nvPr/>
        </p:nvPicPr>
        <p:blipFill>
          <a:blip r:embed="rId3"/>
          <a:stretch>
            <a:fillRect/>
          </a:stretch>
        </p:blipFill>
        <p:spPr>
          <a:xfrm>
            <a:off x="275156" y="1505528"/>
            <a:ext cx="8227713" cy="4954151"/>
          </a:xfrm>
          <a:prstGeom prst="rect">
            <a:avLst/>
          </a:prstGeom>
        </p:spPr>
      </p:pic>
      <p:pic>
        <p:nvPicPr>
          <p:cNvPr id="14" name="Picture 13">
            <a:extLst>
              <a:ext uri="{FF2B5EF4-FFF2-40B4-BE49-F238E27FC236}">
                <a16:creationId xmlns:a16="http://schemas.microsoft.com/office/drawing/2014/main" id="{7F82B2E7-5BDE-4785-9A4E-DABB98B27913}"/>
              </a:ext>
            </a:extLst>
          </p:cNvPr>
          <p:cNvPicPr>
            <a:picLocks noChangeAspect="1"/>
          </p:cNvPicPr>
          <p:nvPr/>
        </p:nvPicPr>
        <p:blipFill>
          <a:blip r:embed="rId4"/>
          <a:stretch>
            <a:fillRect/>
          </a:stretch>
        </p:blipFill>
        <p:spPr>
          <a:xfrm>
            <a:off x="7564221" y="5025424"/>
            <a:ext cx="4447216" cy="1333287"/>
          </a:xfrm>
          <a:prstGeom prst="rect">
            <a:avLst/>
          </a:prstGeom>
        </p:spPr>
      </p:pic>
    </p:spTree>
    <p:extLst>
      <p:ext uri="{BB962C8B-B14F-4D97-AF65-F5344CB8AC3E}">
        <p14:creationId xmlns:p14="http://schemas.microsoft.com/office/powerpoint/2010/main" val="1214209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1458"/>
            <a:ext cx="9202270"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solidFill>
                  <a:schemeClr val="accent2"/>
                </a:solidFill>
                <a:latin typeface="Arial" panose="020B0604020202020204" pitchFamily="34" charset="0"/>
                <a:cs typeface="Arial" panose="020B0604020202020204" pitchFamily="34" charset="0"/>
              </a:rPr>
              <a:t>Abstract Factory Pattern</a:t>
            </a:r>
            <a:endParaRPr lang="en-US" sz="4400" dirty="0">
              <a:solidFill>
                <a:schemeClr val="accent2"/>
              </a:solidFill>
            </a:endParaRPr>
          </a:p>
        </p:txBody>
      </p:sp>
    </p:spTree>
    <p:extLst>
      <p:ext uri="{BB962C8B-B14F-4D97-AF65-F5344CB8AC3E}">
        <p14:creationId xmlns:p14="http://schemas.microsoft.com/office/powerpoint/2010/main" val="244973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22</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a:t>Abstract Factory Patterns</a:t>
            </a:r>
            <a:endParaRPr lang="en-US" sz="4000" b="1" dirty="0"/>
          </a:p>
        </p:txBody>
      </p:sp>
      <p:sp>
        <p:nvSpPr>
          <p:cNvPr id="13" name="TextBox 12">
            <a:extLst>
              <a:ext uri="{FF2B5EF4-FFF2-40B4-BE49-F238E27FC236}">
                <a16:creationId xmlns:a16="http://schemas.microsoft.com/office/drawing/2014/main" id="{794B0636-141A-48F4-9618-4F89090694F3}"/>
              </a:ext>
            </a:extLst>
          </p:cNvPr>
          <p:cNvSpPr txBox="1"/>
          <p:nvPr/>
        </p:nvSpPr>
        <p:spPr>
          <a:xfrm>
            <a:off x="-54864" y="1405673"/>
            <a:ext cx="12140764" cy="4732321"/>
          </a:xfrm>
          <a:prstGeom prst="rect">
            <a:avLst/>
          </a:prstGeom>
          <a:noFill/>
        </p:spPr>
        <p:txBody>
          <a:bodyPr wrap="square">
            <a:spAutoFit/>
          </a:bodyPr>
          <a:lstStyle/>
          <a:p>
            <a:pPr marL="342900" indent="-342900" algn="just">
              <a:lnSpc>
                <a:spcPct val="150000"/>
              </a:lnSpc>
              <a:spcBef>
                <a:spcPts val="1000"/>
              </a:spcBef>
              <a:spcAft>
                <a:spcPts val="1000"/>
              </a:spcAft>
              <a:buClr>
                <a:srgbClr val="973735"/>
              </a:buClr>
              <a:buSzPct val="50000"/>
              <a:buFont typeface="Wingdings" pitchFamily="2" charset="2"/>
              <a:buChar char="u"/>
              <a:tabLst>
                <a:tab pos="241300" algn="l"/>
              </a:tabLst>
              <a:defRPr/>
            </a:pPr>
            <a:r>
              <a:rPr lang="en-US" sz="2600">
                <a:solidFill>
                  <a:srgbClr val="111111"/>
                </a:solidFill>
                <a:latin typeface="+mj-lt"/>
              </a:rPr>
              <a:t>Abstract Factory patterns work around a super-factory which creates other factories</a:t>
            </a:r>
          </a:p>
          <a:p>
            <a:pPr marL="342900" indent="-342900" algn="just">
              <a:lnSpc>
                <a:spcPct val="150000"/>
              </a:lnSpc>
              <a:spcBef>
                <a:spcPts val="1000"/>
              </a:spcBef>
              <a:spcAft>
                <a:spcPts val="1000"/>
              </a:spcAft>
              <a:buClr>
                <a:srgbClr val="973735"/>
              </a:buClr>
              <a:buSzPct val="50000"/>
              <a:buFont typeface="Wingdings" pitchFamily="2" charset="2"/>
              <a:buChar char="u"/>
              <a:tabLst>
                <a:tab pos="241300" algn="l"/>
              </a:tabLst>
              <a:defRPr/>
            </a:pPr>
            <a:r>
              <a:rPr lang="en-US" sz="2600">
                <a:solidFill>
                  <a:srgbClr val="111111"/>
                </a:solidFill>
                <a:latin typeface="+mj-lt"/>
              </a:rPr>
              <a:t>This type of design pattern comes under creational pattern as this pattern provides one of the best ways to create an object</a:t>
            </a:r>
          </a:p>
          <a:p>
            <a:pPr marL="342900" indent="-342900" algn="just">
              <a:lnSpc>
                <a:spcPct val="150000"/>
              </a:lnSpc>
              <a:spcBef>
                <a:spcPts val="1000"/>
              </a:spcBef>
              <a:spcAft>
                <a:spcPts val="1000"/>
              </a:spcAft>
              <a:buClr>
                <a:srgbClr val="973735"/>
              </a:buClr>
              <a:buSzPct val="50000"/>
              <a:buFont typeface="Wingdings" pitchFamily="2" charset="2"/>
              <a:buChar char="u"/>
              <a:tabLst>
                <a:tab pos="241300" algn="l"/>
              </a:tabLst>
              <a:defRPr/>
            </a:pPr>
            <a:r>
              <a:rPr lang="en-US" sz="2600">
                <a:solidFill>
                  <a:srgbClr val="111111"/>
                </a:solidFill>
                <a:latin typeface="+mj-lt"/>
              </a:rPr>
              <a:t>In Abstract Factory pattern an interface is responsible for creating a factory of related objects without explicitly specifying their classes. Each generated factory can give the objects as per the Factory pattern</a:t>
            </a:r>
          </a:p>
        </p:txBody>
      </p:sp>
    </p:spTree>
    <p:extLst>
      <p:ext uri="{BB962C8B-B14F-4D97-AF65-F5344CB8AC3E}">
        <p14:creationId xmlns:p14="http://schemas.microsoft.com/office/powerpoint/2010/main" val="5221534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23</a:t>
            </a:fld>
            <a:endParaRPr lang="en-US" dirty="0"/>
          </a:p>
        </p:txBody>
      </p:sp>
      <p:sp>
        <p:nvSpPr>
          <p:cNvPr id="10" name="TextBox 9">
            <a:extLst>
              <a:ext uri="{FF2B5EF4-FFF2-40B4-BE49-F238E27FC236}">
                <a16:creationId xmlns:a16="http://schemas.microsoft.com/office/drawing/2014/main" id="{DCC2995B-555A-4656-A61E-1EFD393BBE2A}"/>
              </a:ext>
            </a:extLst>
          </p:cNvPr>
          <p:cNvSpPr txBox="1"/>
          <p:nvPr/>
        </p:nvSpPr>
        <p:spPr>
          <a:xfrm>
            <a:off x="-66746" y="1528449"/>
            <a:ext cx="12109393" cy="4770537"/>
          </a:xfrm>
          <a:prstGeom prst="rect">
            <a:avLst/>
          </a:prstGeom>
          <a:noFill/>
        </p:spPr>
        <p:txBody>
          <a:bodyPr wrap="square">
            <a:spAutoFit/>
          </a:bodyPr>
          <a:lstStyle/>
          <a:p>
            <a:pPr marL="342900" indent="-342900" algn="just">
              <a:spcBef>
                <a:spcPts val="1000"/>
              </a:spcBef>
              <a:spcAft>
                <a:spcPts val="1000"/>
              </a:spcAft>
              <a:buClr>
                <a:srgbClr val="973735"/>
              </a:buClr>
              <a:buSzPct val="50000"/>
              <a:buFont typeface="Wingdings" pitchFamily="2" charset="2"/>
              <a:buChar char="u"/>
              <a:tabLst>
                <a:tab pos="241300" algn="l"/>
              </a:tabLst>
              <a:defRPr/>
            </a:pPr>
            <a:r>
              <a:rPr lang="en-US" sz="2600" b="1">
                <a:solidFill>
                  <a:srgbClr val="111111"/>
                </a:solidFill>
                <a:latin typeface="+mj-lt"/>
              </a:rPr>
              <a:t>AbstractFactory</a:t>
            </a:r>
            <a:r>
              <a:rPr lang="en-US" sz="2600">
                <a:solidFill>
                  <a:srgbClr val="111111"/>
                </a:solidFill>
                <a:latin typeface="+mj-lt"/>
              </a:rPr>
              <a:t>: declares an interface for operations that create abstract products</a:t>
            </a:r>
          </a:p>
          <a:p>
            <a:pPr marL="342900" indent="-342900" algn="just">
              <a:spcBef>
                <a:spcPts val="1000"/>
              </a:spcBef>
              <a:spcAft>
                <a:spcPts val="1000"/>
              </a:spcAft>
              <a:buClr>
                <a:srgbClr val="973735"/>
              </a:buClr>
              <a:buSzPct val="50000"/>
              <a:buFont typeface="Wingdings" pitchFamily="2" charset="2"/>
              <a:buChar char="u"/>
              <a:tabLst>
                <a:tab pos="241300" algn="l"/>
              </a:tabLst>
              <a:defRPr/>
            </a:pPr>
            <a:r>
              <a:rPr lang="en-US" sz="2600" b="1">
                <a:solidFill>
                  <a:srgbClr val="111111"/>
                </a:solidFill>
                <a:latin typeface="+mj-lt"/>
              </a:rPr>
              <a:t>ConcreteFactory</a:t>
            </a:r>
            <a:r>
              <a:rPr lang="en-US" sz="2600">
                <a:solidFill>
                  <a:srgbClr val="111111"/>
                </a:solidFill>
                <a:latin typeface="+mj-lt"/>
              </a:rPr>
              <a:t>: implements the operations to create concrete product objects</a:t>
            </a:r>
          </a:p>
          <a:p>
            <a:pPr marL="342900" indent="-342900" algn="just">
              <a:spcBef>
                <a:spcPts val="1000"/>
              </a:spcBef>
              <a:spcAft>
                <a:spcPts val="1000"/>
              </a:spcAft>
              <a:buClr>
                <a:srgbClr val="973735"/>
              </a:buClr>
              <a:buSzPct val="50000"/>
              <a:buFont typeface="Wingdings" pitchFamily="2" charset="2"/>
              <a:buChar char="u"/>
              <a:tabLst>
                <a:tab pos="241300" algn="l"/>
              </a:tabLst>
              <a:defRPr/>
            </a:pPr>
            <a:r>
              <a:rPr lang="en-US" sz="2600" b="1">
                <a:solidFill>
                  <a:srgbClr val="111111"/>
                </a:solidFill>
                <a:latin typeface="+mj-lt"/>
              </a:rPr>
              <a:t>AbstractProduct</a:t>
            </a:r>
            <a:r>
              <a:rPr lang="en-US" sz="2600">
                <a:solidFill>
                  <a:srgbClr val="111111"/>
                </a:solidFill>
                <a:latin typeface="+mj-lt"/>
              </a:rPr>
              <a:t>: declares an interface for a type of product object</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b="1">
                <a:solidFill>
                  <a:srgbClr val="111111"/>
                </a:solidFill>
                <a:latin typeface="+mj-lt"/>
              </a:rPr>
              <a:t>Product</a:t>
            </a:r>
            <a:r>
              <a:rPr lang="en-US" sz="2600">
                <a:solidFill>
                  <a:srgbClr val="111111"/>
                </a:solidFill>
                <a:latin typeface="+mj-lt"/>
              </a:rPr>
              <a:t>: defines a product object to be created by the corresponding concrete factory and implements the AbstractProduct interface</a:t>
            </a:r>
          </a:p>
          <a:p>
            <a:pPr marL="342900" indent="-342900" algn="just">
              <a:spcBef>
                <a:spcPts val="1000"/>
              </a:spcBef>
              <a:spcAft>
                <a:spcPts val="1000"/>
              </a:spcAft>
              <a:buClr>
                <a:srgbClr val="973735"/>
              </a:buClr>
              <a:buSzPct val="50000"/>
              <a:buFont typeface="Wingdings" pitchFamily="2" charset="2"/>
              <a:buChar char="u"/>
              <a:tabLst>
                <a:tab pos="241300" algn="l"/>
              </a:tabLst>
              <a:defRPr/>
            </a:pPr>
            <a:r>
              <a:rPr lang="en-US" sz="2600" b="1">
                <a:solidFill>
                  <a:srgbClr val="111111"/>
                </a:solidFill>
                <a:latin typeface="+mj-lt"/>
              </a:rPr>
              <a:t>Client</a:t>
            </a:r>
            <a:r>
              <a:rPr lang="en-US" sz="2600">
                <a:solidFill>
                  <a:srgbClr val="111111"/>
                </a:solidFill>
                <a:latin typeface="+mj-lt"/>
              </a:rPr>
              <a:t>: uses interfaces declared by AbstractFactory and AbstractProduct classes</a:t>
            </a:r>
          </a:p>
        </p:txBody>
      </p:sp>
      <p:sp>
        <p:nvSpPr>
          <p:cNvPr id="15" name="Title 1">
            <a:extLst>
              <a:ext uri="{FF2B5EF4-FFF2-40B4-BE49-F238E27FC236}">
                <a16:creationId xmlns:a16="http://schemas.microsoft.com/office/drawing/2014/main" id="{A3553F11-0969-4BF1-A26D-5AA2C8027051}"/>
              </a:ext>
            </a:extLst>
          </p:cNvPr>
          <p:cNvSpPr>
            <a:spLocks noGrp="1"/>
          </p:cNvSpPr>
          <p:nvPr>
            <p:ph type="title"/>
          </p:nvPr>
        </p:nvSpPr>
        <p:spPr>
          <a:xfrm>
            <a:off x="275156" y="720006"/>
            <a:ext cx="11154104" cy="575433"/>
          </a:xfrm>
        </p:spPr>
        <p:txBody>
          <a:bodyPr>
            <a:noAutofit/>
          </a:bodyPr>
          <a:lstStyle/>
          <a:p>
            <a:r>
              <a:rPr lang="en-US" sz="4000" b="1"/>
              <a:t>Abstract Factory Design Pattern Participants</a:t>
            </a:r>
          </a:p>
        </p:txBody>
      </p:sp>
    </p:spTree>
    <p:extLst>
      <p:ext uri="{BB962C8B-B14F-4D97-AF65-F5344CB8AC3E}">
        <p14:creationId xmlns:p14="http://schemas.microsoft.com/office/powerpoint/2010/main" val="2610451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24</a:t>
            </a:fld>
            <a:endParaRPr lang="en-US" dirty="0"/>
          </a:p>
        </p:txBody>
      </p:sp>
      <p:pic>
        <p:nvPicPr>
          <p:cNvPr id="6" name="Picture 5">
            <a:extLst>
              <a:ext uri="{FF2B5EF4-FFF2-40B4-BE49-F238E27FC236}">
                <a16:creationId xmlns:a16="http://schemas.microsoft.com/office/drawing/2014/main" id="{A97D39EF-E77D-4325-91EF-6F854F3B196E}"/>
              </a:ext>
            </a:extLst>
          </p:cNvPr>
          <p:cNvPicPr>
            <a:picLocks noChangeAspect="1"/>
          </p:cNvPicPr>
          <p:nvPr/>
        </p:nvPicPr>
        <p:blipFill>
          <a:blip r:embed="rId3"/>
          <a:stretch>
            <a:fillRect/>
          </a:stretch>
        </p:blipFill>
        <p:spPr>
          <a:xfrm>
            <a:off x="3051983" y="379717"/>
            <a:ext cx="6827007" cy="6040549"/>
          </a:xfrm>
          <a:prstGeom prst="rect">
            <a:avLst/>
          </a:prstGeom>
        </p:spPr>
      </p:pic>
      <p:sp>
        <p:nvSpPr>
          <p:cNvPr id="12" name="TextBox 11">
            <a:extLst>
              <a:ext uri="{FF2B5EF4-FFF2-40B4-BE49-F238E27FC236}">
                <a16:creationId xmlns:a16="http://schemas.microsoft.com/office/drawing/2014/main" id="{2AC2609A-986C-42B6-B034-E017E165CE36}"/>
              </a:ext>
            </a:extLst>
          </p:cNvPr>
          <p:cNvSpPr txBox="1"/>
          <p:nvPr/>
        </p:nvSpPr>
        <p:spPr>
          <a:xfrm>
            <a:off x="5010808" y="268457"/>
            <a:ext cx="2134340" cy="338554"/>
          </a:xfrm>
          <a:prstGeom prst="rect">
            <a:avLst/>
          </a:prstGeom>
          <a:noFill/>
        </p:spPr>
        <p:txBody>
          <a:bodyPr wrap="square">
            <a:spAutoFit/>
          </a:bodyPr>
          <a:lstStyle/>
          <a:p>
            <a:pPr algn="just">
              <a:spcBef>
                <a:spcPts val="1000"/>
              </a:spcBef>
              <a:spcAft>
                <a:spcPts val="1000"/>
              </a:spcAft>
              <a:buClr>
                <a:srgbClr val="973735"/>
              </a:buClr>
              <a:buSzPct val="50000"/>
              <a:tabLst>
                <a:tab pos="241300" algn="l"/>
              </a:tabLst>
              <a:defRPr/>
            </a:pPr>
            <a:r>
              <a:rPr lang="en-US" sz="1600" b="1" i="1" u="sng">
                <a:latin typeface="+mj-lt"/>
              </a:rPr>
              <a:t>UML class diagram</a:t>
            </a:r>
          </a:p>
        </p:txBody>
      </p:sp>
    </p:spTree>
    <p:extLst>
      <p:ext uri="{BB962C8B-B14F-4D97-AF65-F5344CB8AC3E}">
        <p14:creationId xmlns:p14="http://schemas.microsoft.com/office/powerpoint/2010/main" val="41355174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40A94-433B-452C-A088-D5D406280E75}"/>
              </a:ext>
            </a:extLst>
          </p:cNvPr>
          <p:cNvSpPr>
            <a:spLocks noGrp="1"/>
          </p:cNvSpPr>
          <p:nvPr>
            <p:ph type="title"/>
          </p:nvPr>
        </p:nvSpPr>
        <p:spPr/>
        <p:txBody>
          <a:bodyPr>
            <a:normAutofit fontScale="90000"/>
          </a:bodyPr>
          <a:lstStyle/>
          <a:p>
            <a:endParaRPr lang="en-US"/>
          </a:p>
        </p:txBody>
      </p:sp>
      <p:sp>
        <p:nvSpPr>
          <p:cNvPr id="3" name="Content Placeholder 2">
            <a:extLst>
              <a:ext uri="{FF2B5EF4-FFF2-40B4-BE49-F238E27FC236}">
                <a16:creationId xmlns:a16="http://schemas.microsoft.com/office/drawing/2014/main" id="{A335DCCF-4309-4803-8437-3C197F688864}"/>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A616EFF8-B1AA-4255-AEC1-42861C349D34}"/>
              </a:ext>
            </a:extLst>
          </p:cNvPr>
          <p:cNvSpPr>
            <a:spLocks noGrp="1"/>
          </p:cNvSpPr>
          <p:nvPr>
            <p:ph type="dt" sz="half" idx="10"/>
          </p:nvPr>
        </p:nvSpPr>
        <p:spPr/>
        <p:txBody>
          <a:bodyPr/>
          <a:lstStyle/>
          <a:p>
            <a:fld id="{5DCBE059-FAD7-45D8-8659-E6542D1E092D}" type="datetime1">
              <a:rPr lang="en-US" smtClean="0"/>
              <a:t>5/28/2024</a:t>
            </a:fld>
            <a:endParaRPr lang="en-US" dirty="0"/>
          </a:p>
        </p:txBody>
      </p:sp>
      <p:sp>
        <p:nvSpPr>
          <p:cNvPr id="5" name="Slide Number Placeholder 4">
            <a:extLst>
              <a:ext uri="{FF2B5EF4-FFF2-40B4-BE49-F238E27FC236}">
                <a16:creationId xmlns:a16="http://schemas.microsoft.com/office/drawing/2014/main" id="{B6CCB348-1565-4650-983E-A9FBB5ED132C}"/>
              </a:ext>
            </a:extLst>
          </p:cNvPr>
          <p:cNvSpPr>
            <a:spLocks noGrp="1"/>
          </p:cNvSpPr>
          <p:nvPr>
            <p:ph type="sldNum" sz="quarter" idx="12"/>
          </p:nvPr>
        </p:nvSpPr>
        <p:spPr/>
        <p:txBody>
          <a:bodyPr/>
          <a:lstStyle/>
          <a:p>
            <a:fld id="{CC0149FD-98BB-4821-915B-09C9BFE4B727}" type="slidenum">
              <a:rPr lang="en-US" smtClean="0"/>
              <a:pPr/>
              <a:t>25</a:t>
            </a:fld>
            <a:endParaRPr lang="en-US" dirty="0"/>
          </a:p>
        </p:txBody>
      </p:sp>
      <p:sp>
        <p:nvSpPr>
          <p:cNvPr id="7" name="Rectangle 1">
            <a:extLst>
              <a:ext uri="{FF2B5EF4-FFF2-40B4-BE49-F238E27FC236}">
                <a16:creationId xmlns:a16="http://schemas.microsoft.com/office/drawing/2014/main" id="{7F1B000C-F70E-4E45-BAD5-1CB56E01B9F2}"/>
              </a:ext>
            </a:extLst>
          </p:cNvPr>
          <p:cNvSpPr>
            <a:spLocks noChangeArrowheads="1"/>
          </p:cNvSpPr>
          <p:nvPr/>
        </p:nvSpPr>
        <p:spPr bwMode="auto">
          <a:xfrm>
            <a:off x="0" y="0"/>
            <a:ext cx="4842672" cy="6647974"/>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DCC6E0"/>
                </a:solidFill>
                <a:effectLst/>
                <a:latin typeface="Consolas" panose="020B0609020204030204" pitchFamily="49" charset="0"/>
              </a:rPr>
              <a:t>public</a:t>
            </a:r>
            <a:r>
              <a:rPr kumimoji="0" lang="en-US" altLang="en-US" sz="1200" b="0" i="0" u="none" strike="noStrike" cap="none" normalizeH="0" baseline="0">
                <a:ln>
                  <a:noFill/>
                </a:ln>
                <a:solidFill>
                  <a:srgbClr val="F8F8F2"/>
                </a:solidFill>
                <a:effectLst/>
                <a:latin typeface="Consolas" panose="020B0609020204030204" pitchFamily="49" charset="0"/>
              </a:rPr>
              <a:t> </a:t>
            </a:r>
            <a:r>
              <a:rPr kumimoji="0" lang="en-US" altLang="en-US" sz="1200" b="0" i="0" u="none" strike="noStrike" cap="none" normalizeH="0" baseline="0">
                <a:ln>
                  <a:noFill/>
                </a:ln>
                <a:solidFill>
                  <a:srgbClr val="DCC6E0"/>
                </a:solidFill>
                <a:effectLst/>
                <a:latin typeface="Consolas" panose="020B0609020204030204" pitchFamily="49" charset="0"/>
              </a:rPr>
              <a:t>interface</a:t>
            </a:r>
            <a:r>
              <a:rPr kumimoji="0" lang="en-US" altLang="en-US" sz="1200" b="0" i="0" u="none" strike="noStrike" cap="none" normalizeH="0" baseline="0">
                <a:ln>
                  <a:noFill/>
                </a:ln>
                <a:solidFill>
                  <a:srgbClr val="F8F8F2"/>
                </a:solidFill>
                <a:effectLst/>
                <a:latin typeface="Consolas" panose="020B0609020204030204" pitchFamily="49" charset="0"/>
              </a:rPr>
              <a:t> </a:t>
            </a:r>
            <a:r>
              <a:rPr kumimoji="0" lang="en-US" altLang="en-US" sz="1200" b="0" i="0" u="none" strike="noStrike" cap="none" normalizeH="0" baseline="0">
                <a:ln>
                  <a:noFill/>
                </a:ln>
                <a:solidFill>
                  <a:srgbClr val="00E0E0"/>
                </a:solidFill>
                <a:effectLst/>
                <a:latin typeface="Consolas" panose="020B0609020204030204" pitchFamily="49" charset="0"/>
              </a:rPr>
              <a:t>IOrderFactory</a:t>
            </a:r>
            <a:r>
              <a:rPr kumimoji="0" lang="en-US" altLang="en-US" sz="12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200" b="0" i="0" u="none" strike="noStrike" cap="none" normalizeH="0" baseline="0">
                <a:ln>
                  <a:noFill/>
                </a:ln>
                <a:solidFill>
                  <a:srgbClr val="F8F8F2"/>
                </a:solidFill>
                <a:effectLst/>
                <a:latin typeface="Consolas" panose="020B0609020204030204" pitchFamily="49" charset="0"/>
              </a:rPr>
              <a:t>IOrder </a:t>
            </a:r>
            <a:r>
              <a:rPr kumimoji="0" lang="en-US" altLang="en-US" sz="1200" b="0" i="0" u="none" strike="noStrike" cap="none" normalizeH="0" baseline="0">
                <a:ln>
                  <a:noFill/>
                </a:ln>
                <a:solidFill>
                  <a:srgbClr val="00E0E0"/>
                </a:solidFill>
                <a:effectLst/>
                <a:latin typeface="Consolas" panose="020B0609020204030204" pitchFamily="49" charset="0"/>
              </a:rPr>
              <a:t>CreateOrder</a:t>
            </a:r>
            <a:r>
              <a:rPr kumimoji="0" lang="en-US" altLang="en-US" sz="1200" b="0" i="0" u="none" strike="noStrike" cap="none" normalizeH="0" baseline="0">
                <a:ln>
                  <a:noFill/>
                </a:ln>
                <a:solidFill>
                  <a:srgbClr val="F5AB35"/>
                </a:solidFill>
                <a:effectLst/>
                <a:latin typeface="Consolas" panose="020B0609020204030204" pitchFamily="49" charset="0"/>
              </a:rPr>
              <a:t>()</a:t>
            </a:r>
            <a:r>
              <a:rPr kumimoji="0" lang="en-US" altLang="en-US" sz="1200" b="0" i="0" u="none" strike="noStrike" cap="none" normalizeH="0" baseline="0">
                <a:ln>
                  <a:noFill/>
                </a:ln>
                <a:solidFill>
                  <a:srgbClr val="F8F8F2"/>
                </a:solidFill>
                <a:effectLst/>
                <a:latin typeface="Consolas" panose="020B0609020204030204" pitchFamily="49" charset="0"/>
              </a:rPr>
              <a:t>; </a:t>
            </a:r>
          </a:p>
          <a:p>
            <a:pPr lvl="1" eaLnBrk="0" fontAlgn="base" hangingPunct="0">
              <a:spcBef>
                <a:spcPct val="0"/>
              </a:spcBef>
              <a:spcAft>
                <a:spcPct val="0"/>
              </a:spcAft>
            </a:pPr>
            <a:r>
              <a:rPr kumimoji="0" lang="en-US" altLang="en-US" sz="1200" b="0" i="0" u="none" strike="noStrike" cap="none" normalizeH="0" baseline="0">
                <a:ln>
                  <a:noFill/>
                </a:ln>
                <a:solidFill>
                  <a:srgbClr val="F8F8F2"/>
                </a:solidFill>
                <a:effectLst/>
                <a:latin typeface="Consolas" panose="020B0609020204030204" pitchFamily="49" charset="0"/>
              </a:rPr>
              <a:t>IPayment </a:t>
            </a:r>
            <a:r>
              <a:rPr kumimoji="0" lang="en-US" altLang="en-US" sz="1200" b="0" i="0" u="none" strike="noStrike" cap="none" normalizeH="0" baseline="0">
                <a:ln>
                  <a:noFill/>
                </a:ln>
                <a:solidFill>
                  <a:srgbClr val="00E0E0"/>
                </a:solidFill>
                <a:effectLst/>
                <a:latin typeface="Consolas" panose="020B0609020204030204" pitchFamily="49" charset="0"/>
              </a:rPr>
              <a:t>CreatePayment</a:t>
            </a:r>
            <a:r>
              <a:rPr kumimoji="0" lang="en-US" altLang="en-US" sz="1200" b="0" i="0" u="none" strike="noStrike" cap="none" normalizeH="0" baseline="0">
                <a:ln>
                  <a:noFill/>
                </a:ln>
                <a:solidFill>
                  <a:srgbClr val="F5AB35"/>
                </a:solidFill>
                <a:effectLst/>
                <a:latin typeface="Consolas" panose="020B0609020204030204" pitchFamily="49" charset="0"/>
              </a:rPr>
              <a:t>()</a:t>
            </a:r>
            <a:r>
              <a:rPr kumimoji="0" lang="en-US" altLang="en-US" sz="1200" b="0" i="0" u="none" strike="noStrike" cap="none" normalizeH="0" baseline="0">
                <a:ln>
                  <a:noFill/>
                </a:ln>
                <a:solidFill>
                  <a:srgbClr val="F8F8F2"/>
                </a:solidFill>
                <a:effectLst/>
                <a:latin typeface="Consolas" panose="020B0609020204030204" pitchFamily="49" charset="0"/>
              </a:rPr>
              <a:t>; </a:t>
            </a:r>
          </a:p>
          <a:p>
            <a:pPr lvl="1" eaLnBrk="0" fontAlgn="base" hangingPunct="0">
              <a:spcBef>
                <a:spcPct val="0"/>
              </a:spcBef>
              <a:spcAft>
                <a:spcPct val="0"/>
              </a:spcAft>
            </a:pPr>
            <a:r>
              <a:rPr kumimoji="0" lang="en-US" altLang="en-US" sz="1200" b="0" i="0" u="none" strike="noStrike" cap="none" normalizeH="0" baseline="0">
                <a:ln>
                  <a:noFill/>
                </a:ln>
                <a:solidFill>
                  <a:srgbClr val="F8F8F2"/>
                </a:solidFill>
                <a:effectLst/>
                <a:latin typeface="Consolas" panose="020B0609020204030204" pitchFamily="49" charset="0"/>
              </a:rPr>
              <a:t>IShipping </a:t>
            </a:r>
            <a:r>
              <a:rPr kumimoji="0" lang="en-US" altLang="en-US" sz="1200" b="0" i="0" u="none" strike="noStrike" cap="none" normalizeH="0" baseline="0">
                <a:ln>
                  <a:noFill/>
                </a:ln>
                <a:solidFill>
                  <a:srgbClr val="00E0E0"/>
                </a:solidFill>
                <a:effectLst/>
                <a:latin typeface="Consolas" panose="020B0609020204030204" pitchFamily="49" charset="0"/>
              </a:rPr>
              <a:t>CreateShipping</a:t>
            </a:r>
            <a:r>
              <a:rPr kumimoji="0" lang="en-US" altLang="en-US" sz="1200" b="0" i="0" u="none" strike="noStrike" cap="none" normalizeH="0" baseline="0">
                <a:ln>
                  <a:noFill/>
                </a:ln>
                <a:solidFill>
                  <a:srgbClr val="F5AB35"/>
                </a:solidFill>
                <a:effectLst/>
                <a:latin typeface="Consolas" panose="020B0609020204030204" pitchFamily="49" charset="0"/>
              </a:rPr>
              <a:t>()</a:t>
            </a:r>
            <a:r>
              <a:rPr kumimoji="0" lang="en-US" altLang="en-US" sz="12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DCC6E0"/>
                </a:solidFill>
                <a:effectLst/>
                <a:latin typeface="Consolas" panose="020B0609020204030204" pitchFamily="49" charset="0"/>
              </a:rPr>
              <a:t>public</a:t>
            </a:r>
            <a:r>
              <a:rPr kumimoji="0" lang="en-US" altLang="en-US" sz="1200" b="0" i="0" u="none" strike="noStrike" cap="none" normalizeH="0" baseline="0">
                <a:ln>
                  <a:noFill/>
                </a:ln>
                <a:solidFill>
                  <a:srgbClr val="F8F8F2"/>
                </a:solidFill>
                <a:effectLst/>
                <a:latin typeface="Consolas" panose="020B0609020204030204" pitchFamily="49" charset="0"/>
              </a:rPr>
              <a:t> </a:t>
            </a:r>
            <a:r>
              <a:rPr kumimoji="0" lang="en-US" altLang="en-US" sz="1200" b="0" i="0" u="none" strike="noStrike" cap="none" normalizeH="0" baseline="0">
                <a:ln>
                  <a:noFill/>
                </a:ln>
                <a:solidFill>
                  <a:srgbClr val="DCC6E0"/>
                </a:solidFill>
                <a:effectLst/>
                <a:latin typeface="Consolas" panose="020B0609020204030204" pitchFamily="49" charset="0"/>
              </a:rPr>
              <a:t>interface</a:t>
            </a:r>
            <a:r>
              <a:rPr kumimoji="0" lang="en-US" altLang="en-US" sz="1200" b="0" i="0" u="none" strike="noStrike" cap="none" normalizeH="0" baseline="0">
                <a:ln>
                  <a:noFill/>
                </a:ln>
                <a:solidFill>
                  <a:srgbClr val="F8F8F2"/>
                </a:solidFill>
                <a:effectLst/>
                <a:latin typeface="Consolas" panose="020B0609020204030204" pitchFamily="49" charset="0"/>
              </a:rPr>
              <a:t> </a:t>
            </a:r>
            <a:r>
              <a:rPr kumimoji="0" lang="en-US" altLang="en-US" sz="1200" b="0" i="0" u="none" strike="noStrike" cap="none" normalizeH="0" baseline="0">
                <a:ln>
                  <a:noFill/>
                </a:ln>
                <a:solidFill>
                  <a:srgbClr val="00E0E0"/>
                </a:solidFill>
                <a:effectLst/>
                <a:latin typeface="Consolas" panose="020B0609020204030204" pitchFamily="49" charset="0"/>
              </a:rPr>
              <a:t>IOrder</a:t>
            </a:r>
            <a:r>
              <a:rPr kumimoji="0" lang="en-US" altLang="en-US" sz="12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200" b="0" i="0" u="none" strike="noStrike" cap="none" normalizeH="0" baseline="0">
                <a:ln>
                  <a:noFill/>
                </a:ln>
                <a:solidFill>
                  <a:srgbClr val="DCC6E0"/>
                </a:solidFill>
                <a:effectLst/>
                <a:latin typeface="Consolas" panose="020B0609020204030204" pitchFamily="49" charset="0"/>
              </a:rPr>
              <a:t>void</a:t>
            </a:r>
            <a:r>
              <a:rPr kumimoji="0" lang="en-US" altLang="en-US" sz="1200" b="0" i="0" u="none" strike="noStrike" cap="none" normalizeH="0" baseline="0">
                <a:ln>
                  <a:noFill/>
                </a:ln>
                <a:solidFill>
                  <a:srgbClr val="F8F8F2"/>
                </a:solidFill>
                <a:effectLst/>
                <a:latin typeface="Consolas" panose="020B0609020204030204" pitchFamily="49" charset="0"/>
              </a:rPr>
              <a:t> </a:t>
            </a:r>
            <a:r>
              <a:rPr kumimoji="0" lang="en-US" altLang="en-US" sz="1200" b="0" i="0" u="none" strike="noStrike" cap="none" normalizeH="0" baseline="0">
                <a:ln>
                  <a:noFill/>
                </a:ln>
                <a:solidFill>
                  <a:srgbClr val="00E0E0"/>
                </a:solidFill>
                <a:effectLst/>
                <a:latin typeface="Consolas" panose="020B0609020204030204" pitchFamily="49" charset="0"/>
              </a:rPr>
              <a:t>ProcessOrder</a:t>
            </a:r>
            <a:r>
              <a:rPr kumimoji="0" lang="en-US" altLang="en-US" sz="1200" b="0" i="0" u="none" strike="noStrike" cap="none" normalizeH="0" baseline="0">
                <a:ln>
                  <a:noFill/>
                </a:ln>
                <a:solidFill>
                  <a:srgbClr val="F5AB35"/>
                </a:solidFill>
                <a:effectLst/>
                <a:latin typeface="Consolas" panose="020B0609020204030204" pitchFamily="49" charset="0"/>
              </a:rPr>
              <a:t>()</a:t>
            </a:r>
            <a:r>
              <a:rPr kumimoji="0" lang="en-US" altLang="en-US" sz="12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DCC6E0"/>
                </a:solidFill>
                <a:effectLst/>
                <a:latin typeface="Consolas" panose="020B0609020204030204" pitchFamily="49" charset="0"/>
              </a:rPr>
              <a:t>public</a:t>
            </a:r>
            <a:r>
              <a:rPr kumimoji="0" lang="en-US" altLang="en-US" sz="1200" b="0" i="0" u="none" strike="noStrike" cap="none" normalizeH="0" baseline="0">
                <a:ln>
                  <a:noFill/>
                </a:ln>
                <a:solidFill>
                  <a:srgbClr val="F8F8F2"/>
                </a:solidFill>
                <a:effectLst/>
                <a:latin typeface="Consolas" panose="020B0609020204030204" pitchFamily="49" charset="0"/>
              </a:rPr>
              <a:t> </a:t>
            </a:r>
            <a:r>
              <a:rPr kumimoji="0" lang="en-US" altLang="en-US" sz="1200" b="0" i="0" u="none" strike="noStrike" cap="none" normalizeH="0" baseline="0">
                <a:ln>
                  <a:noFill/>
                </a:ln>
                <a:solidFill>
                  <a:srgbClr val="DCC6E0"/>
                </a:solidFill>
                <a:effectLst/>
                <a:latin typeface="Consolas" panose="020B0609020204030204" pitchFamily="49" charset="0"/>
              </a:rPr>
              <a:t>interface</a:t>
            </a:r>
            <a:r>
              <a:rPr kumimoji="0" lang="en-US" altLang="en-US" sz="1200" b="0" i="0" u="none" strike="noStrike" cap="none" normalizeH="0" baseline="0">
                <a:ln>
                  <a:noFill/>
                </a:ln>
                <a:solidFill>
                  <a:srgbClr val="F8F8F2"/>
                </a:solidFill>
                <a:effectLst/>
                <a:latin typeface="Consolas" panose="020B0609020204030204" pitchFamily="49" charset="0"/>
              </a:rPr>
              <a:t> </a:t>
            </a:r>
            <a:r>
              <a:rPr kumimoji="0" lang="en-US" altLang="en-US" sz="1200" b="0" i="0" u="none" strike="noStrike" cap="none" normalizeH="0" baseline="0">
                <a:ln>
                  <a:noFill/>
                </a:ln>
                <a:solidFill>
                  <a:srgbClr val="00E0E0"/>
                </a:solidFill>
                <a:effectLst/>
                <a:latin typeface="Consolas" panose="020B0609020204030204" pitchFamily="49" charset="0"/>
              </a:rPr>
              <a:t>IPayment</a:t>
            </a:r>
            <a:r>
              <a:rPr kumimoji="0" lang="en-US" altLang="en-US" sz="12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200" b="0" i="0" u="none" strike="noStrike" cap="none" normalizeH="0" baseline="0">
                <a:ln>
                  <a:noFill/>
                </a:ln>
                <a:solidFill>
                  <a:srgbClr val="DCC6E0"/>
                </a:solidFill>
                <a:effectLst/>
                <a:latin typeface="Consolas" panose="020B0609020204030204" pitchFamily="49" charset="0"/>
              </a:rPr>
              <a:t>void</a:t>
            </a:r>
            <a:r>
              <a:rPr kumimoji="0" lang="en-US" altLang="en-US" sz="1200" b="0" i="0" u="none" strike="noStrike" cap="none" normalizeH="0" baseline="0">
                <a:ln>
                  <a:noFill/>
                </a:ln>
                <a:solidFill>
                  <a:srgbClr val="F8F8F2"/>
                </a:solidFill>
                <a:effectLst/>
                <a:latin typeface="Consolas" panose="020B0609020204030204" pitchFamily="49" charset="0"/>
              </a:rPr>
              <a:t> </a:t>
            </a:r>
            <a:r>
              <a:rPr kumimoji="0" lang="en-US" altLang="en-US" sz="1200" b="0" i="0" u="none" strike="noStrike" cap="none" normalizeH="0" baseline="0">
                <a:ln>
                  <a:noFill/>
                </a:ln>
                <a:solidFill>
                  <a:srgbClr val="00E0E0"/>
                </a:solidFill>
                <a:effectLst/>
                <a:latin typeface="Consolas" panose="020B0609020204030204" pitchFamily="49" charset="0"/>
              </a:rPr>
              <a:t>ProcessPayment</a:t>
            </a:r>
            <a:r>
              <a:rPr kumimoji="0" lang="en-US" altLang="en-US" sz="1200" b="0" i="0" u="none" strike="noStrike" cap="none" normalizeH="0" baseline="0">
                <a:ln>
                  <a:noFill/>
                </a:ln>
                <a:solidFill>
                  <a:srgbClr val="F5AB35"/>
                </a:solidFill>
                <a:effectLst/>
                <a:latin typeface="Consolas" panose="020B0609020204030204" pitchFamily="49" charset="0"/>
              </a:rPr>
              <a:t>()</a:t>
            </a:r>
            <a:r>
              <a:rPr kumimoji="0" lang="en-US" altLang="en-US" sz="12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DCC6E0"/>
                </a:solidFill>
                <a:effectLst/>
                <a:latin typeface="Consolas" panose="020B0609020204030204" pitchFamily="49" charset="0"/>
              </a:rPr>
              <a:t>public</a:t>
            </a:r>
            <a:r>
              <a:rPr kumimoji="0" lang="en-US" altLang="en-US" sz="1200" b="0" i="0" u="none" strike="noStrike" cap="none" normalizeH="0" baseline="0">
                <a:ln>
                  <a:noFill/>
                </a:ln>
                <a:solidFill>
                  <a:srgbClr val="F8F8F2"/>
                </a:solidFill>
                <a:effectLst/>
                <a:latin typeface="Consolas" panose="020B0609020204030204" pitchFamily="49" charset="0"/>
              </a:rPr>
              <a:t> </a:t>
            </a:r>
            <a:r>
              <a:rPr kumimoji="0" lang="en-US" altLang="en-US" sz="1200" b="0" i="0" u="none" strike="noStrike" cap="none" normalizeH="0" baseline="0">
                <a:ln>
                  <a:noFill/>
                </a:ln>
                <a:solidFill>
                  <a:srgbClr val="DCC6E0"/>
                </a:solidFill>
                <a:effectLst/>
                <a:latin typeface="Consolas" panose="020B0609020204030204" pitchFamily="49" charset="0"/>
              </a:rPr>
              <a:t>interface</a:t>
            </a:r>
            <a:r>
              <a:rPr kumimoji="0" lang="en-US" altLang="en-US" sz="1200" b="0" i="0" u="none" strike="noStrike" cap="none" normalizeH="0" baseline="0">
                <a:ln>
                  <a:noFill/>
                </a:ln>
                <a:solidFill>
                  <a:srgbClr val="F8F8F2"/>
                </a:solidFill>
                <a:effectLst/>
                <a:latin typeface="Consolas" panose="020B0609020204030204" pitchFamily="49" charset="0"/>
              </a:rPr>
              <a:t> </a:t>
            </a:r>
            <a:r>
              <a:rPr kumimoji="0" lang="en-US" altLang="en-US" sz="1200" b="0" i="0" u="none" strike="noStrike" cap="none" normalizeH="0" baseline="0">
                <a:ln>
                  <a:noFill/>
                </a:ln>
                <a:solidFill>
                  <a:srgbClr val="00E0E0"/>
                </a:solidFill>
                <a:effectLst/>
                <a:latin typeface="Consolas" panose="020B0609020204030204" pitchFamily="49" charset="0"/>
              </a:rPr>
              <a:t>IShipping</a:t>
            </a:r>
            <a:r>
              <a:rPr kumimoji="0" lang="en-US" altLang="en-US" sz="12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200" b="0" i="0" u="none" strike="noStrike" cap="none" normalizeH="0" baseline="0">
                <a:ln>
                  <a:noFill/>
                </a:ln>
                <a:solidFill>
                  <a:srgbClr val="DCC6E0"/>
                </a:solidFill>
                <a:effectLst/>
                <a:latin typeface="Consolas" panose="020B0609020204030204" pitchFamily="49" charset="0"/>
              </a:rPr>
              <a:t>void</a:t>
            </a:r>
            <a:r>
              <a:rPr kumimoji="0" lang="en-US" altLang="en-US" sz="1200" b="0" i="0" u="none" strike="noStrike" cap="none" normalizeH="0" baseline="0">
                <a:ln>
                  <a:noFill/>
                </a:ln>
                <a:solidFill>
                  <a:srgbClr val="F8F8F2"/>
                </a:solidFill>
                <a:effectLst/>
                <a:latin typeface="Consolas" panose="020B0609020204030204" pitchFamily="49" charset="0"/>
              </a:rPr>
              <a:t> </a:t>
            </a:r>
            <a:r>
              <a:rPr kumimoji="0" lang="en-US" altLang="en-US" sz="1200" b="0" i="0" u="none" strike="noStrike" cap="none" normalizeH="0" baseline="0">
                <a:ln>
                  <a:noFill/>
                </a:ln>
                <a:solidFill>
                  <a:srgbClr val="00E0E0"/>
                </a:solidFill>
                <a:effectLst/>
                <a:latin typeface="Consolas" panose="020B0609020204030204" pitchFamily="49" charset="0"/>
              </a:rPr>
              <a:t>ShipOrder</a:t>
            </a:r>
            <a:r>
              <a:rPr kumimoji="0" lang="en-US" altLang="en-US" sz="1200" b="0" i="0" u="none" strike="noStrike" cap="none" normalizeH="0" baseline="0">
                <a:ln>
                  <a:noFill/>
                </a:ln>
                <a:solidFill>
                  <a:srgbClr val="F5AB35"/>
                </a:solidFill>
                <a:effectLst/>
                <a:latin typeface="Consolas" panose="020B0609020204030204" pitchFamily="49" charset="0"/>
              </a:rPr>
              <a:t>()</a:t>
            </a:r>
            <a:r>
              <a:rPr kumimoji="0" lang="en-US" altLang="en-US" sz="12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DCC6E0"/>
                </a:solidFill>
                <a:effectLst/>
                <a:latin typeface="Consolas" panose="020B0609020204030204" pitchFamily="49" charset="0"/>
              </a:rPr>
              <a:t>public</a:t>
            </a:r>
            <a:r>
              <a:rPr kumimoji="0" lang="en-US" altLang="en-US" sz="1200" b="0" i="0" u="none" strike="noStrike" cap="none" normalizeH="0" baseline="0">
                <a:ln>
                  <a:noFill/>
                </a:ln>
                <a:solidFill>
                  <a:srgbClr val="F8F8F2"/>
                </a:solidFill>
                <a:effectLst/>
                <a:latin typeface="Consolas" panose="020B0609020204030204" pitchFamily="49" charset="0"/>
              </a:rPr>
              <a:t> </a:t>
            </a:r>
            <a:r>
              <a:rPr kumimoji="0" lang="en-US" altLang="en-US" sz="1200" b="0" i="0" u="none" strike="noStrike" cap="none" normalizeH="0" baseline="0">
                <a:ln>
                  <a:noFill/>
                </a:ln>
                <a:solidFill>
                  <a:srgbClr val="DCC6E0"/>
                </a:solidFill>
                <a:effectLst/>
                <a:latin typeface="Consolas" panose="020B0609020204030204" pitchFamily="49" charset="0"/>
              </a:rPr>
              <a:t>class</a:t>
            </a:r>
            <a:r>
              <a:rPr kumimoji="0" lang="en-US" altLang="en-US" sz="1200" b="0" i="0" u="none" strike="noStrike" cap="none" normalizeH="0" baseline="0">
                <a:ln>
                  <a:noFill/>
                </a:ln>
                <a:solidFill>
                  <a:srgbClr val="F8F8F2"/>
                </a:solidFill>
                <a:effectLst/>
                <a:latin typeface="Consolas" panose="020B0609020204030204" pitchFamily="49" charset="0"/>
              </a:rPr>
              <a:t> </a:t>
            </a:r>
            <a:r>
              <a:rPr kumimoji="0" lang="en-US" altLang="en-US" sz="1200" b="0" i="0" u="none" strike="noStrike" cap="none" normalizeH="0" baseline="0">
                <a:ln>
                  <a:noFill/>
                </a:ln>
                <a:solidFill>
                  <a:srgbClr val="00E0E0"/>
                </a:solidFill>
                <a:effectLst/>
                <a:latin typeface="Consolas" panose="020B0609020204030204" pitchFamily="49" charset="0"/>
              </a:rPr>
              <a:t>DomesticOrderFactory</a:t>
            </a:r>
            <a:r>
              <a:rPr kumimoji="0" lang="en-US" altLang="en-US" sz="1200" b="0" i="0" u="none" strike="noStrike" cap="none" normalizeH="0" baseline="0">
                <a:ln>
                  <a:noFill/>
                </a:ln>
                <a:solidFill>
                  <a:srgbClr val="F8F8F2"/>
                </a:solidFill>
                <a:effectLst/>
                <a:latin typeface="Consolas" panose="020B0609020204030204" pitchFamily="49" charset="0"/>
              </a:rPr>
              <a:t> : </a:t>
            </a:r>
            <a:r>
              <a:rPr kumimoji="0" lang="en-US" altLang="en-US" sz="1200" b="0" i="0" u="none" strike="noStrike" cap="none" normalizeH="0" baseline="0">
                <a:ln>
                  <a:noFill/>
                </a:ln>
                <a:solidFill>
                  <a:srgbClr val="00E0E0"/>
                </a:solidFill>
                <a:effectLst/>
                <a:latin typeface="Consolas" panose="020B0609020204030204" pitchFamily="49" charset="0"/>
              </a:rPr>
              <a:t>IOrderFactory</a:t>
            </a:r>
            <a:r>
              <a:rPr kumimoji="0" lang="en-US" altLang="en-US" sz="12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200" b="0" i="0" u="none" strike="noStrike" cap="none" normalizeH="0" baseline="0">
                <a:ln>
                  <a:noFill/>
                </a:ln>
                <a:solidFill>
                  <a:srgbClr val="DCC6E0"/>
                </a:solidFill>
                <a:effectLst/>
                <a:latin typeface="Consolas" panose="020B0609020204030204" pitchFamily="49" charset="0"/>
              </a:rPr>
              <a:t>public</a:t>
            </a:r>
            <a:r>
              <a:rPr kumimoji="0" lang="en-US" altLang="en-US" sz="1200" b="0" i="0" u="none" strike="noStrike" cap="none" normalizeH="0" baseline="0">
                <a:ln>
                  <a:noFill/>
                </a:ln>
                <a:solidFill>
                  <a:srgbClr val="F8F8F2"/>
                </a:solidFill>
                <a:effectLst/>
                <a:latin typeface="Consolas" panose="020B0609020204030204" pitchFamily="49" charset="0"/>
              </a:rPr>
              <a:t> IOrder </a:t>
            </a:r>
            <a:r>
              <a:rPr kumimoji="0" lang="en-US" altLang="en-US" sz="1200" b="0" i="0" u="none" strike="noStrike" cap="none" normalizeH="0" baseline="0">
                <a:ln>
                  <a:noFill/>
                </a:ln>
                <a:solidFill>
                  <a:srgbClr val="00E0E0"/>
                </a:solidFill>
                <a:effectLst/>
                <a:latin typeface="Consolas" panose="020B0609020204030204" pitchFamily="49" charset="0"/>
              </a:rPr>
              <a:t>CreateOrder</a:t>
            </a:r>
            <a:r>
              <a:rPr kumimoji="0" lang="en-US" altLang="en-US" sz="1200" b="0" i="0" u="none" strike="noStrike" cap="none" normalizeH="0" baseline="0">
                <a:ln>
                  <a:noFill/>
                </a:ln>
                <a:solidFill>
                  <a:srgbClr val="F5AB35"/>
                </a:solidFill>
                <a:effectLst/>
                <a:latin typeface="Consolas" panose="020B0609020204030204" pitchFamily="49" charset="0"/>
              </a:rPr>
              <a:t>()</a:t>
            </a:r>
            <a:r>
              <a:rPr kumimoji="0" lang="en-US" altLang="en-US" sz="12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200" b="0" i="0" u="none" strike="noStrike" cap="none" normalizeH="0" baseline="0">
                <a:ln>
                  <a:noFill/>
                </a:ln>
                <a:solidFill>
                  <a:srgbClr val="DCC6E0"/>
                </a:solidFill>
                <a:effectLst/>
                <a:latin typeface="Consolas" panose="020B0609020204030204" pitchFamily="49" charset="0"/>
              </a:rPr>
              <a:t>	return</a:t>
            </a:r>
            <a:r>
              <a:rPr kumimoji="0" lang="en-US" altLang="en-US" sz="1200" b="0" i="0" u="none" strike="noStrike" cap="none" normalizeH="0" baseline="0">
                <a:ln>
                  <a:noFill/>
                </a:ln>
                <a:solidFill>
                  <a:srgbClr val="F8F8F2"/>
                </a:solidFill>
                <a:effectLst/>
                <a:latin typeface="Consolas" panose="020B0609020204030204" pitchFamily="49" charset="0"/>
              </a:rPr>
              <a:t> </a:t>
            </a:r>
            <a:r>
              <a:rPr kumimoji="0" lang="en-US" altLang="en-US" sz="1200" b="0" i="0" u="none" strike="noStrike" cap="none" normalizeH="0" baseline="0">
                <a:ln>
                  <a:noFill/>
                </a:ln>
                <a:solidFill>
                  <a:srgbClr val="DCC6E0"/>
                </a:solidFill>
                <a:effectLst/>
                <a:latin typeface="Consolas" panose="020B0609020204030204" pitchFamily="49" charset="0"/>
              </a:rPr>
              <a:t>new</a:t>
            </a:r>
            <a:r>
              <a:rPr kumimoji="0" lang="en-US" altLang="en-US" sz="1200" b="0" i="0" u="none" strike="noStrike" cap="none" normalizeH="0" baseline="0">
                <a:ln>
                  <a:noFill/>
                </a:ln>
                <a:solidFill>
                  <a:srgbClr val="F8F8F2"/>
                </a:solidFill>
                <a:effectLst/>
                <a:latin typeface="Consolas" panose="020B0609020204030204" pitchFamily="49" charset="0"/>
              </a:rPr>
              <a:t> DomesticOrder(); </a:t>
            </a:r>
          </a:p>
          <a:p>
            <a:pPr lvl="1" eaLnBrk="0" fontAlgn="base" hangingPunct="0">
              <a:spcBef>
                <a:spcPct val="0"/>
              </a:spcBef>
              <a:spcAft>
                <a:spcPct val="0"/>
              </a:spcAft>
            </a:pPr>
            <a:r>
              <a:rPr kumimoji="0" lang="en-US" altLang="en-US" sz="1200" b="0" i="0" u="none" strike="noStrike" cap="none" normalizeH="0" baseline="0">
                <a:ln>
                  <a:noFill/>
                </a:ln>
                <a:solidFill>
                  <a:srgbClr val="F8F8F2"/>
                </a:solidFill>
                <a:effectLst/>
                <a:latin typeface="Consolas" panose="020B0609020204030204" pitchFamily="49" charset="0"/>
              </a:rPr>
              <a:t>} </a:t>
            </a:r>
          </a:p>
          <a:p>
            <a:pPr lvl="1" eaLnBrk="0" fontAlgn="base" hangingPunct="0">
              <a:spcBef>
                <a:spcPct val="0"/>
              </a:spcBef>
              <a:spcAft>
                <a:spcPct val="0"/>
              </a:spcAft>
            </a:pPr>
            <a:r>
              <a:rPr kumimoji="0" lang="en-US" altLang="en-US" sz="1200" b="0" i="0" u="none" strike="noStrike" cap="none" normalizeH="0" baseline="0">
                <a:ln>
                  <a:noFill/>
                </a:ln>
                <a:solidFill>
                  <a:srgbClr val="DCC6E0"/>
                </a:solidFill>
                <a:effectLst/>
                <a:latin typeface="Consolas" panose="020B0609020204030204" pitchFamily="49" charset="0"/>
              </a:rPr>
              <a:t>public</a:t>
            </a:r>
            <a:r>
              <a:rPr kumimoji="0" lang="en-US" altLang="en-US" sz="1200" b="0" i="0" u="none" strike="noStrike" cap="none" normalizeH="0" baseline="0">
                <a:ln>
                  <a:noFill/>
                </a:ln>
                <a:solidFill>
                  <a:srgbClr val="F8F8F2"/>
                </a:solidFill>
                <a:effectLst/>
                <a:latin typeface="Consolas" panose="020B0609020204030204" pitchFamily="49" charset="0"/>
              </a:rPr>
              <a:t> IPayment </a:t>
            </a:r>
            <a:r>
              <a:rPr kumimoji="0" lang="en-US" altLang="en-US" sz="1200" b="0" i="0" u="none" strike="noStrike" cap="none" normalizeH="0" baseline="0">
                <a:ln>
                  <a:noFill/>
                </a:ln>
                <a:solidFill>
                  <a:srgbClr val="00E0E0"/>
                </a:solidFill>
                <a:effectLst/>
                <a:latin typeface="Consolas" panose="020B0609020204030204" pitchFamily="49" charset="0"/>
              </a:rPr>
              <a:t>CreatePayment</a:t>
            </a:r>
            <a:r>
              <a:rPr kumimoji="0" lang="en-US" altLang="en-US" sz="1200" b="0" i="0" u="none" strike="noStrike" cap="none" normalizeH="0" baseline="0">
                <a:ln>
                  <a:noFill/>
                </a:ln>
                <a:solidFill>
                  <a:srgbClr val="F5AB35"/>
                </a:solidFill>
                <a:effectLst/>
                <a:latin typeface="Consolas" panose="020B0609020204030204" pitchFamily="49" charset="0"/>
              </a:rPr>
              <a:t>()</a:t>
            </a:r>
            <a:r>
              <a:rPr kumimoji="0" lang="en-US" altLang="en-US" sz="12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200" b="0" i="0" u="none" strike="noStrike" cap="none" normalizeH="0" baseline="0">
                <a:ln>
                  <a:noFill/>
                </a:ln>
                <a:solidFill>
                  <a:srgbClr val="DCC6E0"/>
                </a:solidFill>
                <a:effectLst/>
                <a:latin typeface="Consolas" panose="020B0609020204030204" pitchFamily="49" charset="0"/>
              </a:rPr>
              <a:t>	return</a:t>
            </a:r>
            <a:r>
              <a:rPr kumimoji="0" lang="en-US" altLang="en-US" sz="1200" b="0" i="0" u="none" strike="noStrike" cap="none" normalizeH="0" baseline="0">
                <a:ln>
                  <a:noFill/>
                </a:ln>
                <a:solidFill>
                  <a:srgbClr val="F8F8F2"/>
                </a:solidFill>
                <a:effectLst/>
                <a:latin typeface="Consolas" panose="020B0609020204030204" pitchFamily="49" charset="0"/>
              </a:rPr>
              <a:t> </a:t>
            </a:r>
            <a:r>
              <a:rPr kumimoji="0" lang="en-US" altLang="en-US" sz="1200" b="0" i="0" u="none" strike="noStrike" cap="none" normalizeH="0" baseline="0">
                <a:ln>
                  <a:noFill/>
                </a:ln>
                <a:solidFill>
                  <a:srgbClr val="DCC6E0"/>
                </a:solidFill>
                <a:effectLst/>
                <a:latin typeface="Consolas" panose="020B0609020204030204" pitchFamily="49" charset="0"/>
              </a:rPr>
              <a:t>new</a:t>
            </a:r>
            <a:r>
              <a:rPr kumimoji="0" lang="en-US" altLang="en-US" sz="1200" b="0" i="0" u="none" strike="noStrike" cap="none" normalizeH="0" baseline="0">
                <a:ln>
                  <a:noFill/>
                </a:ln>
                <a:solidFill>
                  <a:srgbClr val="F8F8F2"/>
                </a:solidFill>
                <a:effectLst/>
                <a:latin typeface="Consolas" panose="020B0609020204030204" pitchFamily="49" charset="0"/>
              </a:rPr>
              <a:t> DomesticPayment(); </a:t>
            </a:r>
          </a:p>
          <a:p>
            <a:pPr lvl="1" eaLnBrk="0" fontAlgn="base" hangingPunct="0">
              <a:spcBef>
                <a:spcPct val="0"/>
              </a:spcBef>
              <a:spcAft>
                <a:spcPct val="0"/>
              </a:spcAft>
            </a:pPr>
            <a:r>
              <a:rPr kumimoji="0" lang="en-US" altLang="en-US" sz="1200" b="0" i="0" u="none" strike="noStrike" cap="none" normalizeH="0" baseline="0">
                <a:ln>
                  <a:noFill/>
                </a:ln>
                <a:solidFill>
                  <a:srgbClr val="F8F8F2"/>
                </a:solidFill>
                <a:effectLst/>
                <a:latin typeface="Consolas" panose="020B0609020204030204" pitchFamily="49" charset="0"/>
              </a:rPr>
              <a:t>} </a:t>
            </a:r>
          </a:p>
          <a:p>
            <a:pPr lvl="1" eaLnBrk="0" fontAlgn="base" hangingPunct="0">
              <a:spcBef>
                <a:spcPct val="0"/>
              </a:spcBef>
              <a:spcAft>
                <a:spcPct val="0"/>
              </a:spcAft>
            </a:pPr>
            <a:r>
              <a:rPr kumimoji="0" lang="en-US" altLang="en-US" sz="1200" b="0" i="0" u="none" strike="noStrike" cap="none" normalizeH="0" baseline="0">
                <a:ln>
                  <a:noFill/>
                </a:ln>
                <a:solidFill>
                  <a:srgbClr val="DCC6E0"/>
                </a:solidFill>
                <a:effectLst/>
                <a:latin typeface="Consolas" panose="020B0609020204030204" pitchFamily="49" charset="0"/>
              </a:rPr>
              <a:t>public</a:t>
            </a:r>
            <a:r>
              <a:rPr kumimoji="0" lang="en-US" altLang="en-US" sz="1200" b="0" i="0" u="none" strike="noStrike" cap="none" normalizeH="0" baseline="0">
                <a:ln>
                  <a:noFill/>
                </a:ln>
                <a:solidFill>
                  <a:srgbClr val="F8F8F2"/>
                </a:solidFill>
                <a:effectLst/>
                <a:latin typeface="Consolas" panose="020B0609020204030204" pitchFamily="49" charset="0"/>
              </a:rPr>
              <a:t> IShipping </a:t>
            </a:r>
            <a:r>
              <a:rPr kumimoji="0" lang="en-US" altLang="en-US" sz="1200" b="0" i="0" u="none" strike="noStrike" cap="none" normalizeH="0" baseline="0">
                <a:ln>
                  <a:noFill/>
                </a:ln>
                <a:solidFill>
                  <a:srgbClr val="00E0E0"/>
                </a:solidFill>
                <a:effectLst/>
                <a:latin typeface="Consolas" panose="020B0609020204030204" pitchFamily="49" charset="0"/>
              </a:rPr>
              <a:t>CreateShipping</a:t>
            </a:r>
            <a:r>
              <a:rPr kumimoji="0" lang="en-US" altLang="en-US" sz="1200" b="0" i="0" u="none" strike="noStrike" cap="none" normalizeH="0" baseline="0">
                <a:ln>
                  <a:noFill/>
                </a:ln>
                <a:solidFill>
                  <a:srgbClr val="F5AB35"/>
                </a:solidFill>
                <a:effectLst/>
                <a:latin typeface="Consolas" panose="020B0609020204030204" pitchFamily="49" charset="0"/>
              </a:rPr>
              <a:t>()</a:t>
            </a:r>
            <a:r>
              <a:rPr kumimoji="0" lang="en-US" altLang="en-US" sz="12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200" b="0" i="0" u="none" strike="noStrike" cap="none" normalizeH="0" baseline="0">
                <a:ln>
                  <a:noFill/>
                </a:ln>
                <a:solidFill>
                  <a:srgbClr val="DCC6E0"/>
                </a:solidFill>
                <a:effectLst/>
                <a:latin typeface="Consolas" panose="020B0609020204030204" pitchFamily="49" charset="0"/>
              </a:rPr>
              <a:t>	return</a:t>
            </a:r>
            <a:r>
              <a:rPr kumimoji="0" lang="en-US" altLang="en-US" sz="1200" b="0" i="0" u="none" strike="noStrike" cap="none" normalizeH="0" baseline="0">
                <a:ln>
                  <a:noFill/>
                </a:ln>
                <a:solidFill>
                  <a:srgbClr val="F8F8F2"/>
                </a:solidFill>
                <a:effectLst/>
                <a:latin typeface="Consolas" panose="020B0609020204030204" pitchFamily="49" charset="0"/>
              </a:rPr>
              <a:t> </a:t>
            </a:r>
            <a:r>
              <a:rPr kumimoji="0" lang="en-US" altLang="en-US" sz="1200" b="0" i="0" u="none" strike="noStrike" cap="none" normalizeH="0" baseline="0">
                <a:ln>
                  <a:noFill/>
                </a:ln>
                <a:solidFill>
                  <a:srgbClr val="DCC6E0"/>
                </a:solidFill>
                <a:effectLst/>
                <a:latin typeface="Consolas" panose="020B0609020204030204" pitchFamily="49" charset="0"/>
              </a:rPr>
              <a:t>new</a:t>
            </a:r>
            <a:r>
              <a:rPr kumimoji="0" lang="en-US" altLang="en-US" sz="1200" b="0" i="0" u="none" strike="noStrike" cap="none" normalizeH="0" baseline="0">
                <a:ln>
                  <a:noFill/>
                </a:ln>
                <a:solidFill>
                  <a:srgbClr val="F8F8F2"/>
                </a:solidFill>
                <a:effectLst/>
                <a:latin typeface="Consolas" panose="020B0609020204030204" pitchFamily="49" charset="0"/>
              </a:rPr>
              <a:t> DomesticShipping(); </a:t>
            </a:r>
          </a:p>
          <a:p>
            <a:pPr lvl="1" eaLnBrk="0" fontAlgn="base" hangingPunct="0">
              <a:spcBef>
                <a:spcPct val="0"/>
              </a:spcBef>
              <a:spcAft>
                <a:spcPct val="0"/>
              </a:spcAft>
            </a:pPr>
            <a:r>
              <a:rPr kumimoji="0" lang="en-US" altLang="en-US" sz="1200" b="0" i="0" u="none" strike="noStrike" cap="none" normalizeH="0" baseline="0">
                <a:ln>
                  <a:noFill/>
                </a:ln>
                <a:solidFill>
                  <a:srgbClr val="F8F8F2"/>
                </a:solidFill>
                <a:effectLst/>
                <a:latin typeface="Consolas" panose="020B0609020204030204" pitchFamily="49" charset="0"/>
              </a:rPr>
              <a:t>} </a:t>
            </a:r>
          </a:p>
          <a:p>
            <a:pPr eaLnBrk="0" fontAlgn="base" hangingPunct="0">
              <a:spcBef>
                <a:spcPct val="0"/>
              </a:spcBef>
              <a:spcAft>
                <a:spcPct val="0"/>
              </a:spcAft>
            </a:pPr>
            <a:r>
              <a:rPr kumimoji="0" lang="en-US" altLang="en-US" sz="1200" b="0" i="0" u="none" strike="noStrike" cap="none" normalizeH="0" baseline="0">
                <a:ln>
                  <a:noFill/>
                </a:ln>
                <a:solidFill>
                  <a:srgbClr val="F8F8F2"/>
                </a:solidFill>
                <a:effectLst/>
                <a:latin typeface="Consolas" panose="020B0609020204030204" pitchFamily="49" charset="0"/>
              </a:rPr>
              <a:t>} </a:t>
            </a:r>
            <a:br>
              <a:rPr kumimoji="0" lang="en-US" altLang="en-US" sz="1200" b="0" i="0" u="none" strike="noStrike" cap="none" normalizeH="0" baseline="0">
                <a:ln>
                  <a:noFill/>
                </a:ln>
                <a:solidFill>
                  <a:schemeClr val="tx1"/>
                </a:solidFill>
                <a:effectLst/>
              </a:rPr>
            </a:br>
            <a:r>
              <a:rPr kumimoji="0" lang="en-US" altLang="en-US" sz="1200" b="0" i="0" u="none" strike="noStrike" cap="none" normalizeH="0" baseline="0">
                <a:ln>
                  <a:noFill/>
                </a:ln>
                <a:solidFill>
                  <a:srgbClr val="DCC6E0"/>
                </a:solidFill>
                <a:effectLst/>
                <a:latin typeface="Consolas" panose="020B0609020204030204" pitchFamily="49" charset="0"/>
              </a:rPr>
              <a:t>public</a:t>
            </a:r>
            <a:r>
              <a:rPr kumimoji="0" lang="en-US" altLang="en-US" sz="1200" b="0" i="0" u="none" strike="noStrike" cap="none" normalizeH="0" baseline="0">
                <a:ln>
                  <a:noFill/>
                </a:ln>
                <a:solidFill>
                  <a:srgbClr val="F8F8F2"/>
                </a:solidFill>
                <a:effectLst/>
                <a:latin typeface="Consolas" panose="020B0609020204030204" pitchFamily="49" charset="0"/>
              </a:rPr>
              <a:t> </a:t>
            </a:r>
            <a:r>
              <a:rPr kumimoji="0" lang="en-US" altLang="en-US" sz="1200" b="0" i="0" u="none" strike="noStrike" cap="none" normalizeH="0" baseline="0">
                <a:ln>
                  <a:noFill/>
                </a:ln>
                <a:solidFill>
                  <a:srgbClr val="DCC6E0"/>
                </a:solidFill>
                <a:effectLst/>
                <a:latin typeface="Consolas" panose="020B0609020204030204" pitchFamily="49" charset="0"/>
              </a:rPr>
              <a:t>class</a:t>
            </a:r>
            <a:r>
              <a:rPr kumimoji="0" lang="en-US" altLang="en-US" sz="1200" b="0" i="0" u="none" strike="noStrike" cap="none" normalizeH="0" baseline="0">
                <a:ln>
                  <a:noFill/>
                </a:ln>
                <a:solidFill>
                  <a:srgbClr val="F8F8F2"/>
                </a:solidFill>
                <a:effectLst/>
                <a:latin typeface="Consolas" panose="020B0609020204030204" pitchFamily="49" charset="0"/>
              </a:rPr>
              <a:t> </a:t>
            </a:r>
            <a:r>
              <a:rPr kumimoji="0" lang="en-US" altLang="en-US" sz="1200" b="0" i="0" u="none" strike="noStrike" cap="none" normalizeH="0" baseline="0">
                <a:ln>
                  <a:noFill/>
                </a:ln>
                <a:solidFill>
                  <a:srgbClr val="00E0E0"/>
                </a:solidFill>
                <a:effectLst/>
                <a:latin typeface="Consolas" panose="020B0609020204030204" pitchFamily="49" charset="0"/>
              </a:rPr>
              <a:t>InternationalOrderFactory</a:t>
            </a:r>
            <a:r>
              <a:rPr kumimoji="0" lang="en-US" altLang="en-US" sz="1200" b="0" i="0" u="none" strike="noStrike" cap="none" normalizeH="0" baseline="0">
                <a:ln>
                  <a:noFill/>
                </a:ln>
                <a:solidFill>
                  <a:srgbClr val="F8F8F2"/>
                </a:solidFill>
                <a:effectLst/>
                <a:latin typeface="Consolas" panose="020B0609020204030204" pitchFamily="49" charset="0"/>
              </a:rPr>
              <a:t> : </a:t>
            </a:r>
            <a:r>
              <a:rPr kumimoji="0" lang="en-US" altLang="en-US" sz="1200" b="0" i="0" u="none" strike="noStrike" cap="none" normalizeH="0" baseline="0">
                <a:ln>
                  <a:noFill/>
                </a:ln>
                <a:solidFill>
                  <a:srgbClr val="00E0E0"/>
                </a:solidFill>
                <a:effectLst/>
                <a:latin typeface="Consolas" panose="020B0609020204030204" pitchFamily="49" charset="0"/>
              </a:rPr>
              <a:t>IOrderFactory</a:t>
            </a:r>
            <a:r>
              <a:rPr kumimoji="0" lang="en-US" altLang="en-US" sz="12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200" b="0" i="0" u="none" strike="noStrike" cap="none" normalizeH="0" baseline="0">
                <a:ln>
                  <a:noFill/>
                </a:ln>
                <a:solidFill>
                  <a:srgbClr val="DCC6E0"/>
                </a:solidFill>
                <a:effectLst/>
                <a:latin typeface="Consolas" panose="020B0609020204030204" pitchFamily="49" charset="0"/>
              </a:rPr>
              <a:t>public</a:t>
            </a:r>
            <a:r>
              <a:rPr kumimoji="0" lang="en-US" altLang="en-US" sz="1200" b="0" i="0" u="none" strike="noStrike" cap="none" normalizeH="0" baseline="0">
                <a:ln>
                  <a:noFill/>
                </a:ln>
                <a:solidFill>
                  <a:srgbClr val="F8F8F2"/>
                </a:solidFill>
                <a:effectLst/>
                <a:latin typeface="Consolas" panose="020B0609020204030204" pitchFamily="49" charset="0"/>
              </a:rPr>
              <a:t> IOrder </a:t>
            </a:r>
            <a:r>
              <a:rPr kumimoji="0" lang="en-US" altLang="en-US" sz="1200" b="0" i="0" u="none" strike="noStrike" cap="none" normalizeH="0" baseline="0">
                <a:ln>
                  <a:noFill/>
                </a:ln>
                <a:solidFill>
                  <a:srgbClr val="00E0E0"/>
                </a:solidFill>
                <a:effectLst/>
                <a:latin typeface="Consolas" panose="020B0609020204030204" pitchFamily="49" charset="0"/>
              </a:rPr>
              <a:t>CreateOrder</a:t>
            </a:r>
            <a:r>
              <a:rPr kumimoji="0" lang="en-US" altLang="en-US" sz="1200" b="0" i="0" u="none" strike="noStrike" cap="none" normalizeH="0" baseline="0">
                <a:ln>
                  <a:noFill/>
                </a:ln>
                <a:solidFill>
                  <a:srgbClr val="F5AB35"/>
                </a:solidFill>
                <a:effectLst/>
                <a:latin typeface="Consolas" panose="020B0609020204030204" pitchFamily="49" charset="0"/>
              </a:rPr>
              <a:t>()</a:t>
            </a:r>
            <a:r>
              <a:rPr kumimoji="0" lang="en-US" altLang="en-US" sz="12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200" b="0" i="0" u="none" strike="noStrike" cap="none" normalizeH="0" baseline="0">
                <a:ln>
                  <a:noFill/>
                </a:ln>
                <a:solidFill>
                  <a:srgbClr val="DCC6E0"/>
                </a:solidFill>
                <a:effectLst/>
                <a:latin typeface="Consolas" panose="020B0609020204030204" pitchFamily="49" charset="0"/>
              </a:rPr>
              <a:t>	return</a:t>
            </a:r>
            <a:r>
              <a:rPr kumimoji="0" lang="en-US" altLang="en-US" sz="1200" b="0" i="0" u="none" strike="noStrike" cap="none" normalizeH="0" baseline="0">
                <a:ln>
                  <a:noFill/>
                </a:ln>
                <a:solidFill>
                  <a:srgbClr val="F8F8F2"/>
                </a:solidFill>
                <a:effectLst/>
                <a:latin typeface="Consolas" panose="020B0609020204030204" pitchFamily="49" charset="0"/>
              </a:rPr>
              <a:t> </a:t>
            </a:r>
            <a:r>
              <a:rPr kumimoji="0" lang="en-US" altLang="en-US" sz="1200" b="0" i="0" u="none" strike="noStrike" cap="none" normalizeH="0" baseline="0">
                <a:ln>
                  <a:noFill/>
                </a:ln>
                <a:solidFill>
                  <a:srgbClr val="DCC6E0"/>
                </a:solidFill>
                <a:effectLst/>
                <a:latin typeface="Consolas" panose="020B0609020204030204" pitchFamily="49" charset="0"/>
              </a:rPr>
              <a:t>new</a:t>
            </a:r>
            <a:r>
              <a:rPr kumimoji="0" lang="en-US" altLang="en-US" sz="1200" b="0" i="0" u="none" strike="noStrike" cap="none" normalizeH="0" baseline="0">
                <a:ln>
                  <a:noFill/>
                </a:ln>
                <a:solidFill>
                  <a:srgbClr val="F8F8F2"/>
                </a:solidFill>
                <a:effectLst/>
                <a:latin typeface="Consolas" panose="020B0609020204030204" pitchFamily="49" charset="0"/>
              </a:rPr>
              <a:t> InternationalOrder(); </a:t>
            </a:r>
          </a:p>
          <a:p>
            <a:pPr lvl="1" eaLnBrk="0" fontAlgn="base" hangingPunct="0">
              <a:spcBef>
                <a:spcPct val="0"/>
              </a:spcBef>
              <a:spcAft>
                <a:spcPct val="0"/>
              </a:spcAft>
            </a:pPr>
            <a:r>
              <a:rPr kumimoji="0" lang="en-US" altLang="en-US" sz="1200" b="0" i="0" u="none" strike="noStrike" cap="none" normalizeH="0" baseline="0">
                <a:ln>
                  <a:noFill/>
                </a:ln>
                <a:solidFill>
                  <a:srgbClr val="F8F8F2"/>
                </a:solidFill>
                <a:effectLst/>
                <a:latin typeface="Consolas" panose="020B0609020204030204" pitchFamily="49" charset="0"/>
              </a:rPr>
              <a:t>} </a:t>
            </a:r>
          </a:p>
          <a:p>
            <a:pPr lvl="1" eaLnBrk="0" fontAlgn="base" hangingPunct="0">
              <a:spcBef>
                <a:spcPct val="0"/>
              </a:spcBef>
              <a:spcAft>
                <a:spcPct val="0"/>
              </a:spcAft>
            </a:pPr>
            <a:r>
              <a:rPr kumimoji="0" lang="en-US" altLang="en-US" sz="1200" b="0" i="0" u="none" strike="noStrike" cap="none" normalizeH="0" baseline="0">
                <a:ln>
                  <a:noFill/>
                </a:ln>
                <a:solidFill>
                  <a:srgbClr val="DCC6E0"/>
                </a:solidFill>
                <a:effectLst/>
                <a:latin typeface="Consolas" panose="020B0609020204030204" pitchFamily="49" charset="0"/>
              </a:rPr>
              <a:t>public</a:t>
            </a:r>
            <a:r>
              <a:rPr kumimoji="0" lang="en-US" altLang="en-US" sz="1200" b="0" i="0" u="none" strike="noStrike" cap="none" normalizeH="0" baseline="0">
                <a:ln>
                  <a:noFill/>
                </a:ln>
                <a:solidFill>
                  <a:srgbClr val="F8F8F2"/>
                </a:solidFill>
                <a:effectLst/>
                <a:latin typeface="Consolas" panose="020B0609020204030204" pitchFamily="49" charset="0"/>
              </a:rPr>
              <a:t> IPayment </a:t>
            </a:r>
            <a:r>
              <a:rPr kumimoji="0" lang="en-US" altLang="en-US" sz="1200" b="0" i="0" u="none" strike="noStrike" cap="none" normalizeH="0" baseline="0">
                <a:ln>
                  <a:noFill/>
                </a:ln>
                <a:solidFill>
                  <a:srgbClr val="00E0E0"/>
                </a:solidFill>
                <a:effectLst/>
                <a:latin typeface="Consolas" panose="020B0609020204030204" pitchFamily="49" charset="0"/>
              </a:rPr>
              <a:t>CreatePayment</a:t>
            </a:r>
            <a:r>
              <a:rPr kumimoji="0" lang="en-US" altLang="en-US" sz="1200" b="0" i="0" u="none" strike="noStrike" cap="none" normalizeH="0" baseline="0">
                <a:ln>
                  <a:noFill/>
                </a:ln>
                <a:solidFill>
                  <a:srgbClr val="F5AB35"/>
                </a:solidFill>
                <a:effectLst/>
                <a:latin typeface="Consolas" panose="020B0609020204030204" pitchFamily="49" charset="0"/>
              </a:rPr>
              <a:t>()</a:t>
            </a:r>
            <a:r>
              <a:rPr kumimoji="0" lang="en-US" altLang="en-US" sz="12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200" b="0" i="0" u="none" strike="noStrike" cap="none" normalizeH="0" baseline="0">
                <a:ln>
                  <a:noFill/>
                </a:ln>
                <a:solidFill>
                  <a:srgbClr val="DCC6E0"/>
                </a:solidFill>
                <a:effectLst/>
                <a:latin typeface="Consolas" panose="020B0609020204030204" pitchFamily="49" charset="0"/>
              </a:rPr>
              <a:t>	return</a:t>
            </a:r>
            <a:r>
              <a:rPr kumimoji="0" lang="en-US" altLang="en-US" sz="1200" b="0" i="0" u="none" strike="noStrike" cap="none" normalizeH="0" baseline="0">
                <a:ln>
                  <a:noFill/>
                </a:ln>
                <a:solidFill>
                  <a:srgbClr val="F8F8F2"/>
                </a:solidFill>
                <a:effectLst/>
                <a:latin typeface="Consolas" panose="020B0609020204030204" pitchFamily="49" charset="0"/>
              </a:rPr>
              <a:t> </a:t>
            </a:r>
            <a:r>
              <a:rPr kumimoji="0" lang="en-US" altLang="en-US" sz="1200" b="0" i="0" u="none" strike="noStrike" cap="none" normalizeH="0" baseline="0">
                <a:ln>
                  <a:noFill/>
                </a:ln>
                <a:solidFill>
                  <a:srgbClr val="DCC6E0"/>
                </a:solidFill>
                <a:effectLst/>
                <a:latin typeface="Consolas" panose="020B0609020204030204" pitchFamily="49" charset="0"/>
              </a:rPr>
              <a:t>new</a:t>
            </a:r>
            <a:r>
              <a:rPr kumimoji="0" lang="en-US" altLang="en-US" sz="1200" b="0" i="0" u="none" strike="noStrike" cap="none" normalizeH="0" baseline="0">
                <a:ln>
                  <a:noFill/>
                </a:ln>
                <a:solidFill>
                  <a:srgbClr val="F8F8F2"/>
                </a:solidFill>
                <a:effectLst/>
                <a:latin typeface="Consolas" panose="020B0609020204030204" pitchFamily="49" charset="0"/>
              </a:rPr>
              <a:t> InternationalPayment(); </a:t>
            </a:r>
          </a:p>
          <a:p>
            <a:pPr lvl="1" eaLnBrk="0" fontAlgn="base" hangingPunct="0">
              <a:spcBef>
                <a:spcPct val="0"/>
              </a:spcBef>
              <a:spcAft>
                <a:spcPct val="0"/>
              </a:spcAft>
            </a:pPr>
            <a:r>
              <a:rPr kumimoji="0" lang="en-US" altLang="en-US" sz="1200" b="0" i="0" u="none" strike="noStrike" cap="none" normalizeH="0" baseline="0">
                <a:ln>
                  <a:noFill/>
                </a:ln>
                <a:solidFill>
                  <a:srgbClr val="F8F8F2"/>
                </a:solidFill>
                <a:effectLst/>
                <a:latin typeface="Consolas" panose="020B0609020204030204" pitchFamily="49" charset="0"/>
              </a:rPr>
              <a:t>} </a:t>
            </a:r>
          </a:p>
          <a:p>
            <a:pPr lvl="1" eaLnBrk="0" fontAlgn="base" hangingPunct="0">
              <a:spcBef>
                <a:spcPct val="0"/>
              </a:spcBef>
              <a:spcAft>
                <a:spcPct val="0"/>
              </a:spcAft>
            </a:pPr>
            <a:r>
              <a:rPr kumimoji="0" lang="en-US" altLang="en-US" sz="1200" b="0" i="0" u="none" strike="noStrike" cap="none" normalizeH="0" baseline="0">
                <a:ln>
                  <a:noFill/>
                </a:ln>
                <a:solidFill>
                  <a:srgbClr val="DCC6E0"/>
                </a:solidFill>
                <a:effectLst/>
                <a:latin typeface="Consolas" panose="020B0609020204030204" pitchFamily="49" charset="0"/>
              </a:rPr>
              <a:t>public</a:t>
            </a:r>
            <a:r>
              <a:rPr kumimoji="0" lang="en-US" altLang="en-US" sz="1200" b="0" i="0" u="none" strike="noStrike" cap="none" normalizeH="0" baseline="0">
                <a:ln>
                  <a:noFill/>
                </a:ln>
                <a:solidFill>
                  <a:srgbClr val="F8F8F2"/>
                </a:solidFill>
                <a:effectLst/>
                <a:latin typeface="Consolas" panose="020B0609020204030204" pitchFamily="49" charset="0"/>
              </a:rPr>
              <a:t> IShipping </a:t>
            </a:r>
            <a:r>
              <a:rPr kumimoji="0" lang="en-US" altLang="en-US" sz="1200" b="0" i="0" u="none" strike="noStrike" cap="none" normalizeH="0" baseline="0">
                <a:ln>
                  <a:noFill/>
                </a:ln>
                <a:solidFill>
                  <a:srgbClr val="00E0E0"/>
                </a:solidFill>
                <a:effectLst/>
                <a:latin typeface="Consolas" panose="020B0609020204030204" pitchFamily="49" charset="0"/>
              </a:rPr>
              <a:t>CreateShipping</a:t>
            </a:r>
            <a:r>
              <a:rPr kumimoji="0" lang="en-US" altLang="en-US" sz="1200" b="0" i="0" u="none" strike="noStrike" cap="none" normalizeH="0" baseline="0">
                <a:ln>
                  <a:noFill/>
                </a:ln>
                <a:solidFill>
                  <a:srgbClr val="F5AB35"/>
                </a:solidFill>
                <a:effectLst/>
                <a:latin typeface="Consolas" panose="020B0609020204030204" pitchFamily="49" charset="0"/>
              </a:rPr>
              <a:t>()</a:t>
            </a:r>
            <a:r>
              <a:rPr kumimoji="0" lang="en-US" altLang="en-US" sz="12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200" b="0" i="0" u="none" strike="noStrike" cap="none" normalizeH="0" baseline="0">
                <a:ln>
                  <a:noFill/>
                </a:ln>
                <a:solidFill>
                  <a:srgbClr val="DCC6E0"/>
                </a:solidFill>
                <a:effectLst/>
                <a:latin typeface="Consolas" panose="020B0609020204030204" pitchFamily="49" charset="0"/>
              </a:rPr>
              <a:t>	return</a:t>
            </a:r>
            <a:r>
              <a:rPr kumimoji="0" lang="en-US" altLang="en-US" sz="1200" b="0" i="0" u="none" strike="noStrike" cap="none" normalizeH="0" baseline="0">
                <a:ln>
                  <a:noFill/>
                </a:ln>
                <a:solidFill>
                  <a:srgbClr val="F8F8F2"/>
                </a:solidFill>
                <a:effectLst/>
                <a:latin typeface="Consolas" panose="020B0609020204030204" pitchFamily="49" charset="0"/>
              </a:rPr>
              <a:t> </a:t>
            </a:r>
            <a:r>
              <a:rPr kumimoji="0" lang="en-US" altLang="en-US" sz="1200" b="0" i="0" u="none" strike="noStrike" cap="none" normalizeH="0" baseline="0">
                <a:ln>
                  <a:noFill/>
                </a:ln>
                <a:solidFill>
                  <a:srgbClr val="DCC6E0"/>
                </a:solidFill>
                <a:effectLst/>
                <a:latin typeface="Consolas" panose="020B0609020204030204" pitchFamily="49" charset="0"/>
              </a:rPr>
              <a:t>new</a:t>
            </a:r>
            <a:r>
              <a:rPr kumimoji="0" lang="en-US" altLang="en-US" sz="1200" b="0" i="0" u="none" strike="noStrike" cap="none" normalizeH="0" baseline="0">
                <a:ln>
                  <a:noFill/>
                </a:ln>
                <a:solidFill>
                  <a:srgbClr val="F8F8F2"/>
                </a:solidFill>
                <a:effectLst/>
                <a:latin typeface="Consolas" panose="020B0609020204030204" pitchFamily="49" charset="0"/>
              </a:rPr>
              <a:t> InternationalShipping(); </a:t>
            </a:r>
          </a:p>
          <a:p>
            <a:pPr lvl="1" eaLnBrk="0" fontAlgn="base" hangingPunct="0">
              <a:spcBef>
                <a:spcPct val="0"/>
              </a:spcBef>
              <a:spcAft>
                <a:spcPct val="0"/>
              </a:spcAft>
            </a:pPr>
            <a:r>
              <a:rPr kumimoji="0" lang="en-US" altLang="en-US" sz="1200" b="0" i="0" u="none" strike="noStrike" cap="none" normalizeH="0" baseline="0">
                <a:ln>
                  <a:noFill/>
                </a:ln>
                <a:solidFill>
                  <a:srgbClr val="F8F8F2"/>
                </a:solidFill>
                <a:effectLst/>
                <a:latin typeface="Consolas" panose="020B0609020204030204" pitchFamily="49" charset="0"/>
              </a:rPr>
              <a:t>} </a:t>
            </a:r>
          </a:p>
          <a:p>
            <a:pPr eaLnBrk="0" fontAlgn="base" hangingPunct="0">
              <a:spcBef>
                <a:spcPct val="0"/>
              </a:spcBef>
              <a:spcAft>
                <a:spcPct val="0"/>
              </a:spcAft>
            </a:pPr>
            <a:r>
              <a:rPr kumimoji="0" lang="en-US" altLang="en-US" sz="1200" b="0" i="0" u="none" strike="noStrike" cap="none" normalizeH="0" baseline="0">
                <a:ln>
                  <a:noFill/>
                </a:ln>
                <a:solidFill>
                  <a:srgbClr val="F8F8F2"/>
                </a:solidFill>
                <a:effectLst/>
                <a:latin typeface="Consolas" panose="020B0609020204030204" pitchFamily="49" charset="0"/>
              </a:rPr>
              <a:t>}</a:t>
            </a:r>
            <a:r>
              <a:rPr kumimoji="0" lang="en-US" altLang="en-US" sz="1200" b="0" i="0" u="none" strike="noStrike" cap="none" normalizeH="0" baseline="0">
                <a:ln>
                  <a:noFill/>
                </a:ln>
                <a:solidFill>
                  <a:schemeClr val="tx1"/>
                </a:solidFill>
                <a:effectLst/>
              </a:rPr>
              <a:t> </a:t>
            </a:r>
            <a:endParaRPr kumimoji="0" lang="en-US" altLang="en-US" sz="1200" b="0" i="0" u="none" strike="noStrike" cap="none" normalizeH="0" baseline="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099FBDC7-CAFD-4831-9D46-0F6D7CF62499}"/>
              </a:ext>
            </a:extLst>
          </p:cNvPr>
          <p:cNvSpPr>
            <a:spLocks noChangeArrowheads="1"/>
          </p:cNvSpPr>
          <p:nvPr/>
        </p:nvSpPr>
        <p:spPr bwMode="auto">
          <a:xfrm>
            <a:off x="5159990" y="12175"/>
            <a:ext cx="5386090" cy="5078313"/>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DCC6E0"/>
                </a:solidFill>
                <a:effectLst/>
                <a:latin typeface="Consolas" panose="020B0609020204030204" pitchFamily="49" charset="0"/>
              </a:rPr>
              <a:t>public</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DCC6E0"/>
                </a:solidFill>
                <a:effectLst/>
                <a:latin typeface="Consolas" panose="020B0609020204030204" pitchFamily="49" charset="0"/>
              </a:rPr>
              <a:t>class</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00E0E0"/>
                </a:solidFill>
                <a:effectLst/>
                <a:latin typeface="Consolas" panose="020B0609020204030204" pitchFamily="49" charset="0"/>
              </a:rPr>
              <a:t>DomesticOrder</a:t>
            </a:r>
            <a:r>
              <a:rPr kumimoji="0" lang="en-US" altLang="en-US" sz="1100" b="0" i="0" u="none" strike="noStrike" cap="none" normalizeH="0" baseline="0">
                <a:ln>
                  <a:noFill/>
                </a:ln>
                <a:solidFill>
                  <a:srgbClr val="F8F8F2"/>
                </a:solidFill>
                <a:effectLst/>
                <a:latin typeface="Consolas" panose="020B0609020204030204" pitchFamily="49" charset="0"/>
              </a:rPr>
              <a:t> : </a:t>
            </a:r>
            <a:r>
              <a:rPr kumimoji="0" lang="en-US" altLang="en-US" sz="1100" b="0" i="0" u="none" strike="noStrike" cap="none" normalizeH="0" baseline="0">
                <a:ln>
                  <a:noFill/>
                </a:ln>
                <a:solidFill>
                  <a:srgbClr val="00E0E0"/>
                </a:solidFill>
                <a:effectLst/>
                <a:latin typeface="Consolas" panose="020B0609020204030204" pitchFamily="49" charset="0"/>
              </a:rPr>
              <a:t>IOrder</a:t>
            </a:r>
            <a:r>
              <a:rPr kumimoji="0" lang="en-US" altLang="en-US" sz="11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100" b="0" i="0" u="none" strike="noStrike" cap="none" normalizeH="0" baseline="0">
                <a:ln>
                  <a:noFill/>
                </a:ln>
                <a:solidFill>
                  <a:srgbClr val="DCC6E0"/>
                </a:solidFill>
                <a:effectLst/>
                <a:latin typeface="Consolas" panose="020B0609020204030204" pitchFamily="49" charset="0"/>
              </a:rPr>
              <a:t>public</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DCC6E0"/>
                </a:solidFill>
                <a:effectLst/>
                <a:latin typeface="Consolas" panose="020B0609020204030204" pitchFamily="49" charset="0"/>
              </a:rPr>
              <a:t>void</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00E0E0"/>
                </a:solidFill>
                <a:effectLst/>
                <a:latin typeface="Consolas" panose="020B0609020204030204" pitchFamily="49" charset="0"/>
              </a:rPr>
              <a:t>ProcessOrder</a:t>
            </a:r>
            <a:r>
              <a:rPr kumimoji="0" lang="en-US" altLang="en-US" sz="1100" b="0" i="0" u="none" strike="noStrike" cap="none" normalizeH="0" baseline="0">
                <a:ln>
                  <a:noFill/>
                </a:ln>
                <a:solidFill>
                  <a:srgbClr val="F5AB35"/>
                </a:solidFill>
                <a:effectLst/>
                <a:latin typeface="Consolas" panose="020B0609020204030204" pitchFamily="49" charset="0"/>
              </a:rPr>
              <a:t>()</a:t>
            </a:r>
            <a:r>
              <a:rPr kumimoji="0" lang="en-US" altLang="en-US" sz="11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100" b="0" i="0" u="none" strike="noStrike" cap="none" normalizeH="0" baseline="0">
                <a:ln>
                  <a:noFill/>
                </a:ln>
                <a:solidFill>
                  <a:srgbClr val="F8F8F2"/>
                </a:solidFill>
                <a:effectLst/>
                <a:latin typeface="Consolas" panose="020B0609020204030204" pitchFamily="49" charset="0"/>
              </a:rPr>
              <a:t>	Console.WriteLine(</a:t>
            </a:r>
            <a:r>
              <a:rPr kumimoji="0" lang="en-US" altLang="en-US" sz="1100" b="0" i="0" u="none" strike="noStrike" cap="none" normalizeH="0" baseline="0">
                <a:ln>
                  <a:noFill/>
                </a:ln>
                <a:solidFill>
                  <a:srgbClr val="ABE338"/>
                </a:solidFill>
                <a:effectLst/>
                <a:latin typeface="Consolas" panose="020B0609020204030204" pitchFamily="49" charset="0"/>
              </a:rPr>
              <a:t>"Processing domestic order..."</a:t>
            </a:r>
            <a:r>
              <a:rPr kumimoji="0" lang="en-US" altLang="en-US" sz="1100" b="0" i="0" u="none" strike="noStrike" cap="none" normalizeH="0" baseline="0">
                <a:ln>
                  <a:noFill/>
                </a:ln>
                <a:solidFill>
                  <a:srgbClr val="F8F8F2"/>
                </a:solidFill>
                <a:effectLst/>
                <a:latin typeface="Consolas" panose="020B0609020204030204" pitchFamily="49" charset="0"/>
              </a:rPr>
              <a:t>); </a:t>
            </a:r>
          </a:p>
          <a:p>
            <a:pPr lvl="1" eaLnBrk="0" fontAlgn="base" hangingPunct="0">
              <a:spcBef>
                <a:spcPct val="0"/>
              </a:spcBef>
              <a:spcAft>
                <a:spcPct val="0"/>
              </a:spcAft>
            </a:pPr>
            <a:r>
              <a:rPr kumimoji="0" lang="en-US" altLang="en-US" sz="11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DCC6E0"/>
                </a:solidFill>
                <a:effectLst/>
                <a:latin typeface="Consolas" panose="020B0609020204030204" pitchFamily="49" charset="0"/>
              </a:rPr>
              <a:t>public</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DCC6E0"/>
                </a:solidFill>
                <a:effectLst/>
                <a:latin typeface="Consolas" panose="020B0609020204030204" pitchFamily="49" charset="0"/>
              </a:rPr>
              <a:t>class</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00E0E0"/>
                </a:solidFill>
                <a:effectLst/>
                <a:latin typeface="Consolas" panose="020B0609020204030204" pitchFamily="49" charset="0"/>
              </a:rPr>
              <a:t>InternationalOrder</a:t>
            </a:r>
            <a:r>
              <a:rPr kumimoji="0" lang="en-US" altLang="en-US" sz="1100" b="0" i="0" u="none" strike="noStrike" cap="none" normalizeH="0" baseline="0">
                <a:ln>
                  <a:noFill/>
                </a:ln>
                <a:solidFill>
                  <a:srgbClr val="F8F8F2"/>
                </a:solidFill>
                <a:effectLst/>
                <a:latin typeface="Consolas" panose="020B0609020204030204" pitchFamily="49" charset="0"/>
              </a:rPr>
              <a:t> : </a:t>
            </a:r>
            <a:r>
              <a:rPr kumimoji="0" lang="en-US" altLang="en-US" sz="1100" b="0" i="0" u="none" strike="noStrike" cap="none" normalizeH="0" baseline="0">
                <a:ln>
                  <a:noFill/>
                </a:ln>
                <a:solidFill>
                  <a:srgbClr val="00E0E0"/>
                </a:solidFill>
                <a:effectLst/>
                <a:latin typeface="Consolas" panose="020B0609020204030204" pitchFamily="49" charset="0"/>
              </a:rPr>
              <a:t>IOrder</a:t>
            </a:r>
            <a:r>
              <a:rPr kumimoji="0" lang="en-US" altLang="en-US" sz="11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100" b="0" i="0" u="none" strike="noStrike" cap="none" normalizeH="0" baseline="0">
                <a:ln>
                  <a:noFill/>
                </a:ln>
                <a:solidFill>
                  <a:srgbClr val="DCC6E0"/>
                </a:solidFill>
                <a:effectLst/>
                <a:latin typeface="Consolas" panose="020B0609020204030204" pitchFamily="49" charset="0"/>
              </a:rPr>
              <a:t>public</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DCC6E0"/>
                </a:solidFill>
                <a:effectLst/>
                <a:latin typeface="Consolas" panose="020B0609020204030204" pitchFamily="49" charset="0"/>
              </a:rPr>
              <a:t>void</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00E0E0"/>
                </a:solidFill>
                <a:effectLst/>
                <a:latin typeface="Consolas" panose="020B0609020204030204" pitchFamily="49" charset="0"/>
              </a:rPr>
              <a:t>ProcessOrder</a:t>
            </a:r>
            <a:r>
              <a:rPr kumimoji="0" lang="en-US" altLang="en-US" sz="1100" b="0" i="0" u="none" strike="noStrike" cap="none" normalizeH="0" baseline="0">
                <a:ln>
                  <a:noFill/>
                </a:ln>
                <a:solidFill>
                  <a:srgbClr val="F5AB35"/>
                </a:solidFill>
                <a:effectLst/>
                <a:latin typeface="Consolas" panose="020B0609020204030204" pitchFamily="49" charset="0"/>
              </a:rPr>
              <a:t>()</a:t>
            </a:r>
            <a:r>
              <a:rPr kumimoji="0" lang="en-US" altLang="en-US" sz="11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100" b="0" i="0" u="none" strike="noStrike" cap="none" normalizeH="0" baseline="0">
                <a:ln>
                  <a:noFill/>
                </a:ln>
                <a:solidFill>
                  <a:srgbClr val="F8F8F2"/>
                </a:solidFill>
                <a:effectLst/>
                <a:latin typeface="Consolas" panose="020B0609020204030204" pitchFamily="49" charset="0"/>
              </a:rPr>
              <a:t>	Console.WriteLine(</a:t>
            </a:r>
            <a:r>
              <a:rPr kumimoji="0" lang="en-US" altLang="en-US" sz="1100" b="0" i="0" u="none" strike="noStrike" cap="none" normalizeH="0" baseline="0">
                <a:ln>
                  <a:noFill/>
                </a:ln>
                <a:solidFill>
                  <a:srgbClr val="ABE338"/>
                </a:solidFill>
                <a:effectLst/>
                <a:latin typeface="Consolas" panose="020B0609020204030204" pitchFamily="49" charset="0"/>
              </a:rPr>
              <a:t>"Processinginternational order..."</a:t>
            </a:r>
            <a:r>
              <a:rPr kumimoji="0" lang="en-US" altLang="en-US" sz="1100" b="0" i="0" u="none" strike="noStrike" cap="none" normalizeH="0" baseline="0">
                <a:ln>
                  <a:noFill/>
                </a:ln>
                <a:solidFill>
                  <a:srgbClr val="F8F8F2"/>
                </a:solidFill>
                <a:effectLst/>
                <a:latin typeface="Consolas" panose="020B0609020204030204" pitchFamily="49" charset="0"/>
              </a:rPr>
              <a:t>); </a:t>
            </a:r>
          </a:p>
          <a:p>
            <a:pPr lvl="1" eaLnBrk="0" fontAlgn="base" hangingPunct="0">
              <a:spcBef>
                <a:spcPct val="0"/>
              </a:spcBef>
              <a:spcAft>
                <a:spcPct val="0"/>
              </a:spcAft>
            </a:pPr>
            <a:r>
              <a:rPr kumimoji="0" lang="en-US" altLang="en-US" sz="11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DCC6E0"/>
                </a:solidFill>
                <a:effectLst/>
                <a:latin typeface="Consolas" panose="020B0609020204030204" pitchFamily="49" charset="0"/>
              </a:rPr>
              <a:t>public</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DCC6E0"/>
                </a:solidFill>
                <a:effectLst/>
                <a:latin typeface="Consolas" panose="020B0609020204030204" pitchFamily="49" charset="0"/>
              </a:rPr>
              <a:t>class</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00E0E0"/>
                </a:solidFill>
                <a:effectLst/>
                <a:latin typeface="Consolas" panose="020B0609020204030204" pitchFamily="49" charset="0"/>
              </a:rPr>
              <a:t>DomesticPayment</a:t>
            </a:r>
            <a:r>
              <a:rPr kumimoji="0" lang="en-US" altLang="en-US" sz="1100" b="0" i="0" u="none" strike="noStrike" cap="none" normalizeH="0" baseline="0">
                <a:ln>
                  <a:noFill/>
                </a:ln>
                <a:solidFill>
                  <a:srgbClr val="F8F8F2"/>
                </a:solidFill>
                <a:effectLst/>
                <a:latin typeface="Consolas" panose="020B0609020204030204" pitchFamily="49" charset="0"/>
              </a:rPr>
              <a:t> : </a:t>
            </a:r>
            <a:r>
              <a:rPr kumimoji="0" lang="en-US" altLang="en-US" sz="1100" b="0" i="0" u="none" strike="noStrike" cap="none" normalizeH="0" baseline="0">
                <a:ln>
                  <a:noFill/>
                </a:ln>
                <a:solidFill>
                  <a:srgbClr val="00E0E0"/>
                </a:solidFill>
                <a:effectLst/>
                <a:latin typeface="Consolas" panose="020B0609020204030204" pitchFamily="49" charset="0"/>
              </a:rPr>
              <a:t>IPayment</a:t>
            </a:r>
            <a:r>
              <a:rPr kumimoji="0" lang="en-US" altLang="en-US" sz="11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100" b="0" i="0" u="none" strike="noStrike" cap="none" normalizeH="0" baseline="0">
                <a:ln>
                  <a:noFill/>
                </a:ln>
                <a:solidFill>
                  <a:srgbClr val="DCC6E0"/>
                </a:solidFill>
                <a:effectLst/>
                <a:latin typeface="Consolas" panose="020B0609020204030204" pitchFamily="49" charset="0"/>
              </a:rPr>
              <a:t>public</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DCC6E0"/>
                </a:solidFill>
                <a:effectLst/>
                <a:latin typeface="Consolas" panose="020B0609020204030204" pitchFamily="49" charset="0"/>
              </a:rPr>
              <a:t>void</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00E0E0"/>
                </a:solidFill>
                <a:effectLst/>
                <a:latin typeface="Consolas" panose="020B0609020204030204" pitchFamily="49" charset="0"/>
              </a:rPr>
              <a:t>ProcessPayment</a:t>
            </a:r>
            <a:r>
              <a:rPr kumimoji="0" lang="en-US" altLang="en-US" sz="1100" b="0" i="0" u="none" strike="noStrike" cap="none" normalizeH="0" baseline="0">
                <a:ln>
                  <a:noFill/>
                </a:ln>
                <a:solidFill>
                  <a:srgbClr val="F5AB35"/>
                </a:solidFill>
                <a:effectLst/>
                <a:latin typeface="Consolas" panose="020B0609020204030204" pitchFamily="49" charset="0"/>
              </a:rPr>
              <a:t>()</a:t>
            </a:r>
            <a:r>
              <a:rPr kumimoji="0" lang="en-US" altLang="en-US" sz="11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100" b="0" i="0" u="none" strike="noStrike" cap="none" normalizeH="0" baseline="0">
                <a:ln>
                  <a:noFill/>
                </a:ln>
                <a:solidFill>
                  <a:srgbClr val="F8F8F2"/>
                </a:solidFill>
                <a:effectLst/>
                <a:latin typeface="Consolas" panose="020B0609020204030204" pitchFamily="49" charset="0"/>
              </a:rPr>
              <a:t>	Console.WriteLine(</a:t>
            </a:r>
            <a:r>
              <a:rPr kumimoji="0" lang="en-US" altLang="en-US" sz="1100" b="0" i="0" u="none" strike="noStrike" cap="none" normalizeH="0" baseline="0">
                <a:ln>
                  <a:noFill/>
                </a:ln>
                <a:solidFill>
                  <a:srgbClr val="ABE338"/>
                </a:solidFill>
                <a:effectLst/>
                <a:latin typeface="Consolas" panose="020B0609020204030204" pitchFamily="49" charset="0"/>
              </a:rPr>
              <a:t>"Processing domestic payment..."</a:t>
            </a:r>
            <a:r>
              <a:rPr kumimoji="0" lang="en-US" altLang="en-US" sz="1100" b="0" i="0" u="none" strike="noStrike" cap="none" normalizeH="0" baseline="0">
                <a:ln>
                  <a:noFill/>
                </a:ln>
                <a:solidFill>
                  <a:srgbClr val="F8F8F2"/>
                </a:solidFill>
                <a:effectLst/>
                <a:latin typeface="Consolas" panose="020B0609020204030204" pitchFamily="49" charset="0"/>
              </a:rPr>
              <a:t>); </a:t>
            </a:r>
          </a:p>
          <a:p>
            <a:pPr lvl="1" eaLnBrk="0" fontAlgn="base" hangingPunct="0">
              <a:spcBef>
                <a:spcPct val="0"/>
              </a:spcBef>
              <a:spcAft>
                <a:spcPct val="0"/>
              </a:spcAft>
            </a:pPr>
            <a:r>
              <a:rPr kumimoji="0" lang="en-US" altLang="en-US" sz="11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DCC6E0"/>
                </a:solidFill>
                <a:effectLst/>
                <a:latin typeface="Consolas" panose="020B0609020204030204" pitchFamily="49" charset="0"/>
              </a:rPr>
              <a:t>public</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DCC6E0"/>
                </a:solidFill>
                <a:effectLst/>
                <a:latin typeface="Consolas" panose="020B0609020204030204" pitchFamily="49" charset="0"/>
              </a:rPr>
              <a:t>class</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00E0E0"/>
                </a:solidFill>
                <a:effectLst/>
                <a:latin typeface="Consolas" panose="020B0609020204030204" pitchFamily="49" charset="0"/>
              </a:rPr>
              <a:t>InternationalPayment</a:t>
            </a:r>
            <a:r>
              <a:rPr kumimoji="0" lang="en-US" altLang="en-US" sz="1100" b="0" i="0" u="none" strike="noStrike" cap="none" normalizeH="0" baseline="0">
                <a:ln>
                  <a:noFill/>
                </a:ln>
                <a:solidFill>
                  <a:srgbClr val="F8F8F2"/>
                </a:solidFill>
                <a:effectLst/>
                <a:latin typeface="Consolas" panose="020B0609020204030204" pitchFamily="49" charset="0"/>
              </a:rPr>
              <a:t> : </a:t>
            </a:r>
            <a:r>
              <a:rPr kumimoji="0" lang="en-US" altLang="en-US" sz="1100" b="0" i="0" u="none" strike="noStrike" cap="none" normalizeH="0" baseline="0">
                <a:ln>
                  <a:noFill/>
                </a:ln>
                <a:solidFill>
                  <a:srgbClr val="00E0E0"/>
                </a:solidFill>
                <a:effectLst/>
                <a:latin typeface="Consolas" panose="020B0609020204030204" pitchFamily="49" charset="0"/>
              </a:rPr>
              <a:t>IPayment</a:t>
            </a:r>
            <a:r>
              <a:rPr kumimoji="0" lang="en-US" altLang="en-US" sz="11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100" b="0" i="0" u="none" strike="noStrike" cap="none" normalizeH="0" baseline="0">
                <a:ln>
                  <a:noFill/>
                </a:ln>
                <a:solidFill>
                  <a:srgbClr val="DCC6E0"/>
                </a:solidFill>
                <a:effectLst/>
                <a:latin typeface="Consolas" panose="020B0609020204030204" pitchFamily="49" charset="0"/>
              </a:rPr>
              <a:t>public</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DCC6E0"/>
                </a:solidFill>
                <a:effectLst/>
                <a:latin typeface="Consolas" panose="020B0609020204030204" pitchFamily="49" charset="0"/>
              </a:rPr>
              <a:t>void</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00E0E0"/>
                </a:solidFill>
                <a:effectLst/>
                <a:latin typeface="Consolas" panose="020B0609020204030204" pitchFamily="49" charset="0"/>
              </a:rPr>
              <a:t>ProcessPayment</a:t>
            </a:r>
            <a:r>
              <a:rPr kumimoji="0" lang="en-US" altLang="en-US" sz="1100" b="0" i="0" u="none" strike="noStrike" cap="none" normalizeH="0" baseline="0">
                <a:ln>
                  <a:noFill/>
                </a:ln>
                <a:solidFill>
                  <a:srgbClr val="F5AB35"/>
                </a:solidFill>
                <a:effectLst/>
                <a:latin typeface="Consolas" panose="020B0609020204030204" pitchFamily="49" charset="0"/>
              </a:rPr>
              <a:t>()</a:t>
            </a:r>
            <a:r>
              <a:rPr kumimoji="0" lang="en-US" altLang="en-US" sz="11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100" b="0" i="0" u="none" strike="noStrike" cap="none" normalizeH="0" baseline="0">
                <a:ln>
                  <a:noFill/>
                </a:ln>
                <a:solidFill>
                  <a:srgbClr val="F8F8F2"/>
                </a:solidFill>
                <a:effectLst/>
                <a:latin typeface="Consolas" panose="020B0609020204030204" pitchFamily="49" charset="0"/>
              </a:rPr>
              <a:t>	Console.WriteLine(</a:t>
            </a:r>
            <a:r>
              <a:rPr kumimoji="0" lang="en-US" altLang="en-US" sz="1100" b="0" i="0" u="none" strike="noStrike" cap="none" normalizeH="0" baseline="0">
                <a:ln>
                  <a:noFill/>
                </a:ln>
                <a:solidFill>
                  <a:srgbClr val="ABE338"/>
                </a:solidFill>
                <a:effectLst/>
                <a:latin typeface="Consolas" panose="020B0609020204030204" pitchFamily="49" charset="0"/>
              </a:rPr>
              <a:t>"Processing international payment..."</a:t>
            </a:r>
            <a:r>
              <a:rPr kumimoji="0" lang="en-US" altLang="en-US" sz="1100" b="0" i="0" u="none" strike="noStrike" cap="none" normalizeH="0" baseline="0">
                <a:ln>
                  <a:noFill/>
                </a:ln>
                <a:solidFill>
                  <a:srgbClr val="F8F8F2"/>
                </a:solidFill>
                <a:effectLst/>
                <a:latin typeface="Consolas" panose="020B0609020204030204" pitchFamily="49" charset="0"/>
              </a:rPr>
              <a:t>); </a:t>
            </a:r>
          </a:p>
          <a:p>
            <a:pPr lvl="1" eaLnBrk="0" fontAlgn="base" hangingPunct="0">
              <a:spcBef>
                <a:spcPct val="0"/>
              </a:spcBef>
              <a:spcAft>
                <a:spcPct val="0"/>
              </a:spcAft>
            </a:pPr>
            <a:r>
              <a:rPr kumimoji="0" lang="en-US" altLang="en-US" sz="11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DCC6E0"/>
                </a:solidFill>
                <a:effectLst/>
                <a:latin typeface="Consolas" panose="020B0609020204030204" pitchFamily="49" charset="0"/>
              </a:rPr>
              <a:t>public</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DCC6E0"/>
                </a:solidFill>
                <a:effectLst/>
                <a:latin typeface="Consolas" panose="020B0609020204030204" pitchFamily="49" charset="0"/>
              </a:rPr>
              <a:t>class</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00E0E0"/>
                </a:solidFill>
                <a:effectLst/>
                <a:latin typeface="Consolas" panose="020B0609020204030204" pitchFamily="49" charset="0"/>
              </a:rPr>
              <a:t>DomesticShipping</a:t>
            </a:r>
            <a:r>
              <a:rPr kumimoji="0" lang="en-US" altLang="en-US" sz="1100" b="0" i="0" u="none" strike="noStrike" cap="none" normalizeH="0" baseline="0">
                <a:ln>
                  <a:noFill/>
                </a:ln>
                <a:solidFill>
                  <a:srgbClr val="F8F8F2"/>
                </a:solidFill>
                <a:effectLst/>
                <a:latin typeface="Consolas" panose="020B0609020204030204" pitchFamily="49" charset="0"/>
              </a:rPr>
              <a:t> : </a:t>
            </a:r>
            <a:r>
              <a:rPr kumimoji="0" lang="en-US" altLang="en-US" sz="1100" b="0" i="0" u="none" strike="noStrike" cap="none" normalizeH="0" baseline="0">
                <a:ln>
                  <a:noFill/>
                </a:ln>
                <a:solidFill>
                  <a:srgbClr val="00E0E0"/>
                </a:solidFill>
                <a:effectLst/>
                <a:latin typeface="Consolas" panose="020B0609020204030204" pitchFamily="49" charset="0"/>
              </a:rPr>
              <a:t>IShipping</a:t>
            </a:r>
            <a:r>
              <a:rPr kumimoji="0" lang="en-US" altLang="en-US" sz="11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100" b="0" i="0" u="none" strike="noStrike" cap="none" normalizeH="0" baseline="0">
                <a:ln>
                  <a:noFill/>
                </a:ln>
                <a:solidFill>
                  <a:srgbClr val="DCC6E0"/>
                </a:solidFill>
                <a:effectLst/>
                <a:latin typeface="Consolas" panose="020B0609020204030204" pitchFamily="49" charset="0"/>
              </a:rPr>
              <a:t>public</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DCC6E0"/>
                </a:solidFill>
                <a:effectLst/>
                <a:latin typeface="Consolas" panose="020B0609020204030204" pitchFamily="49" charset="0"/>
              </a:rPr>
              <a:t>void</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00E0E0"/>
                </a:solidFill>
                <a:effectLst/>
                <a:latin typeface="Consolas" panose="020B0609020204030204" pitchFamily="49" charset="0"/>
              </a:rPr>
              <a:t>ShipOrder</a:t>
            </a:r>
            <a:r>
              <a:rPr kumimoji="0" lang="en-US" altLang="en-US" sz="1100" b="0" i="0" u="none" strike="noStrike" cap="none" normalizeH="0" baseline="0">
                <a:ln>
                  <a:noFill/>
                </a:ln>
                <a:solidFill>
                  <a:srgbClr val="F5AB35"/>
                </a:solidFill>
                <a:effectLst/>
                <a:latin typeface="Consolas" panose="020B0609020204030204" pitchFamily="49" charset="0"/>
              </a:rPr>
              <a:t>()</a:t>
            </a:r>
            <a:r>
              <a:rPr kumimoji="0" lang="en-US" altLang="en-US" sz="11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100" b="0" i="0" u="none" strike="noStrike" cap="none" normalizeH="0" baseline="0">
                <a:ln>
                  <a:noFill/>
                </a:ln>
                <a:solidFill>
                  <a:srgbClr val="F8F8F2"/>
                </a:solidFill>
                <a:effectLst/>
                <a:latin typeface="Consolas" panose="020B0609020204030204" pitchFamily="49" charset="0"/>
              </a:rPr>
              <a:t>	Console.WriteLine(</a:t>
            </a:r>
            <a:r>
              <a:rPr kumimoji="0" lang="en-US" altLang="en-US" sz="1100" b="0" i="0" u="none" strike="noStrike" cap="none" normalizeH="0" baseline="0">
                <a:ln>
                  <a:noFill/>
                </a:ln>
                <a:solidFill>
                  <a:srgbClr val="ABE338"/>
                </a:solidFill>
                <a:effectLst/>
                <a:latin typeface="Consolas" panose="020B0609020204030204" pitchFamily="49" charset="0"/>
              </a:rPr>
              <a:t>"Shipping domestic order..."</a:t>
            </a:r>
            <a:r>
              <a:rPr kumimoji="0" lang="en-US" altLang="en-US" sz="1100" b="0" i="0" u="none" strike="noStrike" cap="none" normalizeH="0" baseline="0">
                <a:ln>
                  <a:noFill/>
                </a:ln>
                <a:solidFill>
                  <a:srgbClr val="F8F8F2"/>
                </a:solidFill>
                <a:effectLst/>
                <a:latin typeface="Consolas" panose="020B0609020204030204" pitchFamily="49" charset="0"/>
              </a:rPr>
              <a:t>); </a:t>
            </a:r>
          </a:p>
          <a:p>
            <a:pPr lvl="1" eaLnBrk="0" fontAlgn="base" hangingPunct="0">
              <a:spcBef>
                <a:spcPct val="0"/>
              </a:spcBef>
              <a:spcAft>
                <a:spcPct val="0"/>
              </a:spcAft>
            </a:pPr>
            <a:r>
              <a:rPr kumimoji="0" lang="en-US" altLang="en-US" sz="11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DCC6E0"/>
                </a:solidFill>
                <a:effectLst/>
                <a:latin typeface="Consolas" panose="020B0609020204030204" pitchFamily="49" charset="0"/>
              </a:rPr>
              <a:t>public</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DCC6E0"/>
                </a:solidFill>
                <a:effectLst/>
                <a:latin typeface="Consolas" panose="020B0609020204030204" pitchFamily="49" charset="0"/>
              </a:rPr>
              <a:t>class</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00E0E0"/>
                </a:solidFill>
                <a:effectLst/>
                <a:latin typeface="Consolas" panose="020B0609020204030204" pitchFamily="49" charset="0"/>
              </a:rPr>
              <a:t>InternationalShipping</a:t>
            </a:r>
            <a:r>
              <a:rPr kumimoji="0" lang="en-US" altLang="en-US" sz="1100" b="0" i="0" u="none" strike="noStrike" cap="none" normalizeH="0" baseline="0">
                <a:ln>
                  <a:noFill/>
                </a:ln>
                <a:solidFill>
                  <a:srgbClr val="F8F8F2"/>
                </a:solidFill>
                <a:effectLst/>
                <a:latin typeface="Consolas" panose="020B0609020204030204" pitchFamily="49" charset="0"/>
              </a:rPr>
              <a:t> : </a:t>
            </a:r>
            <a:r>
              <a:rPr kumimoji="0" lang="en-US" altLang="en-US" sz="1100" b="0" i="0" u="none" strike="noStrike" cap="none" normalizeH="0" baseline="0">
                <a:ln>
                  <a:noFill/>
                </a:ln>
                <a:solidFill>
                  <a:srgbClr val="00E0E0"/>
                </a:solidFill>
                <a:effectLst/>
                <a:latin typeface="Consolas" panose="020B0609020204030204" pitchFamily="49" charset="0"/>
              </a:rPr>
              <a:t>IShipping</a:t>
            </a:r>
            <a:r>
              <a:rPr kumimoji="0" lang="en-US" altLang="en-US" sz="11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100" b="0" i="0" u="none" strike="noStrike" cap="none" normalizeH="0" baseline="0">
                <a:ln>
                  <a:noFill/>
                </a:ln>
                <a:solidFill>
                  <a:srgbClr val="DCC6E0"/>
                </a:solidFill>
                <a:effectLst/>
                <a:latin typeface="Consolas" panose="020B0609020204030204" pitchFamily="49" charset="0"/>
              </a:rPr>
              <a:t>public</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DCC6E0"/>
                </a:solidFill>
                <a:effectLst/>
                <a:latin typeface="Consolas" panose="020B0609020204030204" pitchFamily="49" charset="0"/>
              </a:rPr>
              <a:t>void</a:t>
            </a:r>
            <a:r>
              <a:rPr kumimoji="0" lang="en-US" altLang="en-US" sz="1100" b="0" i="0" u="none" strike="noStrike" cap="none" normalizeH="0" baseline="0">
                <a:ln>
                  <a:noFill/>
                </a:ln>
                <a:solidFill>
                  <a:srgbClr val="F8F8F2"/>
                </a:solidFill>
                <a:effectLst/>
                <a:latin typeface="Consolas" panose="020B0609020204030204" pitchFamily="49" charset="0"/>
              </a:rPr>
              <a:t> </a:t>
            </a:r>
            <a:r>
              <a:rPr kumimoji="0" lang="en-US" altLang="en-US" sz="1100" b="0" i="0" u="none" strike="noStrike" cap="none" normalizeH="0" baseline="0">
                <a:ln>
                  <a:noFill/>
                </a:ln>
                <a:solidFill>
                  <a:srgbClr val="00E0E0"/>
                </a:solidFill>
                <a:effectLst/>
                <a:latin typeface="Consolas" panose="020B0609020204030204" pitchFamily="49" charset="0"/>
              </a:rPr>
              <a:t>ShipOrder</a:t>
            </a:r>
            <a:r>
              <a:rPr kumimoji="0" lang="en-US" altLang="en-US" sz="1100" b="0" i="0" u="none" strike="noStrike" cap="none" normalizeH="0" baseline="0">
                <a:ln>
                  <a:noFill/>
                </a:ln>
                <a:solidFill>
                  <a:srgbClr val="F5AB35"/>
                </a:solidFill>
                <a:effectLst/>
                <a:latin typeface="Consolas" panose="020B0609020204030204" pitchFamily="49" charset="0"/>
              </a:rPr>
              <a:t>()</a:t>
            </a:r>
            <a:r>
              <a:rPr kumimoji="0" lang="en-US" altLang="en-US" sz="1100" b="0" i="0" u="none" strike="noStrike" cap="none" normalizeH="0" baseline="0">
                <a:ln>
                  <a:noFill/>
                </a:ln>
                <a:solidFill>
                  <a:srgbClr val="F8F8F2"/>
                </a:solidFill>
                <a:effectLst/>
                <a:latin typeface="Consolas" panose="020B0609020204030204" pitchFamily="49" charset="0"/>
              </a:rPr>
              <a:t> { </a:t>
            </a:r>
          </a:p>
          <a:p>
            <a:pPr lvl="1" eaLnBrk="0" fontAlgn="base" hangingPunct="0">
              <a:spcBef>
                <a:spcPct val="0"/>
              </a:spcBef>
              <a:spcAft>
                <a:spcPct val="0"/>
              </a:spcAft>
            </a:pPr>
            <a:r>
              <a:rPr kumimoji="0" lang="en-US" altLang="en-US" sz="1100" b="0" i="0" u="none" strike="noStrike" cap="none" normalizeH="0" baseline="0">
                <a:ln>
                  <a:noFill/>
                </a:ln>
                <a:solidFill>
                  <a:srgbClr val="F8F8F2"/>
                </a:solidFill>
                <a:effectLst/>
                <a:latin typeface="Consolas" panose="020B0609020204030204" pitchFamily="49" charset="0"/>
              </a:rPr>
              <a:t>	Console.WriteLine(</a:t>
            </a:r>
            <a:r>
              <a:rPr kumimoji="0" lang="en-US" altLang="en-US" sz="1100" b="0" i="0" u="none" strike="noStrike" cap="none" normalizeH="0" baseline="0">
                <a:ln>
                  <a:noFill/>
                </a:ln>
                <a:solidFill>
                  <a:srgbClr val="ABE338"/>
                </a:solidFill>
                <a:effectLst/>
                <a:latin typeface="Consolas" panose="020B0609020204030204" pitchFamily="49" charset="0"/>
              </a:rPr>
              <a:t>"Shipping international order..."</a:t>
            </a:r>
            <a:r>
              <a:rPr kumimoji="0" lang="en-US" altLang="en-US" sz="1100" b="0" i="0" u="none" strike="noStrike" cap="none" normalizeH="0" baseline="0">
                <a:ln>
                  <a:noFill/>
                </a:ln>
                <a:solidFill>
                  <a:srgbClr val="F8F8F2"/>
                </a:solidFill>
                <a:effectLst/>
                <a:latin typeface="Consolas" panose="020B0609020204030204" pitchFamily="49" charset="0"/>
              </a:rPr>
              <a:t>); </a:t>
            </a:r>
          </a:p>
          <a:p>
            <a:pPr lvl="1" eaLnBrk="0" fontAlgn="base" hangingPunct="0">
              <a:spcBef>
                <a:spcPct val="0"/>
              </a:spcBef>
              <a:spcAft>
                <a:spcPct val="0"/>
              </a:spcAft>
            </a:pPr>
            <a:r>
              <a:rPr kumimoji="0" lang="en-US" altLang="en-US" sz="11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F8F8F2"/>
                </a:solidFill>
                <a:effectLst/>
                <a:latin typeface="Consolas" panose="020B0609020204030204" pitchFamily="49" charset="0"/>
              </a:rPr>
              <a:t>}</a:t>
            </a:r>
            <a:r>
              <a:rPr kumimoji="0" lang="en-US" altLang="en-US" sz="1000" b="0" i="0" u="none" strike="noStrike" cap="none" normalizeH="0" baseline="0">
                <a:ln>
                  <a:noFill/>
                </a:ln>
                <a:solidFill>
                  <a:schemeClr val="tx1"/>
                </a:solidFill>
                <a:effectLst/>
              </a:rPr>
              <a:t> </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
        <p:nvSpPr>
          <p:cNvPr id="9" name="Rectangle 4">
            <a:extLst>
              <a:ext uri="{FF2B5EF4-FFF2-40B4-BE49-F238E27FC236}">
                <a16:creationId xmlns:a16="http://schemas.microsoft.com/office/drawing/2014/main" id="{E7CA2ECE-98A3-4E49-9EDB-20C3335E4D52}"/>
              </a:ext>
            </a:extLst>
          </p:cNvPr>
          <p:cNvSpPr>
            <a:spLocks noChangeArrowheads="1"/>
          </p:cNvSpPr>
          <p:nvPr/>
        </p:nvSpPr>
        <p:spPr bwMode="auto">
          <a:xfrm>
            <a:off x="5159990" y="5134451"/>
            <a:ext cx="5834931" cy="172354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F8F8F2"/>
                </a:solidFill>
                <a:effectLst/>
                <a:latin typeface="Consolas" panose="020B0609020204030204" pitchFamily="49" charset="0"/>
              </a:rPr>
              <a:t>IOrderFactory factory = new DomesticOrderFactory()</a:t>
            </a:r>
            <a:r>
              <a:rPr kumimoji="0" lang="en-US" altLang="en-US" sz="1600" b="0" i="0" u="none" strike="noStrike" cap="none" normalizeH="0" baseline="0">
                <a:ln>
                  <a:noFill/>
                </a:ln>
                <a:solidFill>
                  <a:srgbClr val="D4D0AB"/>
                </a:solidFill>
                <a:effectLst/>
                <a:latin typeface="Consolas" panose="020B0609020204030204" pitchFamily="49" charset="0"/>
              </a:rPr>
              <a:t>;</a:t>
            </a:r>
            <a:r>
              <a:rPr kumimoji="0" lang="en-US" altLang="en-US" sz="16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F8F8F2"/>
                </a:solidFill>
                <a:effectLst/>
                <a:latin typeface="Consolas" panose="020B0609020204030204" pitchFamily="49" charset="0"/>
              </a:rPr>
              <a:t>IOrder order = factory.CreateOrder()</a:t>
            </a:r>
            <a:r>
              <a:rPr kumimoji="0" lang="en-US" altLang="en-US" sz="1600" b="0" i="0" u="none" strike="noStrike" cap="none" normalizeH="0" baseline="0">
                <a:ln>
                  <a:noFill/>
                </a:ln>
                <a:solidFill>
                  <a:srgbClr val="D4D0AB"/>
                </a:solidFill>
                <a:effectLst/>
                <a:latin typeface="Consolas" panose="020B0609020204030204" pitchFamily="49" charset="0"/>
              </a:rPr>
              <a:t>;</a:t>
            </a:r>
            <a:r>
              <a:rPr kumimoji="0" lang="en-US" altLang="en-US" sz="16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F8F8F2"/>
                </a:solidFill>
                <a:effectLst/>
                <a:latin typeface="Consolas" panose="020B0609020204030204" pitchFamily="49" charset="0"/>
              </a:rPr>
              <a:t>IPayment payment = factory.CreatePayment()</a:t>
            </a:r>
            <a:r>
              <a:rPr kumimoji="0" lang="en-US" altLang="en-US" sz="1600" b="0" i="0" u="none" strike="noStrike" cap="none" normalizeH="0" baseline="0">
                <a:ln>
                  <a:noFill/>
                </a:ln>
                <a:solidFill>
                  <a:srgbClr val="D4D0AB"/>
                </a:solidFill>
                <a:effectLst/>
                <a:latin typeface="Consolas" panose="020B0609020204030204" pitchFamily="49" charset="0"/>
              </a:rPr>
              <a:t>;</a:t>
            </a:r>
            <a:r>
              <a:rPr kumimoji="0" lang="en-US" altLang="en-US" sz="16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F8F8F2"/>
                </a:solidFill>
                <a:effectLst/>
                <a:latin typeface="Consolas" panose="020B0609020204030204" pitchFamily="49" charset="0"/>
              </a:rPr>
              <a:t>IShipping shipping = factory.CreateShipping()</a:t>
            </a:r>
            <a:r>
              <a:rPr kumimoji="0" lang="en-US" altLang="en-US" sz="1600" b="0" i="0" u="none" strike="noStrike" cap="none" normalizeH="0" baseline="0">
                <a:ln>
                  <a:noFill/>
                </a:ln>
                <a:solidFill>
                  <a:srgbClr val="D4D0AB"/>
                </a:solidFill>
                <a:effectLst/>
                <a:latin typeface="Consolas" panose="020B0609020204030204" pitchFamily="49" charset="0"/>
              </a:rPr>
              <a:t>;</a:t>
            </a:r>
            <a:r>
              <a:rPr kumimoji="0" lang="en-US" altLang="en-US" sz="16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F8F8F2"/>
                </a:solidFill>
                <a:effectLst/>
                <a:latin typeface="Consolas" panose="020B0609020204030204" pitchFamily="49" charset="0"/>
              </a:rPr>
              <a:t>order.ProcessOrder()</a:t>
            </a:r>
            <a:r>
              <a:rPr kumimoji="0" lang="en-US" altLang="en-US" sz="1600" b="0" i="0" u="none" strike="noStrike" cap="none" normalizeH="0" baseline="0">
                <a:ln>
                  <a:noFill/>
                </a:ln>
                <a:solidFill>
                  <a:srgbClr val="D4D0AB"/>
                </a:solidFill>
                <a:effectLst/>
                <a:latin typeface="Consolas" panose="020B0609020204030204" pitchFamily="49" charset="0"/>
              </a:rPr>
              <a:t>;</a:t>
            </a:r>
            <a:r>
              <a:rPr kumimoji="0" lang="en-US" altLang="en-US" sz="16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F8F8F2"/>
                </a:solidFill>
                <a:effectLst/>
                <a:latin typeface="Consolas" panose="020B0609020204030204" pitchFamily="49" charset="0"/>
              </a:rPr>
              <a:t>payment.ProcessPayment()</a:t>
            </a:r>
            <a:r>
              <a:rPr kumimoji="0" lang="en-US" altLang="en-US" sz="1600" b="0" i="0" u="none" strike="noStrike" cap="none" normalizeH="0" baseline="0">
                <a:ln>
                  <a:noFill/>
                </a:ln>
                <a:solidFill>
                  <a:srgbClr val="D4D0AB"/>
                </a:solidFill>
                <a:effectLst/>
                <a:latin typeface="Consolas" panose="020B0609020204030204" pitchFamily="49" charset="0"/>
              </a:rPr>
              <a:t>;</a:t>
            </a:r>
            <a:r>
              <a:rPr kumimoji="0" lang="en-US" altLang="en-US" sz="1600" b="0" i="0" u="none" strike="noStrike" cap="none" normalizeH="0" baseline="0">
                <a:ln>
                  <a:noFill/>
                </a:ln>
                <a:solidFill>
                  <a:srgbClr val="F8F8F2"/>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F8F8F2"/>
                </a:solidFill>
                <a:effectLst/>
                <a:latin typeface="Consolas" panose="020B0609020204030204" pitchFamily="49" charset="0"/>
              </a:rPr>
              <a:t>shipping.ShipOrder()</a:t>
            </a:r>
            <a:r>
              <a:rPr kumimoji="0" lang="en-US" altLang="en-US" sz="1600" b="0" i="0" u="none" strike="noStrike" cap="none" normalizeH="0" baseline="0">
                <a:ln>
                  <a:noFill/>
                </a:ln>
                <a:solidFill>
                  <a:srgbClr val="D4D0AB"/>
                </a:solidFill>
                <a:effectLst/>
                <a:latin typeface="Consolas" panose="020B0609020204030204" pitchFamily="49" charset="0"/>
              </a:rPr>
              <a:t>;</a:t>
            </a:r>
            <a:r>
              <a:rPr kumimoji="0" lang="en-US" altLang="en-US" sz="1200" b="0" i="0" u="none" strike="noStrike" cap="none" normalizeH="0" baseline="0">
                <a:ln>
                  <a:noFill/>
                </a:ln>
                <a:solidFill>
                  <a:schemeClr val="tx1"/>
                </a:solidFill>
                <a:effectLst/>
              </a:rPr>
              <a:t> </a:t>
            </a:r>
            <a:endParaRPr kumimoji="0" lang="en-US" altLang="en-US" sz="3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744290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1458"/>
            <a:ext cx="9202270"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solidFill>
                  <a:schemeClr val="accent2"/>
                </a:solidFill>
                <a:latin typeface="Arial" panose="020B0604020202020204" pitchFamily="34" charset="0"/>
                <a:cs typeface="Arial" panose="020B0604020202020204" pitchFamily="34" charset="0"/>
              </a:rPr>
              <a:t>Builder Pattern</a:t>
            </a:r>
            <a:endParaRPr lang="en-US" sz="4400" dirty="0">
              <a:solidFill>
                <a:schemeClr val="accent2"/>
              </a:solidFill>
            </a:endParaRPr>
          </a:p>
        </p:txBody>
      </p:sp>
    </p:spTree>
    <p:extLst>
      <p:ext uri="{BB962C8B-B14F-4D97-AF65-F5344CB8AC3E}">
        <p14:creationId xmlns:p14="http://schemas.microsoft.com/office/powerpoint/2010/main" val="14993028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27</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a:t>Builder Pattern</a:t>
            </a:r>
            <a:endParaRPr lang="en-US" sz="4000" b="1" dirty="0"/>
          </a:p>
        </p:txBody>
      </p:sp>
      <p:sp>
        <p:nvSpPr>
          <p:cNvPr id="13" name="TextBox 12">
            <a:extLst>
              <a:ext uri="{FF2B5EF4-FFF2-40B4-BE49-F238E27FC236}">
                <a16:creationId xmlns:a16="http://schemas.microsoft.com/office/drawing/2014/main" id="{794B0636-141A-48F4-9618-4F89090694F3}"/>
              </a:ext>
            </a:extLst>
          </p:cNvPr>
          <p:cNvSpPr txBox="1"/>
          <p:nvPr/>
        </p:nvSpPr>
        <p:spPr>
          <a:xfrm>
            <a:off x="-31530" y="1489753"/>
            <a:ext cx="12140764" cy="4732321"/>
          </a:xfrm>
          <a:prstGeom prst="rect">
            <a:avLst/>
          </a:prstGeom>
          <a:noFill/>
        </p:spPr>
        <p:txBody>
          <a:bodyPr wrap="square">
            <a:spAutoFit/>
          </a:bodyPr>
          <a:lstStyle/>
          <a:p>
            <a:pPr marL="342900" indent="-342900" algn="just">
              <a:lnSpc>
                <a:spcPct val="150000"/>
              </a:lnSpc>
              <a:spcBef>
                <a:spcPts val="1000"/>
              </a:spcBef>
              <a:spcAft>
                <a:spcPts val="1000"/>
              </a:spcAft>
              <a:buClr>
                <a:srgbClr val="973735"/>
              </a:buClr>
              <a:buSzPct val="50000"/>
              <a:buFont typeface="Wingdings" pitchFamily="2" charset="2"/>
              <a:buChar char="u"/>
              <a:tabLst>
                <a:tab pos="241300" algn="l"/>
              </a:tabLst>
              <a:defRPr/>
            </a:pPr>
            <a:r>
              <a:rPr lang="en-US" sz="2600">
                <a:solidFill>
                  <a:srgbClr val="111111"/>
                </a:solidFill>
                <a:latin typeface="+mj-lt"/>
              </a:rPr>
              <a:t>Builder pattern aims to “Separate the construction of a complex object from its representation so that the same construction process can create different representations.” </a:t>
            </a:r>
          </a:p>
          <a:p>
            <a:pPr marL="342900" indent="-342900" algn="just">
              <a:lnSpc>
                <a:spcPct val="150000"/>
              </a:lnSpc>
              <a:spcBef>
                <a:spcPts val="1000"/>
              </a:spcBef>
              <a:spcAft>
                <a:spcPts val="1000"/>
              </a:spcAft>
              <a:buClr>
                <a:srgbClr val="973735"/>
              </a:buClr>
              <a:buSzPct val="50000"/>
              <a:buFont typeface="Wingdings" pitchFamily="2" charset="2"/>
              <a:buChar char="u"/>
              <a:tabLst>
                <a:tab pos="241300" algn="l"/>
              </a:tabLst>
              <a:defRPr/>
            </a:pPr>
            <a:r>
              <a:rPr lang="en-US" sz="2600">
                <a:solidFill>
                  <a:srgbClr val="111111"/>
                </a:solidFill>
                <a:latin typeface="+mj-lt"/>
              </a:rPr>
              <a:t>It is used to construct a complex object step by step and the final step will return the object</a:t>
            </a:r>
          </a:p>
          <a:p>
            <a:pPr marL="342900" indent="-342900" algn="just">
              <a:lnSpc>
                <a:spcPct val="150000"/>
              </a:lnSpc>
              <a:spcBef>
                <a:spcPts val="1000"/>
              </a:spcBef>
              <a:spcAft>
                <a:spcPts val="1000"/>
              </a:spcAft>
              <a:buClr>
                <a:srgbClr val="973735"/>
              </a:buClr>
              <a:buSzPct val="50000"/>
              <a:buFont typeface="Wingdings" pitchFamily="2" charset="2"/>
              <a:buChar char="u"/>
              <a:tabLst>
                <a:tab pos="241300" algn="l"/>
              </a:tabLst>
              <a:defRPr/>
            </a:pPr>
            <a:r>
              <a:rPr lang="en-US" sz="2600">
                <a:solidFill>
                  <a:srgbClr val="111111"/>
                </a:solidFill>
                <a:latin typeface="+mj-lt"/>
              </a:rPr>
              <a:t> The process of constructing an object should be generic so that it can be used to create different representations of the same object</a:t>
            </a:r>
          </a:p>
        </p:txBody>
      </p:sp>
    </p:spTree>
    <p:extLst>
      <p:ext uri="{BB962C8B-B14F-4D97-AF65-F5344CB8AC3E}">
        <p14:creationId xmlns:p14="http://schemas.microsoft.com/office/powerpoint/2010/main" val="23460282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28</a:t>
            </a:fld>
            <a:endParaRPr lang="en-US" dirty="0"/>
          </a:p>
        </p:txBody>
      </p:sp>
      <p:sp>
        <p:nvSpPr>
          <p:cNvPr id="13" name="TextBox 12">
            <a:extLst>
              <a:ext uri="{FF2B5EF4-FFF2-40B4-BE49-F238E27FC236}">
                <a16:creationId xmlns:a16="http://schemas.microsoft.com/office/drawing/2014/main" id="{794B0636-141A-48F4-9618-4F89090694F3}"/>
              </a:ext>
            </a:extLst>
          </p:cNvPr>
          <p:cNvSpPr txBox="1"/>
          <p:nvPr/>
        </p:nvSpPr>
        <p:spPr>
          <a:xfrm>
            <a:off x="-52550" y="1631689"/>
            <a:ext cx="12140764" cy="4708981"/>
          </a:xfrm>
          <a:prstGeom prst="rect">
            <a:avLst/>
          </a:prstGeom>
          <a:noFill/>
        </p:spPr>
        <p:txBody>
          <a:bodyPr wrap="square">
            <a:spAutoFit/>
          </a:bodyPr>
          <a:lstStyle/>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b="1">
                <a:solidFill>
                  <a:srgbClr val="111111"/>
                </a:solidFill>
                <a:latin typeface="+mj-lt"/>
              </a:rPr>
              <a:t>Product</a:t>
            </a:r>
            <a:r>
              <a:rPr lang="en-US" sz="2600">
                <a:solidFill>
                  <a:srgbClr val="111111"/>
                </a:solidFill>
                <a:latin typeface="+mj-lt"/>
              </a:rPr>
              <a:t> – The product class defines the type of the complex object that is to be generated by the builder pattern.</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b="1">
                <a:solidFill>
                  <a:srgbClr val="111111"/>
                </a:solidFill>
                <a:latin typeface="+mj-lt"/>
              </a:rPr>
              <a:t>Builder</a:t>
            </a:r>
            <a:r>
              <a:rPr lang="en-US" sz="2600">
                <a:solidFill>
                  <a:srgbClr val="111111"/>
                </a:solidFill>
                <a:latin typeface="+mj-lt"/>
              </a:rPr>
              <a:t> – This abstract base class defines all of the steps that must be taken in order to correctly create a product. Each step is generally abstract as the actual functionality of the builder is carried out in the concrete subclasses. The GetProduct method is used to return the final product. The builder class is often replaced with a simple interface</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b="1">
                <a:solidFill>
                  <a:srgbClr val="111111"/>
                </a:solidFill>
                <a:latin typeface="+mj-lt"/>
              </a:rPr>
              <a:t>ConcreteBuilder</a:t>
            </a:r>
            <a:r>
              <a:rPr lang="en-US" sz="2600">
                <a:solidFill>
                  <a:srgbClr val="111111"/>
                </a:solidFill>
                <a:latin typeface="+mj-lt"/>
              </a:rPr>
              <a:t> – There may be any number of concrete builder classes inheriting from Builder. These classes contain the functionality to create a particular complex product</a:t>
            </a:r>
          </a:p>
        </p:txBody>
      </p:sp>
      <p:sp>
        <p:nvSpPr>
          <p:cNvPr id="11" name="Title 1">
            <a:extLst>
              <a:ext uri="{FF2B5EF4-FFF2-40B4-BE49-F238E27FC236}">
                <a16:creationId xmlns:a16="http://schemas.microsoft.com/office/drawing/2014/main" id="{8B04DED7-7A66-49AD-AA44-B7D8A40DCD31}"/>
              </a:ext>
            </a:extLst>
          </p:cNvPr>
          <p:cNvSpPr>
            <a:spLocks noGrp="1"/>
          </p:cNvSpPr>
          <p:nvPr>
            <p:ph type="title"/>
          </p:nvPr>
        </p:nvSpPr>
        <p:spPr>
          <a:xfrm>
            <a:off x="275156" y="720006"/>
            <a:ext cx="11154104" cy="575433"/>
          </a:xfrm>
        </p:spPr>
        <p:txBody>
          <a:bodyPr>
            <a:noAutofit/>
          </a:bodyPr>
          <a:lstStyle/>
          <a:p>
            <a:r>
              <a:rPr lang="en-US" sz="4000" b="1"/>
              <a:t>Builder Design Pattern Participants</a:t>
            </a:r>
          </a:p>
        </p:txBody>
      </p:sp>
    </p:spTree>
    <p:extLst>
      <p:ext uri="{BB962C8B-B14F-4D97-AF65-F5344CB8AC3E}">
        <p14:creationId xmlns:p14="http://schemas.microsoft.com/office/powerpoint/2010/main" val="39358251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29</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a:t>Builder Pattern</a:t>
            </a:r>
            <a:endParaRPr lang="en-US" sz="4000" b="1" dirty="0"/>
          </a:p>
        </p:txBody>
      </p:sp>
      <p:sp>
        <p:nvSpPr>
          <p:cNvPr id="13" name="TextBox 12">
            <a:extLst>
              <a:ext uri="{FF2B5EF4-FFF2-40B4-BE49-F238E27FC236}">
                <a16:creationId xmlns:a16="http://schemas.microsoft.com/office/drawing/2014/main" id="{794B0636-141A-48F4-9618-4F89090694F3}"/>
              </a:ext>
            </a:extLst>
          </p:cNvPr>
          <p:cNvSpPr txBox="1"/>
          <p:nvPr/>
        </p:nvSpPr>
        <p:spPr>
          <a:xfrm>
            <a:off x="-52550" y="1484718"/>
            <a:ext cx="12140764" cy="4219360"/>
          </a:xfrm>
          <a:prstGeom prst="rect">
            <a:avLst/>
          </a:prstGeom>
          <a:noFill/>
        </p:spPr>
        <p:txBody>
          <a:bodyPr wrap="square">
            <a:spAutoFit/>
          </a:bodyPr>
          <a:lstStyle/>
          <a:p>
            <a:pPr marL="342900" indent="-342900" algn="just">
              <a:lnSpc>
                <a:spcPct val="150000"/>
              </a:lnSpc>
              <a:buClr>
                <a:srgbClr val="973735"/>
              </a:buClr>
              <a:buSzPct val="50000"/>
              <a:buFont typeface="Wingdings" pitchFamily="2" charset="2"/>
              <a:buChar char="u"/>
              <a:tabLst>
                <a:tab pos="241300" algn="l"/>
              </a:tabLst>
              <a:defRPr/>
            </a:pPr>
            <a:r>
              <a:rPr lang="en-US" sz="2600" b="1">
                <a:solidFill>
                  <a:srgbClr val="111111"/>
                </a:solidFill>
                <a:latin typeface="+mj-lt"/>
              </a:rPr>
              <a:t>Director</a:t>
            </a:r>
            <a:r>
              <a:rPr lang="en-US" sz="2600">
                <a:solidFill>
                  <a:srgbClr val="111111"/>
                </a:solidFill>
                <a:latin typeface="+mj-lt"/>
              </a:rPr>
              <a:t> – The director class controls the algorithm that generates the final product object. A director object is instantiated and its Construct method is called. The method includes a parameter to capture the specific concrete builder object that is to be used to generate the product. The director then calls methods of the concrete builder in the correct order to generate the product object. On completion of the process, the GetProduct method of the builder object can be used to return the product</a:t>
            </a:r>
          </a:p>
        </p:txBody>
      </p:sp>
    </p:spTree>
    <p:extLst>
      <p:ext uri="{BB962C8B-B14F-4D97-AF65-F5344CB8AC3E}">
        <p14:creationId xmlns:p14="http://schemas.microsoft.com/office/powerpoint/2010/main" val="28656679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30</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a:t>Builder Pattern</a:t>
            </a:r>
            <a:endParaRPr lang="en-US" sz="4000" b="1" dirty="0"/>
          </a:p>
        </p:txBody>
      </p:sp>
      <p:pic>
        <p:nvPicPr>
          <p:cNvPr id="7170" name="Picture 2" descr="Lightbox">
            <a:extLst>
              <a:ext uri="{FF2B5EF4-FFF2-40B4-BE49-F238E27FC236}">
                <a16:creationId xmlns:a16="http://schemas.microsoft.com/office/drawing/2014/main" id="{1AA9EED6-C7E2-4E80-9BB0-45B8AF372D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9679" y="1412057"/>
            <a:ext cx="9611383" cy="49705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09421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31</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a:t>Advantages and Disadvantages </a:t>
            </a:r>
            <a:endParaRPr lang="en-US" sz="4000" b="1" dirty="0"/>
          </a:p>
        </p:txBody>
      </p:sp>
      <p:sp>
        <p:nvSpPr>
          <p:cNvPr id="13" name="TextBox 12">
            <a:extLst>
              <a:ext uri="{FF2B5EF4-FFF2-40B4-BE49-F238E27FC236}">
                <a16:creationId xmlns:a16="http://schemas.microsoft.com/office/drawing/2014/main" id="{794B0636-141A-48F4-9618-4F89090694F3}"/>
              </a:ext>
            </a:extLst>
          </p:cNvPr>
          <p:cNvSpPr txBox="1"/>
          <p:nvPr/>
        </p:nvSpPr>
        <p:spPr>
          <a:xfrm>
            <a:off x="31528" y="1926041"/>
            <a:ext cx="12140764" cy="2677656"/>
          </a:xfrm>
          <a:prstGeom prst="rect">
            <a:avLst/>
          </a:prstGeom>
          <a:noFill/>
        </p:spPr>
        <p:txBody>
          <a:bodyPr wrap="square">
            <a:spAutoFit/>
          </a:bodyPr>
          <a:lstStyle/>
          <a:p>
            <a:pPr marL="514350" indent="-230188">
              <a:spcBef>
                <a:spcPts val="600"/>
              </a:spcBef>
              <a:spcAft>
                <a:spcPts val="600"/>
              </a:spcAft>
              <a:buClr>
                <a:srgbClr val="973735"/>
              </a:buClr>
              <a:buSzPct val="70000"/>
              <a:buFont typeface="Wingdings" panose="05000000000000000000" pitchFamily="2" charset="2"/>
              <a:buChar char="§"/>
              <a:tabLst>
                <a:tab pos="241300" algn="l"/>
              </a:tabLst>
              <a:defRPr/>
            </a:pPr>
            <a:r>
              <a:rPr lang="en-US" sz="2300"/>
              <a:t>The parameters to the constructor are reduced and are provided in highly readable method calls</a:t>
            </a:r>
          </a:p>
          <a:p>
            <a:pPr marL="514350" indent="-230188">
              <a:spcBef>
                <a:spcPts val="600"/>
              </a:spcBef>
              <a:spcAft>
                <a:spcPts val="600"/>
              </a:spcAft>
              <a:buClr>
                <a:srgbClr val="973735"/>
              </a:buClr>
              <a:buSzPct val="70000"/>
              <a:buFont typeface="Wingdings" panose="05000000000000000000" pitchFamily="2" charset="2"/>
              <a:buChar char="§"/>
              <a:tabLst>
                <a:tab pos="241300" algn="l"/>
              </a:tabLst>
              <a:defRPr/>
            </a:pPr>
            <a:r>
              <a:rPr lang="en-US" sz="2300"/>
              <a:t>Builder design pattern also helps in minimizing the number of parameters in constructor and thus there is no need to pass in null for optional parameters to the constructor</a:t>
            </a:r>
          </a:p>
          <a:p>
            <a:pPr marL="514350" indent="-230188">
              <a:spcBef>
                <a:spcPts val="600"/>
              </a:spcBef>
              <a:spcAft>
                <a:spcPts val="600"/>
              </a:spcAft>
              <a:buClr>
                <a:srgbClr val="973735"/>
              </a:buClr>
              <a:buSzPct val="70000"/>
              <a:buFont typeface="Wingdings" panose="05000000000000000000" pitchFamily="2" charset="2"/>
              <a:buChar char="§"/>
              <a:tabLst>
                <a:tab pos="241300" algn="l"/>
              </a:tabLst>
              <a:defRPr/>
            </a:pPr>
            <a:r>
              <a:rPr lang="en-US" sz="2300"/>
              <a:t>Object is always instantiated in a complete state</a:t>
            </a:r>
          </a:p>
          <a:p>
            <a:pPr marL="514350" indent="-230188">
              <a:spcBef>
                <a:spcPts val="600"/>
              </a:spcBef>
              <a:spcAft>
                <a:spcPts val="600"/>
              </a:spcAft>
              <a:buClr>
                <a:srgbClr val="973735"/>
              </a:buClr>
              <a:buSzPct val="70000"/>
              <a:buFont typeface="Wingdings" panose="05000000000000000000" pitchFamily="2" charset="2"/>
              <a:buChar char="§"/>
              <a:tabLst>
                <a:tab pos="241300" algn="l"/>
              </a:tabLst>
              <a:defRPr/>
            </a:pPr>
            <a:r>
              <a:rPr lang="en-US" sz="2300"/>
              <a:t>Immutable objects can be build without much complex logic in object building process</a:t>
            </a:r>
          </a:p>
        </p:txBody>
      </p:sp>
      <p:sp>
        <p:nvSpPr>
          <p:cNvPr id="6" name="TextBox 5">
            <a:extLst>
              <a:ext uri="{FF2B5EF4-FFF2-40B4-BE49-F238E27FC236}">
                <a16:creationId xmlns:a16="http://schemas.microsoft.com/office/drawing/2014/main" id="{10CD7C00-7134-4CFC-B543-E93DE76AC9C9}"/>
              </a:ext>
            </a:extLst>
          </p:cNvPr>
          <p:cNvSpPr txBox="1"/>
          <p:nvPr/>
        </p:nvSpPr>
        <p:spPr>
          <a:xfrm>
            <a:off x="0" y="5179935"/>
            <a:ext cx="12140764" cy="1308050"/>
          </a:xfrm>
          <a:prstGeom prst="rect">
            <a:avLst/>
          </a:prstGeom>
          <a:noFill/>
        </p:spPr>
        <p:txBody>
          <a:bodyPr wrap="square">
            <a:spAutoFit/>
          </a:bodyPr>
          <a:lstStyle/>
          <a:p>
            <a:pPr marL="514350" indent="-230188">
              <a:spcBef>
                <a:spcPts val="600"/>
              </a:spcBef>
              <a:spcAft>
                <a:spcPts val="600"/>
              </a:spcAft>
              <a:buClr>
                <a:srgbClr val="973735"/>
              </a:buClr>
              <a:buSzPct val="70000"/>
              <a:buFont typeface="Wingdings" panose="05000000000000000000" pitchFamily="2" charset="2"/>
              <a:buChar char="§"/>
              <a:tabLst>
                <a:tab pos="241300" algn="l"/>
              </a:tabLst>
              <a:defRPr/>
            </a:pPr>
            <a:r>
              <a:rPr lang="en-US" sz="2300"/>
              <a:t>The number of lines of code increase at least to double in builder pattern, but the effort pays off in terms of design flexibility and much more readable code</a:t>
            </a:r>
          </a:p>
          <a:p>
            <a:pPr marL="514350" indent="-230188">
              <a:spcBef>
                <a:spcPts val="600"/>
              </a:spcBef>
              <a:spcAft>
                <a:spcPts val="600"/>
              </a:spcAft>
              <a:buClr>
                <a:srgbClr val="973735"/>
              </a:buClr>
              <a:buSzPct val="70000"/>
              <a:buFont typeface="Wingdings" panose="05000000000000000000" pitchFamily="2" charset="2"/>
              <a:buChar char="§"/>
              <a:tabLst>
                <a:tab pos="241300" algn="l"/>
              </a:tabLst>
              <a:defRPr/>
            </a:pPr>
            <a:r>
              <a:rPr lang="en-US" sz="2300"/>
              <a:t>Requires creating a separate ConcreteBuilder for each different type of Product</a:t>
            </a:r>
          </a:p>
        </p:txBody>
      </p:sp>
      <p:sp>
        <p:nvSpPr>
          <p:cNvPr id="8" name="TextBox 7">
            <a:extLst>
              <a:ext uri="{FF2B5EF4-FFF2-40B4-BE49-F238E27FC236}">
                <a16:creationId xmlns:a16="http://schemas.microsoft.com/office/drawing/2014/main" id="{EE8754DD-7191-4B6C-8E06-A7C43C445BE5}"/>
              </a:ext>
            </a:extLst>
          </p:cNvPr>
          <p:cNvSpPr txBox="1"/>
          <p:nvPr/>
        </p:nvSpPr>
        <p:spPr>
          <a:xfrm>
            <a:off x="0" y="4635918"/>
            <a:ext cx="3478924" cy="492443"/>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Disadvantages</a:t>
            </a:r>
          </a:p>
        </p:txBody>
      </p:sp>
      <p:sp>
        <p:nvSpPr>
          <p:cNvPr id="10" name="TextBox 9">
            <a:extLst>
              <a:ext uri="{FF2B5EF4-FFF2-40B4-BE49-F238E27FC236}">
                <a16:creationId xmlns:a16="http://schemas.microsoft.com/office/drawing/2014/main" id="{ECC28349-94DC-480B-A77A-B3B5895E0B84}"/>
              </a:ext>
            </a:extLst>
          </p:cNvPr>
          <p:cNvSpPr txBox="1"/>
          <p:nvPr/>
        </p:nvSpPr>
        <p:spPr>
          <a:xfrm>
            <a:off x="-84082" y="1431388"/>
            <a:ext cx="3478924" cy="492443"/>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Advantages</a:t>
            </a:r>
          </a:p>
        </p:txBody>
      </p:sp>
    </p:spTree>
    <p:extLst>
      <p:ext uri="{BB962C8B-B14F-4D97-AF65-F5344CB8AC3E}">
        <p14:creationId xmlns:p14="http://schemas.microsoft.com/office/powerpoint/2010/main" val="29882305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1458"/>
            <a:ext cx="9202270"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solidFill>
                  <a:schemeClr val="accent2"/>
                </a:solidFill>
                <a:latin typeface="Arial" panose="020B0604020202020204" pitchFamily="34" charset="0"/>
                <a:cs typeface="Arial" panose="020B0604020202020204" pitchFamily="34" charset="0"/>
              </a:rPr>
              <a:t>Prototype Pattern</a:t>
            </a:r>
            <a:endParaRPr lang="en-US" sz="4400" dirty="0">
              <a:solidFill>
                <a:schemeClr val="accent2"/>
              </a:solidFill>
            </a:endParaRPr>
          </a:p>
        </p:txBody>
      </p:sp>
    </p:spTree>
    <p:extLst>
      <p:ext uri="{BB962C8B-B14F-4D97-AF65-F5344CB8AC3E}">
        <p14:creationId xmlns:p14="http://schemas.microsoft.com/office/powerpoint/2010/main" val="22052071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33</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a:t>Prototype Pattern</a:t>
            </a:r>
            <a:endParaRPr lang="en-US" sz="4000" b="1" dirty="0"/>
          </a:p>
        </p:txBody>
      </p:sp>
      <p:sp>
        <p:nvSpPr>
          <p:cNvPr id="13" name="TextBox 12">
            <a:extLst>
              <a:ext uri="{FF2B5EF4-FFF2-40B4-BE49-F238E27FC236}">
                <a16:creationId xmlns:a16="http://schemas.microsoft.com/office/drawing/2014/main" id="{794B0636-141A-48F4-9618-4F89090694F3}"/>
              </a:ext>
            </a:extLst>
          </p:cNvPr>
          <p:cNvSpPr txBox="1"/>
          <p:nvPr/>
        </p:nvSpPr>
        <p:spPr>
          <a:xfrm>
            <a:off x="-52552" y="1362891"/>
            <a:ext cx="12140764" cy="5050357"/>
          </a:xfrm>
          <a:prstGeom prst="rect">
            <a:avLst/>
          </a:prstGeom>
          <a:noFill/>
        </p:spPr>
        <p:txBody>
          <a:bodyPr wrap="square">
            <a:spAutoFit/>
          </a:bodyPr>
          <a:lstStyle/>
          <a:p>
            <a:pPr marL="342900" indent="-342900" algn="just">
              <a:lnSpc>
                <a:spcPct val="150000"/>
              </a:lnSpc>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The prototype allows us to hide the complexity of making new instances from the client</a:t>
            </a:r>
          </a:p>
          <a:p>
            <a:pPr marL="342900" indent="-342900" algn="just">
              <a:lnSpc>
                <a:spcPct val="150000"/>
              </a:lnSpc>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The concept is to copy an existing object rather than creating a new instance from scratch, something that may include costly operations</a:t>
            </a:r>
          </a:p>
          <a:p>
            <a:pPr marL="342900" indent="-342900" algn="just">
              <a:lnSpc>
                <a:spcPct val="150000"/>
              </a:lnSpc>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The existing object acts as a prototype and contains the state of the object</a:t>
            </a:r>
          </a:p>
          <a:p>
            <a:pPr marL="342900" indent="-342900" algn="just">
              <a:lnSpc>
                <a:spcPct val="150000"/>
              </a:lnSpc>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The newly copied object may change the same properties only if required. This approach saves costly resources and time, especially when object creation is a heavy process</a:t>
            </a:r>
          </a:p>
        </p:txBody>
      </p:sp>
    </p:spTree>
    <p:extLst>
      <p:ext uri="{BB962C8B-B14F-4D97-AF65-F5344CB8AC3E}">
        <p14:creationId xmlns:p14="http://schemas.microsoft.com/office/powerpoint/2010/main" val="2191748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34</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a:t>Prototype Pattern</a:t>
            </a:r>
            <a:endParaRPr lang="en-US" sz="4000" b="1" dirty="0"/>
          </a:p>
        </p:txBody>
      </p:sp>
      <p:sp>
        <p:nvSpPr>
          <p:cNvPr id="13" name="TextBox 12">
            <a:extLst>
              <a:ext uri="{FF2B5EF4-FFF2-40B4-BE49-F238E27FC236}">
                <a16:creationId xmlns:a16="http://schemas.microsoft.com/office/drawing/2014/main" id="{794B0636-141A-48F4-9618-4F89090694F3}"/>
              </a:ext>
            </a:extLst>
          </p:cNvPr>
          <p:cNvSpPr txBox="1"/>
          <p:nvPr/>
        </p:nvSpPr>
        <p:spPr>
          <a:xfrm>
            <a:off x="-21020" y="1521438"/>
            <a:ext cx="12140764" cy="4234749"/>
          </a:xfrm>
          <a:prstGeom prst="rect">
            <a:avLst/>
          </a:prstGeom>
          <a:noFill/>
        </p:spPr>
        <p:txBody>
          <a:bodyPr wrap="square">
            <a:spAutoFit/>
          </a:bodyPr>
          <a:lstStyle/>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Prototype patterns are required, when object creation is a time-consuming, and costly operation, so we create an object with the existing object itself</a:t>
            </a:r>
          </a:p>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One of the best available ways to create an object from existing objects is the </a:t>
            </a:r>
            <a:r>
              <a:rPr lang="en-US" sz="2600" b="1">
                <a:solidFill>
                  <a:srgbClr val="111111"/>
                </a:solidFill>
                <a:latin typeface="+mj-lt"/>
              </a:rPr>
              <a:t>clone() </a:t>
            </a:r>
            <a:r>
              <a:rPr lang="en-US" sz="2600">
                <a:solidFill>
                  <a:srgbClr val="111111"/>
                </a:solidFill>
                <a:latin typeface="+mj-lt"/>
              </a:rPr>
              <a:t>method</a:t>
            </a:r>
          </a:p>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Clone is the simplest approach to implement a prototype pattern. However, it is our call to decide how to copy existing object based on your business model</a:t>
            </a:r>
          </a:p>
        </p:txBody>
      </p:sp>
    </p:spTree>
    <p:extLst>
      <p:ext uri="{BB962C8B-B14F-4D97-AF65-F5344CB8AC3E}">
        <p14:creationId xmlns:p14="http://schemas.microsoft.com/office/powerpoint/2010/main" val="12040763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35</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a:t>Prototype Design Pattern Participants</a:t>
            </a:r>
          </a:p>
        </p:txBody>
      </p:sp>
      <p:pic>
        <p:nvPicPr>
          <p:cNvPr id="6" name="Picture 5">
            <a:extLst>
              <a:ext uri="{FF2B5EF4-FFF2-40B4-BE49-F238E27FC236}">
                <a16:creationId xmlns:a16="http://schemas.microsoft.com/office/drawing/2014/main" id="{3C0CF6A1-6685-47B5-9EAE-3F8B5555957E}"/>
              </a:ext>
            </a:extLst>
          </p:cNvPr>
          <p:cNvPicPr>
            <a:picLocks noChangeAspect="1"/>
          </p:cNvPicPr>
          <p:nvPr/>
        </p:nvPicPr>
        <p:blipFill>
          <a:blip r:embed="rId3"/>
          <a:stretch>
            <a:fillRect/>
          </a:stretch>
        </p:blipFill>
        <p:spPr>
          <a:xfrm>
            <a:off x="2424807" y="3627031"/>
            <a:ext cx="7216266" cy="2785884"/>
          </a:xfrm>
          <a:prstGeom prst="rect">
            <a:avLst/>
          </a:prstGeom>
        </p:spPr>
      </p:pic>
      <p:sp>
        <p:nvSpPr>
          <p:cNvPr id="8" name="TextBox 7">
            <a:extLst>
              <a:ext uri="{FF2B5EF4-FFF2-40B4-BE49-F238E27FC236}">
                <a16:creationId xmlns:a16="http://schemas.microsoft.com/office/drawing/2014/main" id="{4BE0623E-09E2-4AD8-B3FF-954844FBCFEC}"/>
              </a:ext>
            </a:extLst>
          </p:cNvPr>
          <p:cNvSpPr txBox="1"/>
          <p:nvPr/>
        </p:nvSpPr>
        <p:spPr>
          <a:xfrm>
            <a:off x="-84080" y="1420758"/>
            <a:ext cx="12192000" cy="2285241"/>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b="1">
                <a:solidFill>
                  <a:srgbClr val="111111"/>
                </a:solidFill>
                <a:latin typeface="+mj-lt"/>
              </a:rPr>
              <a:t>Prototype</a:t>
            </a:r>
            <a:r>
              <a:rPr lang="en-US" sz="2600">
                <a:solidFill>
                  <a:srgbClr val="111111"/>
                </a:solidFill>
                <a:latin typeface="+mj-lt"/>
              </a:rPr>
              <a:t>: This is the prototype of the actual object</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b="1">
                <a:solidFill>
                  <a:srgbClr val="111111"/>
                </a:solidFill>
                <a:latin typeface="+mj-lt"/>
              </a:rPr>
              <a:t>Prototype registry</a:t>
            </a:r>
            <a:r>
              <a:rPr lang="en-US" sz="2600">
                <a:solidFill>
                  <a:srgbClr val="111111"/>
                </a:solidFill>
                <a:latin typeface="+mj-lt"/>
              </a:rPr>
              <a:t>: This is used as a registry service to have all prototypes accessible using simple string parameters</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b="1">
                <a:solidFill>
                  <a:srgbClr val="111111"/>
                </a:solidFill>
                <a:latin typeface="+mj-lt"/>
              </a:rPr>
              <a:t>Client</a:t>
            </a:r>
            <a:r>
              <a:rPr lang="en-US" sz="2600">
                <a:solidFill>
                  <a:srgbClr val="111111"/>
                </a:solidFill>
                <a:latin typeface="+mj-lt"/>
              </a:rPr>
              <a:t>: The client will be responsible for using the registry service to access prototype instances</a:t>
            </a:r>
          </a:p>
        </p:txBody>
      </p:sp>
    </p:spTree>
    <p:extLst>
      <p:ext uri="{BB962C8B-B14F-4D97-AF65-F5344CB8AC3E}">
        <p14:creationId xmlns:p14="http://schemas.microsoft.com/office/powerpoint/2010/main" val="6051507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36</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a:t>Implement Prototype Pattern</a:t>
            </a:r>
            <a:endParaRPr lang="en-US" sz="4000" b="1" dirty="0"/>
          </a:p>
        </p:txBody>
      </p:sp>
      <p:pic>
        <p:nvPicPr>
          <p:cNvPr id="5" name="Picture 4">
            <a:extLst>
              <a:ext uri="{FF2B5EF4-FFF2-40B4-BE49-F238E27FC236}">
                <a16:creationId xmlns:a16="http://schemas.microsoft.com/office/drawing/2014/main" id="{381040AF-8D34-4EC4-BC9E-3978C7C4B33F}"/>
              </a:ext>
            </a:extLst>
          </p:cNvPr>
          <p:cNvPicPr>
            <a:picLocks noChangeAspect="1"/>
          </p:cNvPicPr>
          <p:nvPr/>
        </p:nvPicPr>
        <p:blipFill>
          <a:blip r:embed="rId3"/>
          <a:stretch>
            <a:fillRect/>
          </a:stretch>
        </p:blipFill>
        <p:spPr>
          <a:xfrm>
            <a:off x="275156" y="1422157"/>
            <a:ext cx="6854014" cy="4921314"/>
          </a:xfrm>
          <a:prstGeom prst="rect">
            <a:avLst/>
          </a:prstGeom>
        </p:spPr>
      </p:pic>
    </p:spTree>
    <p:extLst>
      <p:ext uri="{BB962C8B-B14F-4D97-AF65-F5344CB8AC3E}">
        <p14:creationId xmlns:p14="http://schemas.microsoft.com/office/powerpoint/2010/main" val="9773058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37</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593882"/>
            <a:ext cx="11154104" cy="575433"/>
          </a:xfrm>
        </p:spPr>
        <p:txBody>
          <a:bodyPr>
            <a:noAutofit/>
          </a:bodyPr>
          <a:lstStyle/>
          <a:p>
            <a:r>
              <a:rPr lang="en-US" sz="4000" b="1"/>
              <a:t>Implement Prototype Pattern</a:t>
            </a:r>
            <a:endParaRPr lang="en-US" sz="4000" b="1" dirty="0"/>
          </a:p>
        </p:txBody>
      </p:sp>
      <p:pic>
        <p:nvPicPr>
          <p:cNvPr id="6" name="Picture 5">
            <a:extLst>
              <a:ext uri="{FF2B5EF4-FFF2-40B4-BE49-F238E27FC236}">
                <a16:creationId xmlns:a16="http://schemas.microsoft.com/office/drawing/2014/main" id="{1F321072-DABB-43B7-996E-549B053233A5}"/>
              </a:ext>
            </a:extLst>
          </p:cNvPr>
          <p:cNvPicPr>
            <a:picLocks noChangeAspect="1"/>
          </p:cNvPicPr>
          <p:nvPr/>
        </p:nvPicPr>
        <p:blipFill>
          <a:blip r:embed="rId3"/>
          <a:stretch>
            <a:fillRect/>
          </a:stretch>
        </p:blipFill>
        <p:spPr>
          <a:xfrm>
            <a:off x="275156" y="1148295"/>
            <a:ext cx="11116990" cy="5300874"/>
          </a:xfrm>
          <a:prstGeom prst="rect">
            <a:avLst/>
          </a:prstGeom>
        </p:spPr>
      </p:pic>
    </p:spTree>
    <p:extLst>
      <p:ext uri="{BB962C8B-B14F-4D97-AF65-F5344CB8AC3E}">
        <p14:creationId xmlns:p14="http://schemas.microsoft.com/office/powerpoint/2010/main" val="22668391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38</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593882"/>
            <a:ext cx="11154104" cy="575433"/>
          </a:xfrm>
        </p:spPr>
        <p:txBody>
          <a:bodyPr>
            <a:noAutofit/>
          </a:bodyPr>
          <a:lstStyle/>
          <a:p>
            <a:r>
              <a:rPr lang="en-US" sz="4000" b="1"/>
              <a:t>Implement Prototype Pattern</a:t>
            </a:r>
            <a:endParaRPr lang="en-US" sz="4000" b="1" dirty="0"/>
          </a:p>
        </p:txBody>
      </p:sp>
      <p:pic>
        <p:nvPicPr>
          <p:cNvPr id="5" name="Picture 4">
            <a:extLst>
              <a:ext uri="{FF2B5EF4-FFF2-40B4-BE49-F238E27FC236}">
                <a16:creationId xmlns:a16="http://schemas.microsoft.com/office/drawing/2014/main" id="{F1D263C1-966C-4165-8332-35A97A3EF82C}"/>
              </a:ext>
            </a:extLst>
          </p:cNvPr>
          <p:cNvPicPr>
            <a:picLocks noChangeAspect="1"/>
          </p:cNvPicPr>
          <p:nvPr/>
        </p:nvPicPr>
        <p:blipFill>
          <a:blip r:embed="rId3"/>
          <a:stretch>
            <a:fillRect/>
          </a:stretch>
        </p:blipFill>
        <p:spPr>
          <a:xfrm>
            <a:off x="275156" y="1317586"/>
            <a:ext cx="10439644" cy="3303916"/>
          </a:xfrm>
          <a:prstGeom prst="rect">
            <a:avLst/>
          </a:prstGeom>
        </p:spPr>
      </p:pic>
      <p:pic>
        <p:nvPicPr>
          <p:cNvPr id="8" name="Picture 7">
            <a:extLst>
              <a:ext uri="{FF2B5EF4-FFF2-40B4-BE49-F238E27FC236}">
                <a16:creationId xmlns:a16="http://schemas.microsoft.com/office/drawing/2014/main" id="{72C2233C-0213-4ACA-909D-487D2A1F4F4C}"/>
              </a:ext>
            </a:extLst>
          </p:cNvPr>
          <p:cNvPicPr>
            <a:picLocks noChangeAspect="1"/>
          </p:cNvPicPr>
          <p:nvPr/>
        </p:nvPicPr>
        <p:blipFill>
          <a:blip r:embed="rId4"/>
          <a:stretch>
            <a:fillRect/>
          </a:stretch>
        </p:blipFill>
        <p:spPr>
          <a:xfrm>
            <a:off x="5344400" y="4769773"/>
            <a:ext cx="6683319" cy="1661304"/>
          </a:xfrm>
          <a:prstGeom prst="rect">
            <a:avLst/>
          </a:prstGeom>
        </p:spPr>
      </p:pic>
    </p:spTree>
    <p:extLst>
      <p:ext uri="{BB962C8B-B14F-4D97-AF65-F5344CB8AC3E}">
        <p14:creationId xmlns:p14="http://schemas.microsoft.com/office/powerpoint/2010/main" val="1106393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1458"/>
            <a:ext cx="9202270"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dirty="0">
                <a:solidFill>
                  <a:schemeClr val="accent2"/>
                </a:solidFill>
                <a:latin typeface="Arial" panose="020B0604020202020204" pitchFamily="34" charset="0"/>
                <a:cs typeface="Arial" panose="020B0604020202020204" pitchFamily="34" charset="0"/>
              </a:rPr>
              <a:t>Observer Pattern</a:t>
            </a:r>
            <a:endParaRPr lang="en-US" sz="4400" dirty="0">
              <a:solidFill>
                <a:schemeClr val="accent2"/>
              </a:solidFill>
            </a:endParaRPr>
          </a:p>
        </p:txBody>
      </p:sp>
    </p:spTree>
    <p:extLst>
      <p:ext uri="{BB962C8B-B14F-4D97-AF65-F5344CB8AC3E}">
        <p14:creationId xmlns:p14="http://schemas.microsoft.com/office/powerpoint/2010/main" val="28108375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40</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dirty="0"/>
              <a:t>Observer Pattern</a:t>
            </a:r>
          </a:p>
        </p:txBody>
      </p:sp>
      <p:sp>
        <p:nvSpPr>
          <p:cNvPr id="13" name="TextBox 12">
            <a:extLst>
              <a:ext uri="{FF2B5EF4-FFF2-40B4-BE49-F238E27FC236}">
                <a16:creationId xmlns:a16="http://schemas.microsoft.com/office/drawing/2014/main" id="{794B0636-141A-48F4-9618-4F89090694F3}"/>
              </a:ext>
            </a:extLst>
          </p:cNvPr>
          <p:cNvSpPr txBox="1"/>
          <p:nvPr/>
        </p:nvSpPr>
        <p:spPr>
          <a:xfrm>
            <a:off x="-52552" y="1362891"/>
            <a:ext cx="12140764" cy="2772810"/>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dirty="0"/>
              <a:t>The Observer Pattern is a behavioral design pattern that defines a one-to-many dependency between objects so that when one object changes state, all its dependents are notified and updated automatically.</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dirty="0"/>
              <a:t>Intent: To decouple the subject (publisher) from its observers (subscribers), allowing for loosely coupled systems.</a:t>
            </a:r>
          </a:p>
          <a:p>
            <a:pPr marL="342900" indent="-342900" algn="just">
              <a:lnSpc>
                <a:spcPct val="150000"/>
              </a:lnSpc>
              <a:spcBef>
                <a:spcPts val="300"/>
              </a:spcBef>
              <a:spcAft>
                <a:spcPts val="300"/>
              </a:spcAft>
              <a:buClr>
                <a:srgbClr val="973735"/>
              </a:buClr>
              <a:buSzPct val="50000"/>
              <a:buFont typeface="Wingdings" pitchFamily="2" charset="2"/>
              <a:buChar char="u"/>
              <a:tabLst>
                <a:tab pos="241300" algn="l"/>
              </a:tabLst>
              <a:defRPr/>
            </a:pPr>
            <a:endParaRPr lang="en-US" sz="2600" dirty="0">
              <a:solidFill>
                <a:srgbClr val="111111"/>
              </a:solidFill>
              <a:latin typeface="+mj-lt"/>
            </a:endParaRPr>
          </a:p>
        </p:txBody>
      </p:sp>
      <p:pic>
        <p:nvPicPr>
          <p:cNvPr id="2" name="Picture 1"/>
          <p:cNvPicPr>
            <a:picLocks noChangeAspect="1"/>
          </p:cNvPicPr>
          <p:nvPr/>
        </p:nvPicPr>
        <p:blipFill>
          <a:blip r:embed="rId3"/>
          <a:stretch>
            <a:fillRect/>
          </a:stretch>
        </p:blipFill>
        <p:spPr>
          <a:xfrm>
            <a:off x="369424" y="3885346"/>
            <a:ext cx="5267805" cy="1872376"/>
          </a:xfrm>
          <a:prstGeom prst="rect">
            <a:avLst/>
          </a:prstGeom>
        </p:spPr>
      </p:pic>
      <p:pic>
        <p:nvPicPr>
          <p:cNvPr id="5" name="Picture 4"/>
          <p:cNvPicPr>
            <a:picLocks noChangeAspect="1"/>
          </p:cNvPicPr>
          <p:nvPr/>
        </p:nvPicPr>
        <p:blipFill>
          <a:blip r:embed="rId4"/>
          <a:stretch>
            <a:fillRect/>
          </a:stretch>
        </p:blipFill>
        <p:spPr>
          <a:xfrm>
            <a:off x="7258639" y="3172879"/>
            <a:ext cx="4170621" cy="3297310"/>
          </a:xfrm>
          <a:prstGeom prst="rect">
            <a:avLst/>
          </a:prstGeom>
        </p:spPr>
      </p:pic>
    </p:spTree>
    <p:extLst>
      <p:ext uri="{BB962C8B-B14F-4D97-AF65-F5344CB8AC3E}">
        <p14:creationId xmlns:p14="http://schemas.microsoft.com/office/powerpoint/2010/main" val="21104858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41</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dirty="0"/>
              <a:t>Observer Pattern</a:t>
            </a:r>
          </a:p>
        </p:txBody>
      </p:sp>
      <p:sp>
        <p:nvSpPr>
          <p:cNvPr id="13" name="TextBox 12">
            <a:extLst>
              <a:ext uri="{FF2B5EF4-FFF2-40B4-BE49-F238E27FC236}">
                <a16:creationId xmlns:a16="http://schemas.microsoft.com/office/drawing/2014/main" id="{794B0636-141A-48F4-9618-4F89090694F3}"/>
              </a:ext>
            </a:extLst>
          </p:cNvPr>
          <p:cNvSpPr txBox="1"/>
          <p:nvPr/>
        </p:nvSpPr>
        <p:spPr>
          <a:xfrm>
            <a:off x="-52552" y="1362891"/>
            <a:ext cx="7150936" cy="5293757"/>
          </a:xfrm>
          <a:prstGeom prst="rect">
            <a:avLst/>
          </a:prstGeom>
          <a:noFill/>
        </p:spPr>
        <p:txBody>
          <a:bodyPr wrap="square">
            <a:spAutoFit/>
          </a:bodyPr>
          <a:lstStyle/>
          <a:p>
            <a:pPr marL="342900" indent="-342900" algn="just">
              <a:buClr>
                <a:srgbClr val="973735"/>
              </a:buClr>
              <a:buSzPct val="50000"/>
              <a:buFont typeface="Wingdings" pitchFamily="2" charset="2"/>
              <a:buChar char="u"/>
              <a:tabLst>
                <a:tab pos="241300" algn="l"/>
              </a:tabLst>
              <a:defRPr/>
            </a:pPr>
            <a:r>
              <a:rPr lang="en-US" sz="2600" dirty="0"/>
              <a:t>UML diagram depicting the structure of the Observer Pattern.</a:t>
            </a:r>
          </a:p>
          <a:p>
            <a:pPr marL="342900" indent="-342900" algn="just">
              <a:buClr>
                <a:srgbClr val="973735"/>
              </a:buClr>
              <a:buSzPct val="50000"/>
              <a:buFont typeface="Wingdings" pitchFamily="2" charset="2"/>
              <a:buChar char="u"/>
              <a:tabLst>
                <a:tab pos="241300" algn="l"/>
              </a:tabLst>
              <a:defRPr/>
            </a:pPr>
            <a:r>
              <a:rPr lang="en-US" sz="2600" dirty="0"/>
              <a:t>Subject: Represents the publisher that maintains a list of observers and notifies them of changes.</a:t>
            </a:r>
          </a:p>
          <a:p>
            <a:pPr marL="342900" indent="-342900" algn="just">
              <a:buClr>
                <a:srgbClr val="973735"/>
              </a:buClr>
              <a:buSzPct val="50000"/>
              <a:buFont typeface="Wingdings" pitchFamily="2" charset="2"/>
              <a:buChar char="u"/>
              <a:tabLst>
                <a:tab pos="241300" algn="l"/>
              </a:tabLst>
              <a:defRPr/>
            </a:pPr>
            <a:r>
              <a:rPr lang="en-US" sz="2600" dirty="0"/>
              <a:t>Observer: Defines an interface for objects that should be notified of changes in the subject.</a:t>
            </a:r>
          </a:p>
          <a:p>
            <a:pPr marL="342900" indent="-342900" algn="just">
              <a:buClr>
                <a:srgbClr val="973735"/>
              </a:buClr>
              <a:buSzPct val="50000"/>
              <a:buFont typeface="Wingdings" pitchFamily="2" charset="2"/>
              <a:buChar char="u"/>
              <a:tabLst>
                <a:tab pos="241300" algn="l"/>
              </a:tabLst>
              <a:defRPr/>
            </a:pPr>
            <a:r>
              <a:rPr lang="en-US" sz="2600" dirty="0" err="1"/>
              <a:t>ConcreteSubject</a:t>
            </a:r>
            <a:r>
              <a:rPr lang="en-US" sz="2600" dirty="0"/>
              <a:t>: Implements the Subject interface and manages its list of observers.</a:t>
            </a:r>
          </a:p>
          <a:p>
            <a:pPr marL="342900" indent="-342900" algn="just">
              <a:buClr>
                <a:srgbClr val="973735"/>
              </a:buClr>
              <a:buSzPct val="50000"/>
              <a:buFont typeface="Wingdings" pitchFamily="2" charset="2"/>
              <a:buChar char="u"/>
              <a:tabLst>
                <a:tab pos="241300" algn="l"/>
              </a:tabLst>
              <a:defRPr/>
            </a:pPr>
            <a:r>
              <a:rPr lang="en-US" sz="2600" dirty="0" err="1"/>
              <a:t>ConcreteObserver</a:t>
            </a:r>
            <a:r>
              <a:rPr lang="en-US" sz="2600" dirty="0"/>
              <a:t>: Implements the Observer interface and receives notifications from the subject.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7073" y="2389031"/>
            <a:ext cx="5174927" cy="2629881"/>
          </a:xfrm>
          <a:prstGeom prst="rect">
            <a:avLst/>
          </a:prstGeom>
        </p:spPr>
      </p:pic>
    </p:spTree>
    <p:extLst>
      <p:ext uri="{BB962C8B-B14F-4D97-AF65-F5344CB8AC3E}">
        <p14:creationId xmlns:p14="http://schemas.microsoft.com/office/powerpoint/2010/main" val="24141359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42</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dirty="0"/>
              <a:t>Observer Pattern</a:t>
            </a:r>
          </a:p>
        </p:txBody>
      </p:sp>
      <p:sp>
        <p:nvSpPr>
          <p:cNvPr id="13" name="TextBox 12">
            <a:extLst>
              <a:ext uri="{FF2B5EF4-FFF2-40B4-BE49-F238E27FC236}">
                <a16:creationId xmlns:a16="http://schemas.microsoft.com/office/drawing/2014/main" id="{794B0636-141A-48F4-9618-4F89090694F3}"/>
              </a:ext>
            </a:extLst>
          </p:cNvPr>
          <p:cNvSpPr txBox="1"/>
          <p:nvPr/>
        </p:nvSpPr>
        <p:spPr>
          <a:xfrm>
            <a:off x="-52552" y="1362891"/>
            <a:ext cx="12005740" cy="4847481"/>
          </a:xfrm>
          <a:prstGeom prst="rect">
            <a:avLst/>
          </a:prstGeom>
          <a:noFill/>
        </p:spPr>
        <p:txBody>
          <a:bodyPr wrap="square">
            <a:spAutoFit/>
          </a:bodyPr>
          <a:lstStyle/>
          <a:p>
            <a:pPr marL="342900" indent="-342900" algn="just">
              <a:lnSpc>
                <a:spcPct val="150000"/>
              </a:lnSpc>
              <a:spcBef>
                <a:spcPts val="600"/>
              </a:spcBef>
              <a:buClr>
                <a:srgbClr val="973735"/>
              </a:buClr>
              <a:buSzPct val="50000"/>
              <a:buFont typeface="Wingdings" pitchFamily="2" charset="2"/>
              <a:buChar char="u"/>
              <a:tabLst>
                <a:tab pos="241300" algn="l"/>
              </a:tabLst>
              <a:defRPr/>
            </a:pPr>
            <a:r>
              <a:rPr lang="en-US" sz="2600" dirty="0"/>
              <a:t>Use the Observer pattern when changes to the state of one object may require changing other objects, and the actual set of objects is unknown beforehand or changes dynamically.</a:t>
            </a:r>
          </a:p>
          <a:p>
            <a:pPr marL="342900" indent="-342900" algn="just">
              <a:lnSpc>
                <a:spcPct val="150000"/>
              </a:lnSpc>
              <a:spcBef>
                <a:spcPts val="600"/>
              </a:spcBef>
              <a:buClr>
                <a:srgbClr val="973735"/>
              </a:buClr>
              <a:buSzPct val="50000"/>
              <a:buFont typeface="Wingdings" pitchFamily="2" charset="2"/>
              <a:buChar char="u"/>
              <a:tabLst>
                <a:tab pos="241300" algn="l"/>
              </a:tabLst>
              <a:defRPr/>
            </a:pPr>
            <a:r>
              <a:rPr lang="en-US" sz="2600" dirty="0"/>
              <a:t>Use the pattern when some objects in your app must observe others, but only for a limited time or in specific cases.</a:t>
            </a:r>
          </a:p>
          <a:p>
            <a:pPr marL="342900" indent="-342900" algn="just">
              <a:lnSpc>
                <a:spcPct val="150000"/>
              </a:lnSpc>
              <a:spcBef>
                <a:spcPts val="600"/>
              </a:spcBef>
              <a:buClr>
                <a:srgbClr val="973735"/>
              </a:buClr>
              <a:buSzPct val="50000"/>
              <a:buFont typeface="Wingdings" pitchFamily="2" charset="2"/>
              <a:buChar char="u"/>
              <a:tabLst>
                <a:tab pos="241300" algn="l"/>
              </a:tabLst>
              <a:defRPr/>
            </a:pPr>
            <a:r>
              <a:rPr lang="en-US" sz="2600" dirty="0"/>
              <a:t>The subscription list is dynamic, so subscribers can join or leave the list whenever they need to.</a:t>
            </a:r>
          </a:p>
          <a:p>
            <a:pPr marL="342900" indent="-342900" algn="just">
              <a:buClr>
                <a:srgbClr val="973735"/>
              </a:buClr>
              <a:buSzPct val="50000"/>
              <a:buFont typeface="Wingdings" pitchFamily="2" charset="2"/>
              <a:buChar char="u"/>
              <a:tabLst>
                <a:tab pos="241300" algn="l"/>
              </a:tabLst>
              <a:defRPr/>
            </a:pPr>
            <a:endParaRPr lang="en-US" sz="2600" dirty="0"/>
          </a:p>
        </p:txBody>
      </p:sp>
    </p:spTree>
    <p:extLst>
      <p:ext uri="{BB962C8B-B14F-4D97-AF65-F5344CB8AC3E}">
        <p14:creationId xmlns:p14="http://schemas.microsoft.com/office/powerpoint/2010/main" val="12646857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E13011A8-D88C-4012-B204-49668D8EBB2E}"/>
              </a:ext>
            </a:extLst>
          </p:cNvPr>
          <p:cNvSpPr>
            <a:spLocks noGrp="1"/>
          </p:cNvSpPr>
          <p:nvPr>
            <p:ph type="dt" sz="half" idx="10"/>
          </p:nvPr>
        </p:nvSpPr>
        <p:spPr>
          <a:xfrm>
            <a:off x="838200" y="6470189"/>
            <a:ext cx="2743200" cy="365125"/>
          </a:xfrm>
        </p:spPr>
        <p:txBody>
          <a:bodyPr/>
          <a:lstStyle>
            <a:lvl1pPr>
              <a:defRPr>
                <a:solidFill>
                  <a:schemeClr val="tx1"/>
                </a:solidFill>
              </a:defRPr>
            </a:lvl1pPr>
          </a:lstStyle>
          <a:p>
            <a:fld id="{5DCBE059-FAD7-45D8-8659-E6542D1E092D}" type="datetime1">
              <a:rPr lang="en-US" smtClean="0"/>
              <a:t>5/28/2024</a:t>
            </a:fld>
            <a:endParaRPr lang="en-US" dirty="0"/>
          </a:p>
        </p:txBody>
      </p:sp>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43</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275156" y="720006"/>
            <a:ext cx="11154104" cy="575433"/>
          </a:xfrm>
        </p:spPr>
        <p:txBody>
          <a:bodyPr>
            <a:noAutofit/>
          </a:bodyPr>
          <a:lstStyle/>
          <a:p>
            <a:r>
              <a:rPr lang="en-US" sz="4000" b="1" dirty="0"/>
              <a:t>Observer Pattern</a:t>
            </a:r>
          </a:p>
        </p:txBody>
      </p:sp>
      <p:sp>
        <p:nvSpPr>
          <p:cNvPr id="13" name="TextBox 12">
            <a:extLst>
              <a:ext uri="{FF2B5EF4-FFF2-40B4-BE49-F238E27FC236}">
                <a16:creationId xmlns:a16="http://schemas.microsoft.com/office/drawing/2014/main" id="{794B0636-141A-48F4-9618-4F89090694F3}"/>
              </a:ext>
            </a:extLst>
          </p:cNvPr>
          <p:cNvSpPr txBox="1"/>
          <p:nvPr/>
        </p:nvSpPr>
        <p:spPr>
          <a:xfrm>
            <a:off x="-52552" y="1362891"/>
            <a:ext cx="12005740" cy="492443"/>
          </a:xfrm>
          <a:prstGeom prst="rect">
            <a:avLst/>
          </a:prstGeom>
          <a:noFill/>
        </p:spPr>
        <p:txBody>
          <a:bodyPr wrap="square">
            <a:spAutoFit/>
          </a:bodyPr>
          <a:lstStyle/>
          <a:p>
            <a:pPr marL="342900" indent="-342900" algn="just">
              <a:buClr>
                <a:srgbClr val="973735"/>
              </a:buClr>
              <a:buSzPct val="50000"/>
              <a:buFont typeface="Wingdings" pitchFamily="2" charset="2"/>
              <a:buChar char="u"/>
              <a:tabLst>
                <a:tab pos="241300" algn="l"/>
              </a:tabLst>
              <a:defRPr/>
            </a:pPr>
            <a:endParaRPr lang="en-US" sz="2600" dirty="0"/>
          </a:p>
        </p:txBody>
      </p:sp>
      <p:pic>
        <p:nvPicPr>
          <p:cNvPr id="2" name="Picture 1"/>
          <p:cNvPicPr>
            <a:picLocks noChangeAspect="1"/>
          </p:cNvPicPr>
          <p:nvPr/>
        </p:nvPicPr>
        <p:blipFill>
          <a:blip r:embed="rId3"/>
          <a:stretch>
            <a:fillRect/>
          </a:stretch>
        </p:blipFill>
        <p:spPr>
          <a:xfrm>
            <a:off x="275156" y="1516103"/>
            <a:ext cx="3130711" cy="3340272"/>
          </a:xfrm>
          <a:prstGeom prst="rect">
            <a:avLst/>
          </a:prstGeom>
        </p:spPr>
      </p:pic>
      <p:pic>
        <p:nvPicPr>
          <p:cNvPr id="5" name="Picture 4"/>
          <p:cNvPicPr>
            <a:picLocks noChangeAspect="1"/>
          </p:cNvPicPr>
          <p:nvPr/>
        </p:nvPicPr>
        <p:blipFill>
          <a:blip r:embed="rId4"/>
          <a:stretch>
            <a:fillRect/>
          </a:stretch>
        </p:blipFill>
        <p:spPr>
          <a:xfrm>
            <a:off x="2947425" y="1559128"/>
            <a:ext cx="4921503" cy="5207268"/>
          </a:xfrm>
          <a:prstGeom prst="rect">
            <a:avLst/>
          </a:prstGeom>
        </p:spPr>
      </p:pic>
      <p:pic>
        <p:nvPicPr>
          <p:cNvPr id="6" name="Picture 5"/>
          <p:cNvPicPr>
            <a:picLocks noChangeAspect="1"/>
          </p:cNvPicPr>
          <p:nvPr/>
        </p:nvPicPr>
        <p:blipFill>
          <a:blip r:embed="rId5"/>
          <a:stretch>
            <a:fillRect/>
          </a:stretch>
        </p:blipFill>
        <p:spPr>
          <a:xfrm>
            <a:off x="7524510" y="147569"/>
            <a:ext cx="4667490" cy="3619686"/>
          </a:xfrm>
          <a:prstGeom prst="rect">
            <a:avLst/>
          </a:prstGeom>
        </p:spPr>
      </p:pic>
      <p:pic>
        <p:nvPicPr>
          <p:cNvPr id="7" name="Picture 6"/>
          <p:cNvPicPr>
            <a:picLocks noChangeAspect="1"/>
          </p:cNvPicPr>
          <p:nvPr/>
        </p:nvPicPr>
        <p:blipFill>
          <a:blip r:embed="rId6"/>
          <a:stretch>
            <a:fillRect/>
          </a:stretch>
        </p:blipFill>
        <p:spPr>
          <a:xfrm>
            <a:off x="7524510" y="4073858"/>
            <a:ext cx="2978303" cy="2692538"/>
          </a:xfrm>
          <a:prstGeom prst="rect">
            <a:avLst/>
          </a:prstGeom>
        </p:spPr>
      </p:pic>
      <p:cxnSp>
        <p:nvCxnSpPr>
          <p:cNvPr id="10" name="Straight Arrow Connector 9"/>
          <p:cNvCxnSpPr/>
          <p:nvPr/>
        </p:nvCxnSpPr>
        <p:spPr>
          <a:xfrm flipV="1">
            <a:off x="4806669" y="445062"/>
            <a:ext cx="2791752" cy="21524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4798243" y="1362891"/>
            <a:ext cx="2630079" cy="14814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4150149" y="2092751"/>
            <a:ext cx="3448272" cy="99924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4806669" y="2872487"/>
            <a:ext cx="2655066" cy="42887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5260157" y="4467081"/>
            <a:ext cx="2434452" cy="211933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30816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378372" y="605537"/>
            <a:ext cx="10515600" cy="592642"/>
          </a:xfrm>
        </p:spPr>
        <p:txBody>
          <a:bodyPr>
            <a:noAutofit/>
          </a:bodyPr>
          <a:lstStyle/>
          <a:p>
            <a:r>
              <a:rPr lang="en-US" sz="4000" b="1" dirty="0"/>
              <a:t>Summary</a:t>
            </a:r>
          </a:p>
        </p:txBody>
      </p:sp>
      <p:sp>
        <p:nvSpPr>
          <p:cNvPr id="18435" name="Rectangle 3"/>
          <p:cNvSpPr>
            <a:spLocks noGrp="1"/>
          </p:cNvSpPr>
          <p:nvPr>
            <p:ph idx="1"/>
          </p:nvPr>
        </p:nvSpPr>
        <p:spPr>
          <a:xfrm>
            <a:off x="378372" y="1198179"/>
            <a:ext cx="11813628" cy="5192111"/>
          </a:xfrm>
        </p:spPr>
        <p:txBody>
          <a:bodyPr>
            <a:normAutofit/>
          </a:bodyPr>
          <a:lstStyle/>
          <a:p>
            <a:pPr marL="342900" indent="-342900">
              <a:lnSpc>
                <a:spcPct val="120000"/>
              </a:lnSpc>
              <a:spcBef>
                <a:spcPts val="600"/>
              </a:spcBef>
              <a:spcAft>
                <a:spcPts val="600"/>
              </a:spcAft>
              <a:buClr>
                <a:srgbClr val="973735"/>
              </a:buClr>
              <a:buSzPct val="50000"/>
              <a:buFont typeface="Wingdings" pitchFamily="2" charset="2"/>
              <a:buChar char="u"/>
              <a:defRPr/>
            </a:pPr>
            <a:r>
              <a:rPr lang="en-US"/>
              <a:t>Concepts were introduced:</a:t>
            </a:r>
            <a:endParaRPr lang="en-US" dirty="0"/>
          </a:p>
          <a:p>
            <a:pPr marL="514350" indent="-230188">
              <a:lnSpc>
                <a:spcPct val="100000"/>
              </a:lnSpc>
              <a:spcBef>
                <a:spcPts val="600"/>
              </a:spcBef>
              <a:spcAft>
                <a:spcPts val="600"/>
              </a:spcAft>
              <a:buClr>
                <a:srgbClr val="973735"/>
              </a:buClr>
              <a:buSzPct val="70000"/>
              <a:buFont typeface="Wingdings" panose="05000000000000000000" pitchFamily="2" charset="2"/>
              <a:buChar char="§"/>
              <a:defRPr/>
            </a:pPr>
            <a:r>
              <a:rPr lang="en-US" sz="2300"/>
              <a:t>Overview about Design Pattern in .NET</a:t>
            </a:r>
          </a:p>
          <a:p>
            <a:pPr marL="514350" indent="-230188">
              <a:lnSpc>
                <a:spcPct val="100000"/>
              </a:lnSpc>
              <a:spcBef>
                <a:spcPts val="600"/>
              </a:spcBef>
              <a:spcAft>
                <a:spcPts val="600"/>
              </a:spcAft>
              <a:buClr>
                <a:srgbClr val="973735"/>
              </a:buClr>
              <a:buSzPct val="70000"/>
              <a:buFont typeface="Wingdings" panose="05000000000000000000" pitchFamily="2" charset="2"/>
              <a:buChar char="§"/>
              <a:defRPr/>
            </a:pPr>
            <a:r>
              <a:rPr lang="en-US" sz="2300"/>
              <a:t>Why must use Design Pattern?</a:t>
            </a:r>
          </a:p>
          <a:p>
            <a:pPr marL="514350" indent="-230188">
              <a:lnSpc>
                <a:spcPct val="100000"/>
              </a:lnSpc>
              <a:spcBef>
                <a:spcPts val="600"/>
              </a:spcBef>
              <a:spcAft>
                <a:spcPts val="600"/>
              </a:spcAft>
              <a:buClr>
                <a:srgbClr val="973735"/>
              </a:buClr>
              <a:buSzPct val="70000"/>
              <a:buFont typeface="Wingdings" panose="05000000000000000000" pitchFamily="2" charset="2"/>
              <a:buChar char="§"/>
              <a:defRPr/>
            </a:pPr>
            <a:r>
              <a:rPr lang="en-US" sz="2300"/>
              <a:t>Explain about Singleton Pattern</a:t>
            </a:r>
          </a:p>
          <a:p>
            <a:pPr marL="514350" indent="-230188">
              <a:lnSpc>
                <a:spcPct val="100000"/>
              </a:lnSpc>
              <a:spcBef>
                <a:spcPts val="600"/>
              </a:spcBef>
              <a:spcAft>
                <a:spcPts val="600"/>
              </a:spcAft>
              <a:buClr>
                <a:srgbClr val="973735"/>
              </a:buClr>
              <a:buSzPct val="70000"/>
              <a:buFont typeface="Wingdings" panose="05000000000000000000" pitchFamily="2" charset="2"/>
              <a:buChar char="§"/>
              <a:defRPr/>
            </a:pPr>
            <a:r>
              <a:rPr lang="en-US" sz="2300"/>
              <a:t>Explain about Factories Pattern</a:t>
            </a:r>
          </a:p>
          <a:p>
            <a:pPr marL="514350" indent="-230188">
              <a:lnSpc>
                <a:spcPct val="100000"/>
              </a:lnSpc>
              <a:spcBef>
                <a:spcPts val="600"/>
              </a:spcBef>
              <a:spcAft>
                <a:spcPts val="600"/>
              </a:spcAft>
              <a:buClr>
                <a:srgbClr val="973735"/>
              </a:buClr>
              <a:buSzPct val="70000"/>
              <a:buFont typeface="Wingdings" panose="05000000000000000000" pitchFamily="2" charset="2"/>
              <a:buChar char="§"/>
              <a:defRPr/>
            </a:pPr>
            <a:r>
              <a:rPr lang="en-US" sz="2300"/>
              <a:t>Explain about Abstract Factory Pattern</a:t>
            </a:r>
          </a:p>
          <a:p>
            <a:pPr marL="514350" indent="-230188">
              <a:lnSpc>
                <a:spcPct val="100000"/>
              </a:lnSpc>
              <a:spcBef>
                <a:spcPts val="600"/>
              </a:spcBef>
              <a:spcAft>
                <a:spcPts val="600"/>
              </a:spcAft>
              <a:buClr>
                <a:srgbClr val="973735"/>
              </a:buClr>
              <a:buSzPct val="70000"/>
              <a:buFont typeface="Wingdings" panose="05000000000000000000" pitchFamily="2" charset="2"/>
              <a:buChar char="§"/>
              <a:defRPr/>
            </a:pPr>
            <a:r>
              <a:rPr lang="en-US" sz="2300"/>
              <a:t>Explain about Builder Pattern</a:t>
            </a:r>
          </a:p>
          <a:p>
            <a:pPr marL="514350" indent="-230188">
              <a:lnSpc>
                <a:spcPct val="100000"/>
              </a:lnSpc>
              <a:spcBef>
                <a:spcPts val="600"/>
              </a:spcBef>
              <a:spcAft>
                <a:spcPts val="600"/>
              </a:spcAft>
              <a:buClr>
                <a:srgbClr val="973735"/>
              </a:buClr>
              <a:buSzPct val="70000"/>
              <a:buFont typeface="Wingdings" panose="05000000000000000000" pitchFamily="2" charset="2"/>
              <a:buChar char="§"/>
              <a:defRPr/>
            </a:pPr>
            <a:r>
              <a:rPr lang="en-US" sz="2300"/>
              <a:t>Explain about Prototype Pattern</a:t>
            </a:r>
          </a:p>
          <a:p>
            <a:pPr marL="514350" indent="-230188">
              <a:lnSpc>
                <a:spcPct val="100000"/>
              </a:lnSpc>
              <a:spcBef>
                <a:spcPts val="600"/>
              </a:spcBef>
              <a:spcAft>
                <a:spcPts val="600"/>
              </a:spcAft>
              <a:buClr>
                <a:srgbClr val="973735"/>
              </a:buClr>
              <a:buSzPct val="70000"/>
              <a:buFont typeface="Wingdings" panose="05000000000000000000" pitchFamily="2" charset="2"/>
              <a:buChar char="§"/>
              <a:defRPr/>
            </a:pPr>
            <a:r>
              <a:rPr lang="en-US" sz="2300"/>
              <a:t>Demo about Factories Method, Prototype Pattern and Singleton Pattern in .NET applications</a:t>
            </a:r>
            <a:endParaRPr lang="en-US" sz="2300" dirty="0"/>
          </a:p>
        </p:txBody>
      </p:sp>
      <p:sp>
        <p:nvSpPr>
          <p:cNvPr id="4" name="Slide Number Placeholder 3"/>
          <p:cNvSpPr>
            <a:spLocks noGrp="1"/>
          </p:cNvSpPr>
          <p:nvPr>
            <p:ph type="sldNum" sz="quarter" idx="12"/>
          </p:nvPr>
        </p:nvSpPr>
        <p:spPr/>
        <p:txBody>
          <a:bodyPr/>
          <a:lstStyle/>
          <a:p>
            <a:fld id="{CA15C064-DD44-4CAC-873E-2D1F54821676}" type="slidenum">
              <a:rPr kumimoji="0" lang="en-US" smtClean="0"/>
              <a:pPr/>
              <a:t>44</a:t>
            </a:fld>
            <a:endParaRPr kumimoji="0"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box(in)">
                                      <p:cBhvr>
                                        <p:cTn id="7" dur="500"/>
                                        <p:tgtEl>
                                          <p:spTgt spid="18435">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8435">
                                            <p:txEl>
                                              <p:pRg st="1" end="1"/>
                                            </p:txEl>
                                          </p:spTgt>
                                        </p:tgtEl>
                                        <p:attrNameLst>
                                          <p:attrName>style.visibility</p:attrName>
                                        </p:attrNameLst>
                                      </p:cBhvr>
                                      <p:to>
                                        <p:strVal val="visible"/>
                                      </p:to>
                                    </p:set>
                                    <p:animEffect transition="in" filter="box(in)">
                                      <p:cBhvr>
                                        <p:cTn id="10" dur="500"/>
                                        <p:tgtEl>
                                          <p:spTgt spid="184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2641</TotalTime>
  <Words>3113</Words>
  <Application>Microsoft Office PowerPoint</Application>
  <PresentationFormat>Widescreen</PresentationFormat>
  <Paragraphs>362</Paragraphs>
  <Slides>44</Slides>
  <Notes>36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Calibri</vt:lpstr>
      <vt:lpstr>Consolas</vt:lpstr>
      <vt:lpstr>ui-sans-serif</vt:lpstr>
      <vt:lpstr>Wingdings</vt:lpstr>
      <vt:lpstr>Office Theme</vt:lpstr>
      <vt:lpstr> Design Pattern in .NET</vt:lpstr>
      <vt:lpstr>Constructivism Topics</vt:lpstr>
      <vt:lpstr>Objectives </vt:lpstr>
      <vt:lpstr>PowerPoint Presentation</vt:lpstr>
      <vt:lpstr>PowerPoint Presentation</vt:lpstr>
      <vt:lpstr>Why use Design Pattern?</vt:lpstr>
      <vt:lpstr>Why use Design Pattern?</vt:lpstr>
      <vt:lpstr>Introduction to GoF Patterns</vt:lpstr>
      <vt:lpstr>Creational Design Patterns</vt:lpstr>
      <vt:lpstr>Singleton Pattern</vt:lpstr>
      <vt:lpstr>Singleton Pattern</vt:lpstr>
      <vt:lpstr>Implement Singleton Pattern</vt:lpstr>
      <vt:lpstr>Implement Singleton Pattern</vt:lpstr>
      <vt:lpstr>Factories Method Pattern</vt:lpstr>
      <vt:lpstr>Factories Method Pattern</vt:lpstr>
      <vt:lpstr>Factories Method Pattern</vt:lpstr>
      <vt:lpstr>Implement Factories Method</vt:lpstr>
      <vt:lpstr>Implement Factories Method</vt:lpstr>
      <vt:lpstr>Implement Factories Method</vt:lpstr>
      <vt:lpstr>Implement Factories Method</vt:lpstr>
      <vt:lpstr>Abstract Factory Pattern</vt:lpstr>
      <vt:lpstr>Abstract Factory Patterns</vt:lpstr>
      <vt:lpstr>Abstract Factory Design Pattern Participants</vt:lpstr>
      <vt:lpstr>PowerPoint Presentation</vt:lpstr>
      <vt:lpstr>PowerPoint Presentation</vt:lpstr>
      <vt:lpstr>Builder Pattern</vt:lpstr>
      <vt:lpstr>Builder Pattern</vt:lpstr>
      <vt:lpstr>Builder Design Pattern Participants</vt:lpstr>
      <vt:lpstr>Builder Pattern</vt:lpstr>
      <vt:lpstr>Builder Pattern</vt:lpstr>
      <vt:lpstr>Advantages and Disadvantages </vt:lpstr>
      <vt:lpstr>Prototype Pattern</vt:lpstr>
      <vt:lpstr>Prototype Pattern</vt:lpstr>
      <vt:lpstr>Prototype Pattern</vt:lpstr>
      <vt:lpstr>Prototype Design Pattern Participants</vt:lpstr>
      <vt:lpstr>Implement Prototype Pattern</vt:lpstr>
      <vt:lpstr>Implement Prototype Pattern</vt:lpstr>
      <vt:lpstr>Implement Prototype Pattern</vt:lpstr>
      <vt:lpstr>Observer Pattern</vt:lpstr>
      <vt:lpstr>Observer Pattern</vt:lpstr>
      <vt:lpstr>Observer Pattern</vt:lpstr>
      <vt:lpstr>Observer Pattern</vt:lpstr>
      <vt:lpstr>Observer Pattern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Quang Le Thien Nhat</cp:lastModifiedBy>
  <cp:revision>432</cp:revision>
  <dcterms:created xsi:type="dcterms:W3CDTF">2021-01-25T08:25:31Z</dcterms:created>
  <dcterms:modified xsi:type="dcterms:W3CDTF">2024-05-28T07:33:24Z</dcterms:modified>
</cp:coreProperties>
</file>