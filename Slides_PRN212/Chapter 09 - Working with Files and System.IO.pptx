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78" r:id="rId3"/>
    <p:sldId id="442" r:id="rId4"/>
    <p:sldId id="464" r:id="rId5"/>
    <p:sldId id="466" r:id="rId6"/>
    <p:sldId id="467" r:id="rId7"/>
    <p:sldId id="482" r:id="rId8"/>
    <p:sldId id="483" r:id="rId9"/>
    <p:sldId id="468" r:id="rId10"/>
    <p:sldId id="510" r:id="rId11"/>
    <p:sldId id="509" r:id="rId12"/>
    <p:sldId id="469" r:id="rId13"/>
    <p:sldId id="484" r:id="rId14"/>
    <p:sldId id="485" r:id="rId15"/>
    <p:sldId id="486" r:id="rId16"/>
    <p:sldId id="487" r:id="rId17"/>
    <p:sldId id="500" r:id="rId18"/>
    <p:sldId id="471" r:id="rId19"/>
    <p:sldId id="472" r:id="rId20"/>
    <p:sldId id="473" r:id="rId21"/>
    <p:sldId id="489" r:id="rId22"/>
    <p:sldId id="501" r:id="rId23"/>
    <p:sldId id="490" r:id="rId24"/>
    <p:sldId id="491" r:id="rId25"/>
    <p:sldId id="502" r:id="rId26"/>
    <p:sldId id="493" r:id="rId27"/>
    <p:sldId id="494" r:id="rId28"/>
    <p:sldId id="480" r:id="rId29"/>
    <p:sldId id="507" r:id="rId30"/>
    <p:sldId id="495" r:id="rId31"/>
    <p:sldId id="505" r:id="rId32"/>
    <p:sldId id="506" r:id="rId33"/>
    <p:sldId id="266" r:id="rId34"/>
    <p:sldId id="511" r:id="rId35"/>
    <p:sldId id="512" r:id="rId36"/>
    <p:sldId id="513" r:id="rId37"/>
    <p:sldId id="51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32" autoAdjust="0"/>
    <p:restoredTop sz="94826" autoAdjust="0"/>
  </p:normalViewPr>
  <p:slideViewPr>
    <p:cSldViewPr snapToGrid="0">
      <p:cViewPr varScale="1">
        <p:scale>
          <a:sx n="110" d="100"/>
          <a:sy n="110" d="100"/>
        </p:scale>
        <p:origin x="63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7/13/2024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2886006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089558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3093399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462420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2974077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424465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2400933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16090300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773796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2224944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2682793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10103497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1481941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1810972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36972904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28237688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1337427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1088513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38005910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2697341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7766838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TextEdit="1"/>
          </p:cNvSpPr>
          <p:nvPr>
            <p:ph type="sldImg"/>
          </p:nvPr>
        </p:nvSpPr>
        <p:spPr bwMode="auto">
          <a:noFill/>
          <a:ln>
            <a:solidFill>
              <a:srgbClr val="000000"/>
            </a:solidFill>
            <a:miter lim="800000"/>
            <a:headEnd/>
            <a:tailEnd/>
          </a:ln>
        </p:spPr>
      </p:sp>
      <p:sp>
        <p:nvSpPr>
          <p:cNvPr id="17411" name="Rectangle 3"/>
          <p:cNvSpPr>
            <a:spLocks noGrp="1"/>
          </p:cNvSpPr>
          <p:nvPr>
            <p:ph type="body" idx="1"/>
          </p:nvPr>
        </p:nvSpPr>
        <p:spPr bwMode="auto">
          <a:noFill/>
        </p:spPr>
        <p:txBody>
          <a:bodyPr wrap="square" numCol="1" anchor="t" anchorCtr="0" compatLnSpc="1">
            <a:prstTxWarp prst="textNoShape">
              <a:avLst/>
            </a:prstTxWarp>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988598"/>
            <a:ext cx="9144000" cy="152136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9" name="Picture 2" descr="NET Exceptions - System.Data.ObjectNotFoundException">
            <a:extLst>
              <a:ext uri="{FF2B5EF4-FFF2-40B4-BE49-F238E27FC236}">
                <a16:creationId xmlns:a16="http://schemas.microsoft.com/office/drawing/2014/main" id="{0E34F79C-EF24-43DE-BD57-B4D9A321B70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2"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BB542FF-C655-4061-A5B4-7EF32184245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960" y="0"/>
            <a:ext cx="1129276" cy="621102"/>
          </a:xfrm>
          <a:prstGeom prst="rect">
            <a:avLst/>
          </a:prstGeom>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xfrm>
            <a:off x="838200" y="620209"/>
            <a:ext cx="10515600" cy="575433"/>
          </a:xfrm>
          <a:solidFill>
            <a:schemeClr val="bg1"/>
          </a:solidFill>
        </p:spPr>
        <p:txBody>
          <a:bodyPr/>
          <a:lstStyle/>
          <a:p>
            <a:r>
              <a:rPr lang="en-US" dirty="0"/>
              <a:t>Click to edit Master title style</a:t>
            </a:r>
          </a:p>
        </p:txBody>
      </p:sp>
      <p:sp>
        <p:nvSpPr>
          <p:cNvPr id="3" name="Content Placeholder 2"/>
          <p:cNvSpPr>
            <a:spLocks noGrp="1"/>
          </p:cNvSpPr>
          <p:nvPr>
            <p:ph idx="1"/>
          </p:nvPr>
        </p:nvSpPr>
        <p:spPr>
          <a:xfrm>
            <a:off x="838200" y="1535811"/>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5DCBE059-FAD7-45D8-8659-E6542D1E092D}" type="datetime1">
              <a:rPr lang="en-US" smtClean="0"/>
              <a:t>7/13/2024</a:t>
            </a:fld>
            <a:endParaRPr lang="en-US" dirty="0"/>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dirty="0"/>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pic>
        <p:nvPicPr>
          <p:cNvPr id="10" name="Picture 2" descr="NET Exceptions - System.Data.ObjectNotFoundException">
            <a:extLst>
              <a:ext uri="{FF2B5EF4-FFF2-40B4-BE49-F238E27FC236}">
                <a16:creationId xmlns:a16="http://schemas.microsoft.com/office/drawing/2014/main" id="{3B7C805C-C49E-470D-A3F6-88B774BFE7AE}"/>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238911" y="0"/>
            <a:ext cx="1953088" cy="78123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25B7E1A3-06EF-4B24-B732-54865F5B97C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0960" y="0"/>
            <a:ext cx="1129276" cy="621102"/>
          </a:xfrm>
          <a:prstGeom prst="rect">
            <a:avLst/>
          </a:prstGeom>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E1B290-3044-40C7-AA46-9B0CCEDB6684}"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5BA51A4-3D8F-4464-8762-2F11075995B0}" type="datetime1">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9A75F2-1863-4BCF-AC90-7D654EE5EB9B}" type="datetime1">
              <a:rPr lang="en-US" smtClean="0"/>
              <a:t>7/13/2024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6B88147-667F-48AF-BB78-925C77FB1ED5}" type="datetime1">
              <a:rPr lang="en-US" smtClean="0"/>
              <a:t>7/13/2024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CF7447-14DD-4ED9-9DC3-53E53412F13F}" type="datetime1">
              <a:rPr lang="en-US" smtClean="0"/>
              <a:t>7/13/2024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B989FD-A8A7-4EF7-934B-4294CDFB4341}" type="datetime1">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BA8CCC-DE58-4D83-99E0-7A1DE88915B5}" type="datetime1">
              <a:rPr lang="en-US" smtClean="0"/>
              <a:t>7/13/2024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C414C8F-3CFE-44B4-89F8-C659E998D398}"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BAC03C-5900-4E12-A645-6AFB6C5C4596}" type="datetime1">
              <a:rPr lang="en-US" smtClean="0"/>
              <a:t>7/13/2024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2FEAF-88BC-4AD8-A38B-DFC1FEA4C83E}" type="datetime1">
              <a:rPr lang="en-US" smtClean="0"/>
              <a:t>7/13/2024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40076" y="2241458"/>
            <a:ext cx="9711847" cy="1774360"/>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4400" b="1">
                <a:solidFill>
                  <a:schemeClr val="accent2"/>
                </a:solidFill>
                <a:latin typeface="Arial" panose="020B0604020202020204" pitchFamily="34" charset="0"/>
                <a:cs typeface="Arial" panose="020B0604020202020204" pitchFamily="34" charset="0"/>
              </a:rPr>
              <a:t>Working with Files and System.IO</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129093" y="1597572"/>
            <a:ext cx="11973260" cy="4792470"/>
          </a:xfrm>
        </p:spPr>
        <p:txBody>
          <a:bodyPr>
            <a:noAutofit/>
          </a:bodyPr>
          <a:lstStyle/>
          <a:p>
            <a:pPr marL="342900" indent="-342900" algn="just">
              <a:lnSpc>
                <a:spcPct val="100000"/>
              </a:lnSpc>
              <a:buClr>
                <a:srgbClr val="973735"/>
              </a:buClr>
              <a:buSzPct val="50000"/>
              <a:buFont typeface="Wingdings" pitchFamily="2" charset="2"/>
              <a:buChar char="u"/>
              <a:defRPr/>
            </a:pPr>
            <a:r>
              <a:rPr lang="en-US"/>
              <a:t>Overview System.IO</a:t>
            </a:r>
          </a:p>
          <a:p>
            <a:pPr marL="342900" indent="-342900" algn="just">
              <a:lnSpc>
                <a:spcPct val="100000"/>
              </a:lnSpc>
              <a:buClr>
                <a:srgbClr val="973735"/>
              </a:buClr>
              <a:buSzPct val="50000"/>
              <a:buFont typeface="Wingdings" pitchFamily="2" charset="2"/>
              <a:buChar char="u"/>
              <a:defRPr/>
            </a:pPr>
            <a:r>
              <a:rPr lang="en-US"/>
              <a:t>Explain about File and FileInfo class</a:t>
            </a:r>
          </a:p>
          <a:p>
            <a:pPr marL="342900" indent="-342900" algn="just">
              <a:lnSpc>
                <a:spcPct val="100000"/>
              </a:lnSpc>
              <a:buClr>
                <a:srgbClr val="973735"/>
              </a:buClr>
              <a:buSzPct val="50000"/>
              <a:buFont typeface="Wingdings" pitchFamily="2" charset="2"/>
              <a:buChar char="u"/>
              <a:defRPr/>
            </a:pPr>
            <a:r>
              <a:rPr lang="en-US"/>
              <a:t>Explain about Directory and DirectoryInfo class</a:t>
            </a:r>
          </a:p>
          <a:p>
            <a:pPr marL="342900" indent="-342900">
              <a:lnSpc>
                <a:spcPct val="100000"/>
              </a:lnSpc>
              <a:buClr>
                <a:srgbClr val="973735"/>
              </a:buClr>
              <a:buSzPct val="50000"/>
              <a:buFont typeface="Wingdings" pitchFamily="2" charset="2"/>
              <a:buChar char="u"/>
              <a:defRPr/>
            </a:pPr>
            <a:r>
              <a:rPr lang="en-US"/>
              <a:t>Explain and Demo about FileStream class</a:t>
            </a:r>
          </a:p>
          <a:p>
            <a:pPr marL="342900" indent="-342900" algn="just">
              <a:lnSpc>
                <a:spcPct val="100000"/>
              </a:lnSpc>
              <a:buClr>
                <a:srgbClr val="973735"/>
              </a:buClr>
              <a:buSzPct val="50000"/>
              <a:buFont typeface="Wingdings" pitchFamily="2" charset="2"/>
              <a:buChar char="u"/>
              <a:defRPr/>
            </a:pPr>
            <a:r>
              <a:rPr lang="en-US"/>
              <a:t>Demo about File and FileInfo class</a:t>
            </a:r>
          </a:p>
          <a:p>
            <a:pPr marL="342900" indent="-342900" algn="just">
              <a:lnSpc>
                <a:spcPct val="100000"/>
              </a:lnSpc>
              <a:buClr>
                <a:srgbClr val="973735"/>
              </a:buClr>
              <a:buSzPct val="50000"/>
              <a:buFont typeface="Wingdings" pitchFamily="2" charset="2"/>
              <a:buChar char="u"/>
              <a:defRPr/>
            </a:pPr>
            <a:r>
              <a:rPr lang="en-US"/>
              <a:t>Demo about Directory and DirectoryInfo class</a:t>
            </a:r>
          </a:p>
          <a:p>
            <a:pPr marL="342900" indent="-342900" algn="just">
              <a:lnSpc>
                <a:spcPct val="100000"/>
              </a:lnSpc>
              <a:buClr>
                <a:srgbClr val="973735"/>
              </a:buClr>
              <a:buSzPct val="50000"/>
              <a:buFont typeface="Wingdings" pitchFamily="2" charset="2"/>
              <a:buChar char="u"/>
              <a:defRPr/>
            </a:pPr>
            <a:r>
              <a:rPr lang="en-US"/>
              <a:t>Demo create Text file using StreamReader and StreamWriter</a:t>
            </a:r>
          </a:p>
          <a:p>
            <a:pPr marL="342900" indent="-342900" algn="just">
              <a:lnSpc>
                <a:spcPct val="100000"/>
              </a:lnSpc>
              <a:buClr>
                <a:srgbClr val="973735"/>
              </a:buClr>
              <a:buSzPct val="50000"/>
              <a:buFont typeface="Wingdings" pitchFamily="2" charset="2"/>
              <a:buChar char="u"/>
              <a:defRPr/>
            </a:pPr>
            <a:r>
              <a:rPr lang="en-US"/>
              <a:t>Demo create Binary file using BinaryWriter and BinaryReader</a:t>
            </a:r>
            <a:endParaRPr lang="en-US" dirty="0"/>
          </a:p>
        </p:txBody>
      </p:sp>
      <p:sp>
        <p:nvSpPr>
          <p:cNvPr id="7" name="Date Placeholder 3">
            <a:extLst>
              <a:ext uri="{FF2B5EF4-FFF2-40B4-BE49-F238E27FC236}">
                <a16:creationId xmlns:a16="http://schemas.microsoft.com/office/drawing/2014/main" id="{1753D172-1458-45E9-A4F8-A4845EE390FE}"/>
              </a:ext>
            </a:extLst>
          </p:cNvPr>
          <p:cNvSpPr>
            <a:spLocks noGrp="1"/>
          </p:cNvSpPr>
          <p:nvPr>
            <p:ph type="dt" sz="half" idx="10"/>
          </p:nvPr>
        </p:nvSpPr>
        <p:spPr>
          <a:xfrm>
            <a:off x="838200" y="6487317"/>
            <a:ext cx="2743200" cy="365125"/>
          </a:xfrm>
        </p:spPr>
        <p:txBody>
          <a:bodyPr/>
          <a:lstStyle>
            <a:lvl1pPr>
              <a:defRPr>
                <a:solidFill>
                  <a:schemeClr val="tx1"/>
                </a:solidFill>
              </a:defRPr>
            </a:lvl1pPr>
          </a:lstStyle>
          <a:p>
            <a:fld id="{5DCBE059-FAD7-45D8-8659-E6542D1E092D}" type="datetime1">
              <a:rPr lang="en-US" smtClean="0"/>
              <a:t>7/13/2024</a:t>
            </a:fld>
            <a:endParaRPr lang="en-US" dirty="0"/>
          </a:p>
        </p:txBody>
      </p:sp>
      <p:sp>
        <p:nvSpPr>
          <p:cNvPr id="8" name="Rectangle 2">
            <a:extLst>
              <a:ext uri="{FF2B5EF4-FFF2-40B4-BE49-F238E27FC236}">
                <a16:creationId xmlns:a16="http://schemas.microsoft.com/office/drawing/2014/main" id="{FF319F56-852E-4ECD-A4BE-395F066166B4}"/>
              </a:ext>
            </a:extLst>
          </p:cNvPr>
          <p:cNvSpPr>
            <a:spLocks noGrp="1"/>
          </p:cNvSpPr>
          <p:nvPr>
            <p:ph type="title"/>
          </p:nvPr>
        </p:nvSpPr>
        <p:spPr>
          <a:xfrm>
            <a:off x="265043" y="643834"/>
            <a:ext cx="10806720" cy="748017"/>
          </a:xfrm>
        </p:spPr>
        <p:txBody>
          <a:bodyPr>
            <a:normAutofit/>
          </a:bodyPr>
          <a:lstStyle/>
          <a:p>
            <a:r>
              <a:rPr lang="en-US" sz="4000" b="1" dirty="0"/>
              <a:t>Objectives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7449587" cy="575433"/>
          </a:xfrm>
        </p:spPr>
        <p:txBody>
          <a:bodyPr>
            <a:normAutofit fontScale="90000"/>
          </a:bodyPr>
          <a:lstStyle/>
          <a:p>
            <a:r>
              <a:rPr lang="en-US" b="1"/>
              <a:t>Understanding the Files</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3</a:t>
            </a:fld>
            <a:endParaRPr lang="en-US" dirty="0"/>
          </a:p>
        </p:txBody>
      </p:sp>
      <p:sp>
        <p:nvSpPr>
          <p:cNvPr id="9" name="Content Placeholder 2">
            <a:extLst>
              <a:ext uri="{FF2B5EF4-FFF2-40B4-BE49-F238E27FC236}">
                <a16:creationId xmlns:a16="http://schemas.microsoft.com/office/drawing/2014/main" id="{F155E5D3-14DF-4AF4-A99B-D6586D394F11}"/>
              </a:ext>
            </a:extLst>
          </p:cNvPr>
          <p:cNvSpPr>
            <a:spLocks noGrp="1"/>
          </p:cNvSpPr>
          <p:nvPr>
            <p:ph idx="1"/>
          </p:nvPr>
        </p:nvSpPr>
        <p:spPr>
          <a:xfrm>
            <a:off x="0" y="1407905"/>
            <a:ext cx="12100560" cy="2860696"/>
          </a:xfrm>
        </p:spPr>
        <p:txBody>
          <a:bodyPr>
            <a:noAutofit/>
          </a:bodyPr>
          <a:lstStyle/>
          <a:p>
            <a:pPr marL="342900" lvl="1" indent="-342900" algn="just">
              <a:lnSpc>
                <a:spcPct val="10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A file is a collection of bytes stored on a secondary storage device, which is generally a disk of some kind</a:t>
            </a:r>
          </a:p>
          <a:p>
            <a:pPr marL="342900" lvl="1" indent="-342900" algn="just">
              <a:lnSpc>
                <a:spcPct val="10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A </a:t>
            </a:r>
            <a:r>
              <a:rPr lang="en-US" sz="2600" dirty="0">
                <a:latin typeface="+mj-lt"/>
              </a:rPr>
              <a:t>memory location that has </a:t>
            </a:r>
            <a:r>
              <a:rPr lang="en-US" sz="2600">
                <a:latin typeface="+mj-lt"/>
              </a:rPr>
              <a:t>a name</a:t>
            </a:r>
            <a:endParaRPr lang="en-US" sz="2600" dirty="0">
              <a:latin typeface="+mj-lt"/>
            </a:endParaRPr>
          </a:p>
          <a:p>
            <a:pPr marL="342900" lvl="1" indent="-342900" algn="just">
              <a:lnSpc>
                <a:spcPct val="100000"/>
              </a:lnSpc>
              <a:spcBef>
                <a:spcPts val="300"/>
              </a:spcBef>
              <a:spcAft>
                <a:spcPts val="300"/>
              </a:spcAft>
              <a:buClr>
                <a:srgbClr val="973735"/>
              </a:buClr>
              <a:buSzPct val="50000"/>
              <a:buFont typeface="Wingdings" pitchFamily="2" charset="2"/>
              <a:buChar char="u"/>
              <a:tabLst>
                <a:tab pos="241300" algn="l"/>
              </a:tabLst>
              <a:defRPr/>
            </a:pPr>
            <a:r>
              <a:rPr lang="en-US" sz="2600" dirty="0">
                <a:latin typeface="+mj-lt"/>
              </a:rPr>
              <a:t>File can be used as an extra memory to store a large amount of data temporarily or permanently</a:t>
            </a:r>
          </a:p>
          <a:p>
            <a:pPr marL="342900" lvl="1" indent="-342900" algn="just">
              <a:lnSpc>
                <a:spcPct val="100000"/>
              </a:lnSpc>
              <a:spcBef>
                <a:spcPts val="300"/>
              </a:spcBef>
              <a:spcAft>
                <a:spcPts val="300"/>
              </a:spcAft>
              <a:buClr>
                <a:srgbClr val="973735"/>
              </a:buClr>
              <a:buSzPct val="50000"/>
              <a:buFont typeface="Wingdings" pitchFamily="2" charset="2"/>
              <a:buChar char="u"/>
              <a:tabLst>
                <a:tab pos="241300" algn="l"/>
              </a:tabLst>
              <a:defRPr/>
            </a:pPr>
            <a:r>
              <a:rPr lang="en-US" sz="2600" dirty="0">
                <a:latin typeface="+mj-lt"/>
              </a:rPr>
              <a:t>Each file ends with a marking-end-character or a number of bytes</a:t>
            </a:r>
          </a:p>
        </p:txBody>
      </p:sp>
      <p:pic>
        <p:nvPicPr>
          <p:cNvPr id="10" name="Picture 9" descr="endò file">
            <a:extLst>
              <a:ext uri="{FF2B5EF4-FFF2-40B4-BE49-F238E27FC236}">
                <a16:creationId xmlns:a16="http://schemas.microsoft.com/office/drawing/2014/main" id="{173C9E3D-2B01-4834-95BD-CA2AA00C2AE9}"/>
              </a:ext>
            </a:extLst>
          </p:cNvPr>
          <p:cNvPicPr>
            <a:picLocks noChangeAspect="1" noChangeArrowheads="1"/>
          </p:cNvPicPr>
          <p:nvPr/>
        </p:nvPicPr>
        <p:blipFill>
          <a:blip r:embed="rId3"/>
          <a:srcRect/>
          <a:stretch>
            <a:fillRect/>
          </a:stretch>
        </p:blipFill>
        <p:spPr bwMode="auto">
          <a:xfrm>
            <a:off x="838200" y="4647892"/>
            <a:ext cx="10330792" cy="1343003"/>
          </a:xfrm>
          <a:prstGeom prst="rect">
            <a:avLst/>
          </a:prstGeom>
          <a:noFill/>
        </p:spPr>
      </p:pic>
    </p:spTree>
    <p:extLst>
      <p:ext uri="{BB962C8B-B14F-4D97-AF65-F5344CB8AC3E}">
        <p14:creationId xmlns:p14="http://schemas.microsoft.com/office/powerpoint/2010/main" val="2902607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4</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378474"/>
            <a:ext cx="12192000" cy="1218539"/>
          </a:xfrm>
          <a:prstGeom prst="rect">
            <a:avLst/>
          </a:prstGeom>
          <a:noFill/>
        </p:spPr>
        <p:txBody>
          <a:bodyPr wrap="square">
            <a:spAutoFit/>
          </a:bodyPr>
          <a:lstStyle/>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b="1">
                <a:latin typeface="+mj-lt"/>
              </a:rPr>
              <a:t>Stream</a:t>
            </a:r>
            <a:r>
              <a:rPr lang="en-US" sz="2600">
                <a:latin typeface="+mj-lt"/>
              </a:rPr>
              <a:t>: a chunk of data (sequence of bytes) containing information being passed through to store in memory storage</a:t>
            </a:r>
            <a:endParaRPr lang="en-US" sz="2600" dirty="0">
              <a:latin typeface="+mj-lt"/>
            </a:endParaRPr>
          </a:p>
        </p:txBody>
      </p:sp>
      <p:sp>
        <p:nvSpPr>
          <p:cNvPr id="9" name="Title 1">
            <a:extLst>
              <a:ext uri="{FF2B5EF4-FFF2-40B4-BE49-F238E27FC236}">
                <a16:creationId xmlns:a16="http://schemas.microsoft.com/office/drawing/2014/main" id="{ADE2317B-3933-4A0A-8B0F-CD4B0F2CB0C3}"/>
              </a:ext>
            </a:extLst>
          </p:cNvPr>
          <p:cNvSpPr txBox="1">
            <a:spLocks/>
          </p:cNvSpPr>
          <p:nvPr/>
        </p:nvSpPr>
        <p:spPr>
          <a:xfrm>
            <a:off x="275516" y="717906"/>
            <a:ext cx="7449587" cy="575433"/>
          </a:xfrm>
          <a:prstGeom prst="rect">
            <a:avLst/>
          </a:prstGeom>
          <a:solidFill>
            <a:schemeClr val="bg1"/>
          </a:solidFill>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Understanding the Files</a:t>
            </a:r>
            <a:endParaRPr lang="en-US" dirty="0"/>
          </a:p>
        </p:txBody>
      </p:sp>
      <p:pic>
        <p:nvPicPr>
          <p:cNvPr id="8" name="Picture 7">
            <a:extLst>
              <a:ext uri="{FF2B5EF4-FFF2-40B4-BE49-F238E27FC236}">
                <a16:creationId xmlns:a16="http://schemas.microsoft.com/office/drawing/2014/main" id="{C1D1257B-E30E-4BD3-8054-26579DD87CE2}"/>
              </a:ext>
            </a:extLst>
          </p:cNvPr>
          <p:cNvPicPr>
            <a:picLocks noChangeAspect="1"/>
          </p:cNvPicPr>
          <p:nvPr/>
        </p:nvPicPr>
        <p:blipFill>
          <a:blip r:embed="rId3"/>
          <a:stretch>
            <a:fillRect/>
          </a:stretch>
        </p:blipFill>
        <p:spPr>
          <a:xfrm>
            <a:off x="2013969" y="2953641"/>
            <a:ext cx="8472049" cy="3382613"/>
          </a:xfrm>
          <a:prstGeom prst="rect">
            <a:avLst/>
          </a:prstGeom>
        </p:spPr>
      </p:pic>
    </p:spTree>
    <p:extLst>
      <p:ext uri="{BB962C8B-B14F-4D97-AF65-F5344CB8AC3E}">
        <p14:creationId xmlns:p14="http://schemas.microsoft.com/office/powerpoint/2010/main" val="1450770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9394002" cy="575433"/>
          </a:xfrm>
        </p:spPr>
        <p:txBody>
          <a:bodyPr>
            <a:normAutofit fontScale="90000"/>
          </a:bodyPr>
          <a:lstStyle/>
          <a:p>
            <a:r>
              <a:rPr lang="en-US" b="1"/>
              <a:t>Exploring the System.IO Namespace</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5</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542458"/>
            <a:ext cx="12192000" cy="4234749"/>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dirty="0">
                <a:latin typeface="+mj-lt"/>
              </a:rPr>
              <a:t>In the .NET, the </a:t>
            </a:r>
            <a:r>
              <a:rPr lang="en-US" sz="2600" b="1" dirty="0">
                <a:latin typeface="+mj-lt"/>
              </a:rPr>
              <a:t>System.IO </a:t>
            </a:r>
            <a:r>
              <a:rPr lang="en-US" sz="2600" dirty="0">
                <a:latin typeface="+mj-lt"/>
              </a:rPr>
              <a:t>namespace is the region of the base class libraries devoted to file-based (and memory-based) input and output (I/O) services</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b="1" dirty="0">
                <a:latin typeface="+mj-lt"/>
              </a:rPr>
              <a:t>System.IO </a:t>
            </a:r>
            <a:r>
              <a:rPr lang="en-US" sz="2600" dirty="0">
                <a:latin typeface="+mj-lt"/>
              </a:rPr>
              <a:t>defines a set of classes, interfaces, enumerations, structures, and delegates, most of which we can find in mscorlib.dll</a:t>
            </a:r>
          </a:p>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dirty="0">
                <a:latin typeface="+mj-lt"/>
              </a:rPr>
              <a:t>The types contained within mscorlib.dll, the System.dll assembly defines additional members of the </a:t>
            </a:r>
            <a:r>
              <a:rPr lang="en-US" sz="2600" b="1" dirty="0">
                <a:latin typeface="+mj-lt"/>
              </a:rPr>
              <a:t>System.IO </a:t>
            </a:r>
            <a:r>
              <a:rPr lang="en-US" sz="2600" dirty="0">
                <a:latin typeface="+mj-lt"/>
              </a:rPr>
              <a:t>namespace</a:t>
            </a:r>
          </a:p>
        </p:txBody>
      </p:sp>
    </p:spTree>
    <p:extLst>
      <p:ext uri="{BB962C8B-B14F-4D97-AF65-F5344CB8AC3E}">
        <p14:creationId xmlns:p14="http://schemas.microsoft.com/office/powerpoint/2010/main" val="2184061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6</a:t>
            </a:fld>
            <a:endParaRPr lang="en-US" dirty="0"/>
          </a:p>
        </p:txBody>
      </p:sp>
      <p:sp>
        <p:nvSpPr>
          <p:cNvPr id="8" name="Title 1">
            <a:extLst>
              <a:ext uri="{FF2B5EF4-FFF2-40B4-BE49-F238E27FC236}">
                <a16:creationId xmlns:a16="http://schemas.microsoft.com/office/drawing/2014/main" id="{3223392B-E9B9-4FEB-A3E9-2D3FAE77E982}"/>
              </a:ext>
            </a:extLst>
          </p:cNvPr>
          <p:cNvSpPr>
            <a:spLocks noGrp="1"/>
          </p:cNvSpPr>
          <p:nvPr>
            <p:ph type="title"/>
          </p:nvPr>
        </p:nvSpPr>
        <p:spPr>
          <a:xfrm>
            <a:off x="275516" y="687426"/>
            <a:ext cx="9394002" cy="575433"/>
          </a:xfrm>
        </p:spPr>
        <p:txBody>
          <a:bodyPr>
            <a:normAutofit fontScale="90000"/>
          </a:bodyPr>
          <a:lstStyle/>
          <a:p>
            <a:r>
              <a:rPr lang="en-US" b="1"/>
              <a:t>Exploring the System.IO Namespace</a:t>
            </a:r>
            <a:endParaRPr lang="en-US" dirty="0"/>
          </a:p>
        </p:txBody>
      </p:sp>
      <p:graphicFrame>
        <p:nvGraphicFramePr>
          <p:cNvPr id="9" name="Table 8">
            <a:extLst>
              <a:ext uri="{FF2B5EF4-FFF2-40B4-BE49-F238E27FC236}">
                <a16:creationId xmlns:a16="http://schemas.microsoft.com/office/drawing/2014/main" id="{C0559A84-A15D-433B-A878-528472142A03}"/>
              </a:ext>
            </a:extLst>
          </p:cNvPr>
          <p:cNvGraphicFramePr>
            <a:graphicFrameLocks noGrp="1"/>
          </p:cNvGraphicFramePr>
          <p:nvPr>
            <p:extLst>
              <p:ext uri="{D42A27DB-BD31-4B8C-83A1-F6EECF244321}">
                <p14:modId xmlns:p14="http://schemas.microsoft.com/office/powerpoint/2010/main" val="4221822378"/>
              </p:ext>
            </p:extLst>
          </p:nvPr>
        </p:nvGraphicFramePr>
        <p:xfrm>
          <a:off x="109368" y="1585971"/>
          <a:ext cx="11930231" cy="4791764"/>
        </p:xfrm>
        <a:graphic>
          <a:graphicData uri="http://schemas.openxmlformats.org/drawingml/2006/table">
            <a:tbl>
              <a:tblPr firstRow="1" bandRow="1">
                <a:tableStyleId>{5C22544A-7EE6-4342-B048-85BDC9FD1C3A}</a:tableStyleId>
              </a:tblPr>
              <a:tblGrid>
                <a:gridCol w="3193230">
                  <a:extLst>
                    <a:ext uri="{9D8B030D-6E8A-4147-A177-3AD203B41FA5}">
                      <a16:colId xmlns:a16="http://schemas.microsoft.com/office/drawing/2014/main" val="20000"/>
                    </a:ext>
                  </a:extLst>
                </a:gridCol>
                <a:gridCol w="8737001">
                  <a:extLst>
                    <a:ext uri="{9D8B030D-6E8A-4147-A177-3AD203B41FA5}">
                      <a16:colId xmlns:a16="http://schemas.microsoft.com/office/drawing/2014/main" val="20001"/>
                    </a:ext>
                  </a:extLst>
                </a:gridCol>
              </a:tblGrid>
              <a:tr h="676964">
                <a:tc>
                  <a:txBody>
                    <a:bodyPr/>
                    <a:lstStyle/>
                    <a:p>
                      <a:r>
                        <a:rPr lang="en-US" sz="2000"/>
                        <a:t>Class </a:t>
                      </a:r>
                      <a:r>
                        <a:rPr lang="en-US" sz="2000" dirty="0"/>
                        <a:t>Type</a:t>
                      </a:r>
                    </a:p>
                  </a:txBody>
                  <a:tcPr/>
                </a:tc>
                <a:tc>
                  <a:txBody>
                    <a:bodyPr/>
                    <a:lstStyle/>
                    <a:p>
                      <a:r>
                        <a:rPr lang="en-US" sz="2000" dirty="0"/>
                        <a:t>Description</a:t>
                      </a:r>
                    </a:p>
                  </a:txBody>
                  <a:tcPr/>
                </a:tc>
                <a:extLst>
                  <a:ext uri="{0D108BD9-81ED-4DB2-BD59-A6C34878D82A}">
                    <a16:rowId xmlns:a16="http://schemas.microsoft.com/office/drawing/2014/main" val="10000"/>
                  </a:ext>
                </a:extLst>
              </a:tr>
              <a:tr h="676964">
                <a:tc>
                  <a:txBody>
                    <a:bodyPr/>
                    <a:lstStyle/>
                    <a:p>
                      <a:r>
                        <a:rPr lang="en-US" sz="2000" dirty="0" err="1"/>
                        <a:t>BinaryReader</a:t>
                      </a:r>
                      <a:endParaRPr lang="en-US" sz="2000" dirty="0"/>
                    </a:p>
                    <a:p>
                      <a:r>
                        <a:rPr lang="en-US" sz="2000" dirty="0" err="1"/>
                        <a:t>BinaryWriter</a:t>
                      </a:r>
                      <a:endParaRPr lang="en-US" sz="2000" dirty="0"/>
                    </a:p>
                  </a:txBody>
                  <a:tcPr/>
                </a:tc>
                <a:tc>
                  <a:txBody>
                    <a:bodyPr/>
                    <a:lstStyle/>
                    <a:p>
                      <a:r>
                        <a:rPr lang="en-US" sz="2000" dirty="0"/>
                        <a:t>These types allow to store and retrieve primitive data types (integers, Booleans, strings, and whatnot) as a </a:t>
                      </a:r>
                      <a:r>
                        <a:rPr lang="en-US" sz="2000"/>
                        <a:t>binary value</a:t>
                      </a:r>
                      <a:endParaRPr lang="en-US" sz="2000" dirty="0"/>
                    </a:p>
                  </a:txBody>
                  <a:tcPr/>
                </a:tc>
                <a:extLst>
                  <a:ext uri="{0D108BD9-81ED-4DB2-BD59-A6C34878D82A}">
                    <a16:rowId xmlns:a16="http://schemas.microsoft.com/office/drawing/2014/main" val="10001"/>
                  </a:ext>
                </a:extLst>
              </a:tr>
              <a:tr h="676964">
                <a:tc>
                  <a:txBody>
                    <a:bodyPr/>
                    <a:lstStyle/>
                    <a:p>
                      <a:r>
                        <a:rPr lang="en-US" sz="2000" dirty="0" err="1"/>
                        <a:t>BufferedStream</a:t>
                      </a:r>
                      <a:endParaRPr lang="en-US" sz="2000" dirty="0"/>
                    </a:p>
                  </a:txBody>
                  <a:tcPr/>
                </a:tc>
                <a:tc>
                  <a:txBody>
                    <a:bodyPr/>
                    <a:lstStyle/>
                    <a:p>
                      <a:r>
                        <a:rPr lang="en-US" sz="2000" dirty="0"/>
                        <a:t>This type provides </a:t>
                      </a:r>
                      <a:r>
                        <a:rPr lang="en-US" sz="2000" u="none" dirty="0"/>
                        <a:t>temporary storage </a:t>
                      </a:r>
                      <a:r>
                        <a:rPr lang="en-US" sz="2000" dirty="0"/>
                        <a:t>for a stream of bytes that may be committed to </a:t>
                      </a:r>
                      <a:r>
                        <a:rPr lang="en-US" sz="2000" u="none" dirty="0"/>
                        <a:t>storage at a later time</a:t>
                      </a:r>
                    </a:p>
                  </a:txBody>
                  <a:tcPr/>
                </a:tc>
                <a:extLst>
                  <a:ext uri="{0D108BD9-81ED-4DB2-BD59-A6C34878D82A}">
                    <a16:rowId xmlns:a16="http://schemas.microsoft.com/office/drawing/2014/main" val="10002"/>
                  </a:ext>
                </a:extLst>
              </a:tr>
              <a:tr h="967092">
                <a:tc>
                  <a:txBody>
                    <a:bodyPr/>
                    <a:lstStyle/>
                    <a:p>
                      <a:r>
                        <a:rPr lang="en-US" sz="2000" dirty="0"/>
                        <a:t>Directory</a:t>
                      </a:r>
                    </a:p>
                    <a:p>
                      <a:r>
                        <a:rPr lang="en-US" sz="2000" dirty="0" err="1"/>
                        <a:t>DirectoryInfo</a:t>
                      </a:r>
                      <a:endParaRPr lang="en-US" sz="2000" dirty="0"/>
                    </a:p>
                  </a:txBody>
                  <a:tcPr/>
                </a:tc>
                <a:tc>
                  <a:txBody>
                    <a:bodyPr/>
                    <a:lstStyle/>
                    <a:p>
                      <a:r>
                        <a:rPr lang="en-US" sz="2000"/>
                        <a:t>Use these classes to manipulate a machine’s directory structure. The Directory type exposes functionality using static members, while the DirectoryInfo type exposes similar functionality from a valid object reference</a:t>
                      </a:r>
                      <a:endParaRPr lang="en-US" sz="2000" u="sng" dirty="0"/>
                    </a:p>
                  </a:txBody>
                  <a:tcPr/>
                </a:tc>
                <a:extLst>
                  <a:ext uri="{0D108BD9-81ED-4DB2-BD59-A6C34878D82A}">
                    <a16:rowId xmlns:a16="http://schemas.microsoft.com/office/drawing/2014/main" val="10003"/>
                  </a:ext>
                </a:extLst>
              </a:tr>
              <a:tr h="676964">
                <a:tc>
                  <a:txBody>
                    <a:bodyPr/>
                    <a:lstStyle/>
                    <a:p>
                      <a:r>
                        <a:rPr lang="en-US" sz="2000" dirty="0" err="1"/>
                        <a:t>DriveInfo</a:t>
                      </a:r>
                      <a:endParaRPr lang="en-US" sz="2000" dirty="0"/>
                    </a:p>
                  </a:txBody>
                  <a:tcPr/>
                </a:tc>
                <a:tc>
                  <a:txBody>
                    <a:bodyPr/>
                    <a:lstStyle/>
                    <a:p>
                      <a:r>
                        <a:rPr lang="en-US" sz="2000"/>
                        <a:t>This class provides detailed information regarding the drives that a given machine uses</a:t>
                      </a:r>
                      <a:endParaRPr lang="en-US" sz="2000" dirty="0"/>
                    </a:p>
                  </a:txBody>
                  <a:tcPr/>
                </a:tc>
                <a:extLst>
                  <a:ext uri="{0D108BD9-81ED-4DB2-BD59-A6C34878D82A}">
                    <a16:rowId xmlns:a16="http://schemas.microsoft.com/office/drawing/2014/main" val="10004"/>
                  </a:ext>
                </a:extLst>
              </a:tr>
              <a:tr h="967092">
                <a:tc>
                  <a:txBody>
                    <a:bodyPr/>
                    <a:lstStyle/>
                    <a:p>
                      <a:r>
                        <a:rPr lang="en-US" sz="2000" dirty="0"/>
                        <a:t>File</a:t>
                      </a:r>
                    </a:p>
                    <a:p>
                      <a:r>
                        <a:rPr lang="en-US" sz="2000" dirty="0" err="1"/>
                        <a:t>FileInfo</a:t>
                      </a:r>
                      <a:endParaRPr lang="en-US" sz="2000" dirty="0"/>
                    </a:p>
                  </a:txBody>
                  <a:tcPr/>
                </a:tc>
                <a:tc>
                  <a:txBody>
                    <a:bodyPr/>
                    <a:lstStyle/>
                    <a:p>
                      <a:r>
                        <a:rPr lang="en-US" sz="2000"/>
                        <a:t>Use these classes to manipulate a machine’s set of files. The File type exposes functionality using static members, while the FileInfo type exposes similar functionality from a valid object reference</a:t>
                      </a:r>
                      <a:endParaRPr lang="en-US" sz="20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90462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7</a:t>
            </a:fld>
            <a:endParaRPr lang="en-US" dirty="0"/>
          </a:p>
        </p:txBody>
      </p:sp>
      <p:sp>
        <p:nvSpPr>
          <p:cNvPr id="8" name="Title 1">
            <a:extLst>
              <a:ext uri="{FF2B5EF4-FFF2-40B4-BE49-F238E27FC236}">
                <a16:creationId xmlns:a16="http://schemas.microsoft.com/office/drawing/2014/main" id="{3223392B-E9B9-4FEB-A3E9-2D3FAE77E982}"/>
              </a:ext>
            </a:extLst>
          </p:cNvPr>
          <p:cNvSpPr>
            <a:spLocks noGrp="1"/>
          </p:cNvSpPr>
          <p:nvPr>
            <p:ph type="title"/>
          </p:nvPr>
        </p:nvSpPr>
        <p:spPr>
          <a:xfrm>
            <a:off x="275516" y="687426"/>
            <a:ext cx="9394002" cy="575433"/>
          </a:xfrm>
        </p:spPr>
        <p:txBody>
          <a:bodyPr>
            <a:normAutofit fontScale="90000"/>
          </a:bodyPr>
          <a:lstStyle/>
          <a:p>
            <a:r>
              <a:rPr lang="en-US" b="1"/>
              <a:t>Exploring the System.IO Namespace</a:t>
            </a:r>
            <a:endParaRPr lang="en-US" dirty="0"/>
          </a:p>
        </p:txBody>
      </p:sp>
      <p:graphicFrame>
        <p:nvGraphicFramePr>
          <p:cNvPr id="9" name="Table 8">
            <a:extLst>
              <a:ext uri="{FF2B5EF4-FFF2-40B4-BE49-F238E27FC236}">
                <a16:creationId xmlns:a16="http://schemas.microsoft.com/office/drawing/2014/main" id="{C0559A84-A15D-433B-A878-528472142A03}"/>
              </a:ext>
            </a:extLst>
          </p:cNvPr>
          <p:cNvGraphicFramePr>
            <a:graphicFrameLocks noGrp="1"/>
          </p:cNvGraphicFramePr>
          <p:nvPr>
            <p:extLst>
              <p:ext uri="{D42A27DB-BD31-4B8C-83A1-F6EECF244321}">
                <p14:modId xmlns:p14="http://schemas.microsoft.com/office/powerpoint/2010/main" val="346037927"/>
              </p:ext>
            </p:extLst>
          </p:nvPr>
        </p:nvGraphicFramePr>
        <p:xfrm>
          <a:off x="189453" y="1536477"/>
          <a:ext cx="11837595" cy="4907280"/>
        </p:xfrm>
        <a:graphic>
          <a:graphicData uri="http://schemas.openxmlformats.org/drawingml/2006/table">
            <a:tbl>
              <a:tblPr firstRow="1" bandRow="1">
                <a:tableStyleId>{5C22544A-7EE6-4342-B048-85BDC9FD1C3A}</a:tableStyleId>
              </a:tblPr>
              <a:tblGrid>
                <a:gridCol w="2758140">
                  <a:extLst>
                    <a:ext uri="{9D8B030D-6E8A-4147-A177-3AD203B41FA5}">
                      <a16:colId xmlns:a16="http://schemas.microsoft.com/office/drawing/2014/main" val="20000"/>
                    </a:ext>
                  </a:extLst>
                </a:gridCol>
                <a:gridCol w="9079455">
                  <a:extLst>
                    <a:ext uri="{9D8B030D-6E8A-4147-A177-3AD203B41FA5}">
                      <a16:colId xmlns:a16="http://schemas.microsoft.com/office/drawing/2014/main" val="20001"/>
                    </a:ext>
                  </a:extLst>
                </a:gridCol>
              </a:tblGrid>
              <a:tr h="370840">
                <a:tc>
                  <a:txBody>
                    <a:bodyPr/>
                    <a:lstStyle/>
                    <a:p>
                      <a:r>
                        <a:rPr lang="en-US" sz="2000"/>
                        <a:t>Class </a:t>
                      </a:r>
                      <a:r>
                        <a:rPr lang="en-US" sz="2000" dirty="0"/>
                        <a:t>Type</a:t>
                      </a:r>
                    </a:p>
                  </a:txBody>
                  <a:tcPr/>
                </a:tc>
                <a:tc>
                  <a:txBody>
                    <a:bodyPr/>
                    <a:lstStyle/>
                    <a:p>
                      <a:r>
                        <a:rPr lang="en-US" sz="2000" dirty="0"/>
                        <a:t>Description</a:t>
                      </a:r>
                    </a:p>
                  </a:txBody>
                  <a:tcPr/>
                </a:tc>
                <a:extLst>
                  <a:ext uri="{0D108BD9-81ED-4DB2-BD59-A6C34878D82A}">
                    <a16:rowId xmlns:a16="http://schemas.microsoft.com/office/drawing/2014/main" val="10000"/>
                  </a:ext>
                </a:extLst>
              </a:tr>
              <a:tr h="370840">
                <a:tc>
                  <a:txBody>
                    <a:bodyPr/>
                    <a:lstStyle/>
                    <a:p>
                      <a:r>
                        <a:rPr lang="en-US" sz="2000"/>
                        <a:t>FileStream</a:t>
                      </a:r>
                      <a:endParaRPr lang="en-US" sz="2000" dirty="0"/>
                    </a:p>
                  </a:txBody>
                  <a:tcPr/>
                </a:tc>
                <a:tc>
                  <a:txBody>
                    <a:bodyPr/>
                    <a:lstStyle/>
                    <a:p>
                      <a:r>
                        <a:rPr lang="en-US" sz="2000"/>
                        <a:t>This class gives you random file access (e.g., seeking capabilities) with data represented as a stream of bytes</a:t>
                      </a:r>
                      <a:endParaRPr lang="en-US" sz="2000" dirty="0"/>
                    </a:p>
                  </a:txBody>
                  <a:tcPr/>
                </a:tc>
                <a:extLst>
                  <a:ext uri="{0D108BD9-81ED-4DB2-BD59-A6C34878D82A}">
                    <a16:rowId xmlns:a16="http://schemas.microsoft.com/office/drawing/2014/main" val="10001"/>
                  </a:ext>
                </a:extLst>
              </a:tr>
              <a:tr h="370840">
                <a:tc>
                  <a:txBody>
                    <a:bodyPr/>
                    <a:lstStyle/>
                    <a:p>
                      <a:r>
                        <a:rPr lang="en-US" sz="2000"/>
                        <a:t>FileSystemWatcher</a:t>
                      </a:r>
                      <a:endParaRPr lang="en-US" sz="2000" dirty="0"/>
                    </a:p>
                  </a:txBody>
                  <a:tcPr/>
                </a:tc>
                <a:tc>
                  <a:txBody>
                    <a:bodyPr/>
                    <a:lstStyle/>
                    <a:p>
                      <a:r>
                        <a:rPr lang="en-US" sz="2000"/>
                        <a:t>This class allows you to monitor the modification of external files in a specified directory</a:t>
                      </a:r>
                      <a:endParaRPr lang="en-US" sz="2000" u="sng" dirty="0"/>
                    </a:p>
                  </a:txBody>
                  <a:tcPr/>
                </a:tc>
                <a:extLst>
                  <a:ext uri="{0D108BD9-81ED-4DB2-BD59-A6C34878D82A}">
                    <a16:rowId xmlns:a16="http://schemas.microsoft.com/office/drawing/2014/main" val="10002"/>
                  </a:ext>
                </a:extLst>
              </a:tr>
              <a:tr h="370840">
                <a:tc>
                  <a:txBody>
                    <a:bodyPr/>
                    <a:lstStyle/>
                    <a:p>
                      <a:r>
                        <a:rPr lang="en-US" sz="2000"/>
                        <a:t>MemoryStream</a:t>
                      </a:r>
                      <a:endParaRPr lang="en-US" sz="2000" dirty="0"/>
                    </a:p>
                  </a:txBody>
                  <a:tcPr/>
                </a:tc>
                <a:tc>
                  <a:txBody>
                    <a:bodyPr/>
                    <a:lstStyle/>
                    <a:p>
                      <a:r>
                        <a:rPr lang="en-US" sz="2000"/>
                        <a:t>This class provides random access to streamed data stored in memory rather than in a physical file</a:t>
                      </a:r>
                      <a:endParaRPr lang="en-US" sz="2000" u="sng" dirty="0"/>
                    </a:p>
                  </a:txBody>
                  <a:tcPr/>
                </a:tc>
                <a:extLst>
                  <a:ext uri="{0D108BD9-81ED-4DB2-BD59-A6C34878D82A}">
                    <a16:rowId xmlns:a16="http://schemas.microsoft.com/office/drawing/2014/main" val="10003"/>
                  </a:ext>
                </a:extLst>
              </a:tr>
              <a:tr h="370840">
                <a:tc>
                  <a:txBody>
                    <a:bodyPr/>
                    <a:lstStyle/>
                    <a:p>
                      <a:r>
                        <a:rPr lang="en-US" sz="2000"/>
                        <a:t>Path</a:t>
                      </a:r>
                      <a:endParaRPr lang="en-US" sz="2000" dirty="0"/>
                    </a:p>
                  </a:txBody>
                  <a:tcPr/>
                </a:tc>
                <a:tc>
                  <a:txBody>
                    <a:bodyPr/>
                    <a:lstStyle/>
                    <a:p>
                      <a:r>
                        <a:rPr lang="en-US" sz="2000"/>
                        <a:t>This class performs operations on System.String types that contain file or directory path information in a platform-neutral manner</a:t>
                      </a:r>
                      <a:endParaRPr lang="en-US" sz="2000" dirty="0"/>
                    </a:p>
                  </a:txBody>
                  <a:tcPr/>
                </a:tc>
                <a:extLst>
                  <a:ext uri="{0D108BD9-81ED-4DB2-BD59-A6C34878D82A}">
                    <a16:rowId xmlns:a16="http://schemas.microsoft.com/office/drawing/2014/main" val="10004"/>
                  </a:ext>
                </a:extLst>
              </a:tr>
              <a:tr h="370840">
                <a:tc>
                  <a:txBody>
                    <a:bodyPr/>
                    <a:lstStyle/>
                    <a:p>
                      <a:r>
                        <a:rPr lang="en-US" sz="2000"/>
                        <a:t>StreamWriter StreamReader</a:t>
                      </a:r>
                      <a:endParaRPr lang="en-US" sz="2000" dirty="0"/>
                    </a:p>
                  </a:txBody>
                  <a:tcPr/>
                </a:tc>
                <a:tc>
                  <a:txBody>
                    <a:bodyPr/>
                    <a:lstStyle/>
                    <a:p>
                      <a:r>
                        <a:rPr lang="en-US" sz="2000"/>
                        <a:t>You use these classes to store (and retrieve) textual information to (or from) a file. These types do not support random file access</a:t>
                      </a:r>
                      <a:endParaRPr lang="en-US" sz="2000" dirty="0"/>
                    </a:p>
                  </a:txBody>
                  <a:tcPr/>
                </a:tc>
                <a:extLst>
                  <a:ext uri="{0D108BD9-81ED-4DB2-BD59-A6C34878D82A}">
                    <a16:rowId xmlns:a16="http://schemas.microsoft.com/office/drawing/2014/main" val="10005"/>
                  </a:ext>
                </a:extLst>
              </a:tr>
              <a:tr h="370840">
                <a:tc>
                  <a:txBody>
                    <a:bodyPr/>
                    <a:lstStyle/>
                    <a:p>
                      <a:r>
                        <a:rPr lang="en-US" sz="2000"/>
                        <a:t>StringWriter</a:t>
                      </a:r>
                    </a:p>
                    <a:p>
                      <a:r>
                        <a:rPr lang="en-US" sz="2000"/>
                        <a:t>StringReader</a:t>
                      </a:r>
                      <a:endParaRPr lang="en-US" sz="2000" dirty="0"/>
                    </a:p>
                  </a:txBody>
                  <a:tcPr/>
                </a:tc>
                <a:tc>
                  <a:txBody>
                    <a:bodyPr/>
                    <a:lstStyle/>
                    <a:p>
                      <a:r>
                        <a:rPr lang="en-US" sz="2000"/>
                        <a:t>Like the StreamReader/StreamWriter classes, these classes also work with textual information. However, the underlying storage is a string buffer rather than a physical file</a:t>
                      </a:r>
                      <a:endParaRPr lang="en-US" sz="2000" dirty="0"/>
                    </a:p>
                  </a:txBody>
                  <a:tcPr/>
                </a:tc>
                <a:extLst>
                  <a:ext uri="{0D108BD9-81ED-4DB2-BD59-A6C34878D82A}">
                    <a16:rowId xmlns:a16="http://schemas.microsoft.com/office/drawing/2014/main" val="508282034"/>
                  </a:ext>
                </a:extLst>
              </a:tr>
            </a:tbl>
          </a:graphicData>
        </a:graphic>
      </p:graphicFrame>
    </p:spTree>
    <p:extLst>
      <p:ext uri="{BB962C8B-B14F-4D97-AF65-F5344CB8AC3E}">
        <p14:creationId xmlns:p14="http://schemas.microsoft.com/office/powerpoint/2010/main" val="424063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8889505" cy="575433"/>
          </a:xfrm>
        </p:spPr>
        <p:txBody>
          <a:bodyPr>
            <a:normAutofit fontScale="90000"/>
          </a:bodyPr>
          <a:lstStyle/>
          <a:p>
            <a:r>
              <a:rPr lang="en-US" b="1"/>
              <a:t>Working with Files and Directories</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8</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378247"/>
            <a:ext cx="11887200" cy="1818703"/>
          </a:xfrm>
          <a:prstGeom prst="rect">
            <a:avLst/>
          </a:prstGeom>
          <a:noFill/>
        </p:spPr>
        <p:txBody>
          <a:bodyPr wrap="square">
            <a:spAutoFit/>
          </a:bodyPr>
          <a:lstStyle/>
          <a:p>
            <a:pPr marL="342900" indent="-342900" algn="just">
              <a:lnSpc>
                <a:spcPct val="150000"/>
              </a:lnSpc>
              <a:spcBef>
                <a:spcPts val="1200"/>
              </a:spcBef>
              <a:spcAft>
                <a:spcPts val="1200"/>
              </a:spcAft>
              <a:buClr>
                <a:srgbClr val="973735"/>
              </a:buClr>
              <a:buSzPct val="50000"/>
              <a:buFont typeface="Wingdings" pitchFamily="2" charset="2"/>
              <a:buChar char="u"/>
              <a:tabLst>
                <a:tab pos="241300" algn="l"/>
              </a:tabLst>
              <a:defRPr/>
            </a:pPr>
            <a:r>
              <a:rPr lang="en-US" sz="2600">
                <a:latin typeface="+mj-lt"/>
              </a:rPr>
              <a:t>C# provides the following classes to work with the File system. They can be used to access directories, access files, open files for reading or writing, create a new file or move existing files from one location to another, etc</a:t>
            </a:r>
            <a:endParaRPr lang="en-US" sz="2600" dirty="0">
              <a:latin typeface="+mj-lt"/>
            </a:endParaRPr>
          </a:p>
        </p:txBody>
      </p:sp>
      <p:graphicFrame>
        <p:nvGraphicFramePr>
          <p:cNvPr id="6" name="Table 5">
            <a:extLst>
              <a:ext uri="{FF2B5EF4-FFF2-40B4-BE49-F238E27FC236}">
                <a16:creationId xmlns:a16="http://schemas.microsoft.com/office/drawing/2014/main" id="{36ACDF1B-0421-43B3-9394-8C66EE99D96D}"/>
              </a:ext>
            </a:extLst>
          </p:cNvPr>
          <p:cNvGraphicFramePr>
            <a:graphicFrameLocks noGrp="1"/>
          </p:cNvGraphicFramePr>
          <p:nvPr>
            <p:extLst>
              <p:ext uri="{D42A27DB-BD31-4B8C-83A1-F6EECF244321}">
                <p14:modId xmlns:p14="http://schemas.microsoft.com/office/powerpoint/2010/main" val="777106010"/>
              </p:ext>
            </p:extLst>
          </p:nvPr>
        </p:nvGraphicFramePr>
        <p:xfrm>
          <a:off x="399393" y="3270395"/>
          <a:ext cx="11393214" cy="2993444"/>
        </p:xfrm>
        <a:graphic>
          <a:graphicData uri="http://schemas.openxmlformats.org/drawingml/2006/table">
            <a:tbl>
              <a:tblPr firstRow="1" bandRow="1">
                <a:tableStyleId>{5C22544A-7EE6-4342-B048-85BDC9FD1C3A}</a:tableStyleId>
              </a:tblPr>
              <a:tblGrid>
                <a:gridCol w="2981402">
                  <a:extLst>
                    <a:ext uri="{9D8B030D-6E8A-4147-A177-3AD203B41FA5}">
                      <a16:colId xmlns:a16="http://schemas.microsoft.com/office/drawing/2014/main" val="20000"/>
                    </a:ext>
                  </a:extLst>
                </a:gridCol>
                <a:gridCol w="8411812">
                  <a:extLst>
                    <a:ext uri="{9D8B030D-6E8A-4147-A177-3AD203B41FA5}">
                      <a16:colId xmlns:a16="http://schemas.microsoft.com/office/drawing/2014/main" val="20001"/>
                    </a:ext>
                  </a:extLst>
                </a:gridCol>
              </a:tblGrid>
              <a:tr h="676964">
                <a:tc>
                  <a:txBody>
                    <a:bodyPr/>
                    <a:lstStyle/>
                    <a:p>
                      <a:r>
                        <a:rPr lang="en-US" sz="2000"/>
                        <a:t>Class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10000"/>
                  </a:ext>
                </a:extLst>
              </a:tr>
              <a:tr h="854014">
                <a:tc>
                  <a:txBody>
                    <a:bodyPr/>
                    <a:lstStyle/>
                    <a:p>
                      <a:pPr marL="0" algn="l" defTabSz="914400" rtl="0" eaLnBrk="1" fontAlgn="t" latinLnBrk="0" hangingPunct="1"/>
                      <a:r>
                        <a:rPr lang="en-US" sz="2000" kern="1200" dirty="0">
                          <a:solidFill>
                            <a:schemeClr val="dk1"/>
                          </a:solidFill>
                          <a:latin typeface="+mn-lt"/>
                          <a:ea typeface="+mn-ea"/>
                          <a:cs typeface="+mn-cs"/>
                        </a:rPr>
                        <a:t>File</a:t>
                      </a:r>
                    </a:p>
                  </a:txBody>
                  <a:tcPr/>
                </a:tc>
                <a:tc>
                  <a:txBody>
                    <a:bodyPr/>
                    <a:lstStyle/>
                    <a:p>
                      <a:pPr fontAlgn="t"/>
                      <a:r>
                        <a:rPr lang="en-US" sz="2000" dirty="0">
                          <a:solidFill>
                            <a:srgbClr val="FF0000"/>
                          </a:solidFill>
                          <a:effectLst/>
                        </a:rPr>
                        <a:t>File is a static class </a:t>
                      </a:r>
                      <a:r>
                        <a:rPr lang="en-US" sz="2000" dirty="0">
                          <a:solidFill>
                            <a:srgbClr val="414141"/>
                          </a:solidFill>
                          <a:effectLst/>
                        </a:rPr>
                        <a:t>that provides different functionalities like copy, create, move, delete, open for reading or /writing, encrypt or decrypt, check if a file exists, append lines or text to a file’s content, get last access time, etc.</a:t>
                      </a:r>
                    </a:p>
                  </a:txBody>
                  <a:tcPr/>
                </a:tc>
                <a:extLst>
                  <a:ext uri="{0D108BD9-81ED-4DB2-BD59-A6C34878D82A}">
                    <a16:rowId xmlns:a16="http://schemas.microsoft.com/office/drawing/2014/main" val="10004"/>
                  </a:ext>
                </a:extLst>
              </a:tr>
              <a:tr h="967092">
                <a:tc>
                  <a:txBody>
                    <a:bodyPr/>
                    <a:lstStyle/>
                    <a:p>
                      <a:pPr marL="0" algn="l" defTabSz="914400" rtl="0" eaLnBrk="1" fontAlgn="t" latinLnBrk="0" hangingPunct="1"/>
                      <a:r>
                        <a:rPr lang="en-US" sz="2000" kern="1200" dirty="0" err="1">
                          <a:solidFill>
                            <a:schemeClr val="dk1"/>
                          </a:solidFill>
                          <a:latin typeface="+mn-lt"/>
                          <a:ea typeface="+mn-ea"/>
                          <a:cs typeface="+mn-cs"/>
                        </a:rPr>
                        <a:t>FileInfo</a:t>
                      </a:r>
                      <a:endParaRPr lang="en-US" sz="2000" kern="1200" dirty="0">
                        <a:solidFill>
                          <a:schemeClr val="dk1"/>
                        </a:solidFill>
                        <a:latin typeface="+mn-lt"/>
                        <a:ea typeface="+mn-ea"/>
                        <a:cs typeface="+mn-cs"/>
                      </a:endParaRPr>
                    </a:p>
                  </a:txBody>
                  <a:tcPr/>
                </a:tc>
                <a:tc>
                  <a:txBody>
                    <a:bodyPr/>
                    <a:lstStyle/>
                    <a:p>
                      <a:pPr fontAlgn="t"/>
                      <a:r>
                        <a:rPr lang="en-US" sz="2000" dirty="0">
                          <a:solidFill>
                            <a:srgbClr val="414141"/>
                          </a:solidFill>
                          <a:effectLst/>
                        </a:rPr>
                        <a:t>The </a:t>
                      </a:r>
                      <a:r>
                        <a:rPr lang="en-US" sz="2000" dirty="0" err="1">
                          <a:solidFill>
                            <a:srgbClr val="414141"/>
                          </a:solidFill>
                          <a:effectLst/>
                        </a:rPr>
                        <a:t>FileInfo</a:t>
                      </a:r>
                      <a:r>
                        <a:rPr lang="en-US" sz="2000" dirty="0">
                          <a:solidFill>
                            <a:srgbClr val="414141"/>
                          </a:solidFill>
                          <a:effectLst/>
                        </a:rPr>
                        <a:t> class provides the same functionality as a static File class. We have more control on how you do read/write operations on a file by writing code manually for reading or writing bytes from a file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28617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9</a:t>
            </a:fld>
            <a:endParaRPr lang="en-US" dirty="0"/>
          </a:p>
        </p:txBody>
      </p:sp>
      <p:graphicFrame>
        <p:nvGraphicFramePr>
          <p:cNvPr id="6" name="Table 5">
            <a:extLst>
              <a:ext uri="{FF2B5EF4-FFF2-40B4-BE49-F238E27FC236}">
                <a16:creationId xmlns:a16="http://schemas.microsoft.com/office/drawing/2014/main" id="{4BADFC21-8411-494B-92BA-01E24E362A4D}"/>
              </a:ext>
            </a:extLst>
          </p:cNvPr>
          <p:cNvGraphicFramePr>
            <a:graphicFrameLocks noGrp="1"/>
          </p:cNvGraphicFramePr>
          <p:nvPr>
            <p:extLst>
              <p:ext uri="{D42A27DB-BD31-4B8C-83A1-F6EECF244321}">
                <p14:modId xmlns:p14="http://schemas.microsoft.com/office/powerpoint/2010/main" val="3678731159"/>
              </p:ext>
            </p:extLst>
          </p:nvPr>
        </p:nvGraphicFramePr>
        <p:xfrm>
          <a:off x="275516" y="1754790"/>
          <a:ext cx="11686988" cy="4495403"/>
        </p:xfrm>
        <a:graphic>
          <a:graphicData uri="http://schemas.openxmlformats.org/drawingml/2006/table">
            <a:tbl>
              <a:tblPr firstRow="1" bandRow="1">
                <a:tableStyleId>{5C22544A-7EE6-4342-B048-85BDC9FD1C3A}</a:tableStyleId>
              </a:tblPr>
              <a:tblGrid>
                <a:gridCol w="3058276">
                  <a:extLst>
                    <a:ext uri="{9D8B030D-6E8A-4147-A177-3AD203B41FA5}">
                      <a16:colId xmlns:a16="http://schemas.microsoft.com/office/drawing/2014/main" val="377084077"/>
                    </a:ext>
                  </a:extLst>
                </a:gridCol>
                <a:gridCol w="8628712">
                  <a:extLst>
                    <a:ext uri="{9D8B030D-6E8A-4147-A177-3AD203B41FA5}">
                      <a16:colId xmlns:a16="http://schemas.microsoft.com/office/drawing/2014/main" val="2512080548"/>
                    </a:ext>
                  </a:extLst>
                </a:gridCol>
              </a:tblGrid>
              <a:tr h="948952">
                <a:tc>
                  <a:txBody>
                    <a:bodyPr/>
                    <a:lstStyle/>
                    <a:p>
                      <a:r>
                        <a:rPr lang="en-US" sz="2000"/>
                        <a:t>Class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2783324157"/>
                  </a:ext>
                </a:extLst>
              </a:tr>
              <a:tr h="1032511">
                <a:tc>
                  <a:txBody>
                    <a:bodyPr/>
                    <a:lstStyle/>
                    <a:p>
                      <a:pPr marL="0" algn="l" defTabSz="914400" rtl="0" eaLnBrk="1" fontAlgn="t" latinLnBrk="0" hangingPunct="1"/>
                      <a:r>
                        <a:rPr lang="en-US" sz="2000" kern="1200" dirty="0">
                          <a:solidFill>
                            <a:schemeClr val="dk1"/>
                          </a:solidFill>
                          <a:latin typeface="+mn-lt"/>
                          <a:ea typeface="+mn-ea"/>
                          <a:cs typeface="+mn-cs"/>
                        </a:rPr>
                        <a:t>Directory</a:t>
                      </a:r>
                    </a:p>
                  </a:txBody>
                  <a:tcPr/>
                </a:tc>
                <a:tc>
                  <a:txBody>
                    <a:bodyPr/>
                    <a:lstStyle/>
                    <a:p>
                      <a:pPr fontAlgn="t"/>
                      <a:r>
                        <a:rPr lang="en-US" sz="2000" dirty="0">
                          <a:solidFill>
                            <a:srgbClr val="FF0000"/>
                          </a:solidFill>
                          <a:effectLst/>
                        </a:rPr>
                        <a:t>Directory is a static class </a:t>
                      </a:r>
                      <a:r>
                        <a:rPr lang="en-US" sz="2000" dirty="0">
                          <a:solidFill>
                            <a:srgbClr val="414141"/>
                          </a:solidFill>
                          <a:effectLst/>
                        </a:rPr>
                        <a:t>that provides functionality for creating, moving, deleting and accessing subdirectories</a:t>
                      </a:r>
                    </a:p>
                  </a:txBody>
                  <a:tcPr/>
                </a:tc>
                <a:extLst>
                  <a:ext uri="{0D108BD9-81ED-4DB2-BD59-A6C34878D82A}">
                    <a16:rowId xmlns:a16="http://schemas.microsoft.com/office/drawing/2014/main" val="886624549"/>
                  </a:ext>
                </a:extLst>
              </a:tr>
              <a:tr h="1032511">
                <a:tc>
                  <a:txBody>
                    <a:bodyPr/>
                    <a:lstStyle/>
                    <a:p>
                      <a:pPr marL="0" algn="l" defTabSz="914400" rtl="0" eaLnBrk="1" fontAlgn="t" latinLnBrk="0" hangingPunct="1"/>
                      <a:r>
                        <a:rPr lang="en-US" sz="2000" kern="1200" dirty="0" err="1">
                          <a:solidFill>
                            <a:schemeClr val="dk1"/>
                          </a:solidFill>
                          <a:latin typeface="+mn-lt"/>
                          <a:ea typeface="+mn-ea"/>
                          <a:cs typeface="+mn-cs"/>
                        </a:rPr>
                        <a:t>DirectoryInfo</a:t>
                      </a:r>
                      <a:endParaRPr lang="en-US" sz="2000" kern="1200" dirty="0">
                        <a:solidFill>
                          <a:schemeClr val="dk1"/>
                        </a:solidFill>
                        <a:latin typeface="+mn-lt"/>
                        <a:ea typeface="+mn-ea"/>
                        <a:cs typeface="+mn-cs"/>
                      </a:endParaRPr>
                    </a:p>
                  </a:txBody>
                  <a:tcPr/>
                </a:tc>
                <a:tc>
                  <a:txBody>
                    <a:bodyPr/>
                    <a:lstStyle/>
                    <a:p>
                      <a:pPr fontAlgn="t"/>
                      <a:r>
                        <a:rPr lang="en-US" sz="2000" dirty="0" err="1">
                          <a:solidFill>
                            <a:srgbClr val="414141"/>
                          </a:solidFill>
                          <a:effectLst/>
                        </a:rPr>
                        <a:t>DirectoryInfo</a:t>
                      </a:r>
                      <a:r>
                        <a:rPr lang="en-US" sz="2000" dirty="0">
                          <a:solidFill>
                            <a:srgbClr val="414141"/>
                          </a:solidFill>
                          <a:effectLst/>
                        </a:rPr>
                        <a:t> provides instance methods for creating, moving, deleting and accessing subdirectories</a:t>
                      </a:r>
                    </a:p>
                  </a:txBody>
                  <a:tcPr/>
                </a:tc>
                <a:extLst>
                  <a:ext uri="{0D108BD9-81ED-4DB2-BD59-A6C34878D82A}">
                    <a16:rowId xmlns:a16="http://schemas.microsoft.com/office/drawing/2014/main" val="1520063897"/>
                  </a:ext>
                </a:extLst>
              </a:tr>
              <a:tr h="1481429">
                <a:tc>
                  <a:txBody>
                    <a:bodyPr/>
                    <a:lstStyle/>
                    <a:p>
                      <a:pPr marL="0" algn="l" defTabSz="914400" rtl="0" eaLnBrk="1" fontAlgn="t" latinLnBrk="0" hangingPunct="1"/>
                      <a:r>
                        <a:rPr lang="en-US" sz="2000" kern="1200">
                          <a:solidFill>
                            <a:schemeClr val="dk1"/>
                          </a:solidFill>
                          <a:latin typeface="+mn-lt"/>
                          <a:ea typeface="+mn-ea"/>
                          <a:cs typeface="+mn-cs"/>
                        </a:rPr>
                        <a:t>Path</a:t>
                      </a:r>
                    </a:p>
                  </a:txBody>
                  <a:tcPr/>
                </a:tc>
                <a:tc>
                  <a:txBody>
                    <a:bodyPr/>
                    <a:lstStyle/>
                    <a:p>
                      <a:pPr fontAlgn="t"/>
                      <a:r>
                        <a:rPr lang="en-US" sz="2000" dirty="0">
                          <a:solidFill>
                            <a:srgbClr val="414141"/>
                          </a:solidFill>
                          <a:effectLst/>
                        </a:rPr>
                        <a:t>Path is a static class that provides functionality such as retrieving the extension of a file, changing the extension of a file, retrieving the absolute physical path, and other path related functionalities</a:t>
                      </a:r>
                    </a:p>
                  </a:txBody>
                  <a:tcPr/>
                </a:tc>
                <a:extLst>
                  <a:ext uri="{0D108BD9-81ED-4DB2-BD59-A6C34878D82A}">
                    <a16:rowId xmlns:a16="http://schemas.microsoft.com/office/drawing/2014/main" val="1336678799"/>
                  </a:ext>
                </a:extLst>
              </a:tr>
            </a:tbl>
          </a:graphicData>
        </a:graphic>
      </p:graphicFrame>
      <p:sp>
        <p:nvSpPr>
          <p:cNvPr id="10" name="Title 1">
            <a:extLst>
              <a:ext uri="{FF2B5EF4-FFF2-40B4-BE49-F238E27FC236}">
                <a16:creationId xmlns:a16="http://schemas.microsoft.com/office/drawing/2014/main" id="{61F30413-7C6D-4D63-922D-762932ECC1EE}"/>
              </a:ext>
            </a:extLst>
          </p:cNvPr>
          <p:cNvSpPr>
            <a:spLocks noGrp="1"/>
          </p:cNvSpPr>
          <p:nvPr>
            <p:ph type="title"/>
          </p:nvPr>
        </p:nvSpPr>
        <p:spPr>
          <a:xfrm>
            <a:off x="275516" y="687426"/>
            <a:ext cx="8889505" cy="575433"/>
          </a:xfrm>
        </p:spPr>
        <p:txBody>
          <a:bodyPr>
            <a:normAutofit fontScale="90000"/>
          </a:bodyPr>
          <a:lstStyle/>
          <a:p>
            <a:r>
              <a:rPr lang="en-US" b="1"/>
              <a:t>Working with Files and Directories</a:t>
            </a:r>
            <a:endParaRPr lang="en-US" dirty="0"/>
          </a:p>
        </p:txBody>
      </p:sp>
    </p:spTree>
    <p:extLst>
      <p:ext uri="{BB962C8B-B14F-4D97-AF65-F5344CB8AC3E}">
        <p14:creationId xmlns:p14="http://schemas.microsoft.com/office/powerpoint/2010/main" val="2832946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125A3A-0BA2-4E68-8522-5A92558FE878}"/>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69EA56F-24C5-4E9A-8AE8-ED85020C91C5}"/>
              </a:ext>
            </a:extLst>
          </p:cNvPr>
          <p:cNvSpPr>
            <a:spLocks noGrp="1"/>
          </p:cNvSpPr>
          <p:nvPr>
            <p:ph type="sldNum" sz="quarter" idx="12"/>
          </p:nvPr>
        </p:nvSpPr>
        <p:spPr/>
        <p:txBody>
          <a:bodyPr/>
          <a:lstStyle/>
          <a:p>
            <a:fld id="{CC0149FD-98BB-4821-915B-09C9BFE4B727}" type="slidenum">
              <a:rPr lang="en-US" smtClean="0"/>
              <a:pPr/>
              <a:t>10</a:t>
            </a:fld>
            <a:endParaRPr lang="en-US" dirty="0"/>
          </a:p>
        </p:txBody>
      </p:sp>
      <p:sp>
        <p:nvSpPr>
          <p:cNvPr id="6" name="Title 1">
            <a:extLst>
              <a:ext uri="{FF2B5EF4-FFF2-40B4-BE49-F238E27FC236}">
                <a16:creationId xmlns:a16="http://schemas.microsoft.com/office/drawing/2014/main" id="{90289BB5-03EA-452C-9FBC-EE4ED34B7AA6}"/>
              </a:ext>
            </a:extLst>
          </p:cNvPr>
          <p:cNvSpPr>
            <a:spLocks noGrp="1"/>
          </p:cNvSpPr>
          <p:nvPr>
            <p:ph type="title"/>
          </p:nvPr>
        </p:nvSpPr>
        <p:spPr>
          <a:xfrm>
            <a:off x="275516" y="687426"/>
            <a:ext cx="8889505" cy="575433"/>
          </a:xfrm>
        </p:spPr>
        <p:txBody>
          <a:bodyPr>
            <a:normAutofit fontScale="90000"/>
          </a:bodyPr>
          <a:lstStyle/>
          <a:p>
            <a:r>
              <a:rPr lang="en-US" b="1"/>
              <a:t>FileStream Class Demonstration</a:t>
            </a:r>
            <a:endParaRPr lang="en-US" dirty="0"/>
          </a:p>
        </p:txBody>
      </p:sp>
      <p:pic>
        <p:nvPicPr>
          <p:cNvPr id="3" name="Picture 2">
            <a:extLst>
              <a:ext uri="{FF2B5EF4-FFF2-40B4-BE49-F238E27FC236}">
                <a16:creationId xmlns:a16="http://schemas.microsoft.com/office/drawing/2014/main" id="{60415F91-E4DD-4754-B08C-1E50AA9F211F}"/>
              </a:ext>
            </a:extLst>
          </p:cNvPr>
          <p:cNvPicPr>
            <a:picLocks noChangeAspect="1"/>
          </p:cNvPicPr>
          <p:nvPr/>
        </p:nvPicPr>
        <p:blipFill>
          <a:blip r:embed="rId2"/>
          <a:stretch>
            <a:fillRect/>
          </a:stretch>
        </p:blipFill>
        <p:spPr>
          <a:xfrm>
            <a:off x="99411" y="3163924"/>
            <a:ext cx="8889505" cy="3230849"/>
          </a:xfrm>
          <a:prstGeom prst="rect">
            <a:avLst/>
          </a:prstGeom>
        </p:spPr>
      </p:pic>
      <p:grpSp>
        <p:nvGrpSpPr>
          <p:cNvPr id="12" name="Group 11">
            <a:extLst>
              <a:ext uri="{FF2B5EF4-FFF2-40B4-BE49-F238E27FC236}">
                <a16:creationId xmlns:a16="http://schemas.microsoft.com/office/drawing/2014/main" id="{0FE42079-B9C3-4F6F-88C5-FE924D85785C}"/>
              </a:ext>
            </a:extLst>
          </p:cNvPr>
          <p:cNvGrpSpPr/>
          <p:nvPr/>
        </p:nvGrpSpPr>
        <p:grpSpPr>
          <a:xfrm>
            <a:off x="99411" y="2298296"/>
            <a:ext cx="2080409" cy="865628"/>
            <a:chOff x="10263" y="1559639"/>
            <a:chExt cx="2377935" cy="907369"/>
          </a:xfrm>
        </p:grpSpPr>
        <p:pic>
          <p:nvPicPr>
            <p:cNvPr id="10" name="Picture 9">
              <a:extLst>
                <a:ext uri="{FF2B5EF4-FFF2-40B4-BE49-F238E27FC236}">
                  <a16:creationId xmlns:a16="http://schemas.microsoft.com/office/drawing/2014/main" id="{27448913-50D4-4FF6-942D-C7386A64E435}"/>
                </a:ext>
              </a:extLst>
            </p:cNvPr>
            <p:cNvPicPr>
              <a:picLocks noChangeAspect="1"/>
            </p:cNvPicPr>
            <p:nvPr/>
          </p:nvPicPr>
          <p:blipFill>
            <a:blip r:embed="rId3"/>
            <a:stretch>
              <a:fillRect/>
            </a:stretch>
          </p:blipFill>
          <p:spPr>
            <a:xfrm>
              <a:off x="10263" y="1559639"/>
              <a:ext cx="2377935" cy="907369"/>
            </a:xfrm>
            <a:prstGeom prst="rect">
              <a:avLst/>
            </a:prstGeom>
          </p:spPr>
        </p:pic>
        <p:sp>
          <p:nvSpPr>
            <p:cNvPr id="11" name="Rectangle 10">
              <a:extLst>
                <a:ext uri="{FF2B5EF4-FFF2-40B4-BE49-F238E27FC236}">
                  <a16:creationId xmlns:a16="http://schemas.microsoft.com/office/drawing/2014/main" id="{2C6F240C-AB03-42DB-8A20-E6B23A1CE084}"/>
                </a:ext>
              </a:extLst>
            </p:cNvPr>
            <p:cNvSpPr/>
            <p:nvPr/>
          </p:nvSpPr>
          <p:spPr>
            <a:xfrm>
              <a:off x="10263" y="1850316"/>
              <a:ext cx="2377934" cy="616692"/>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2111F2D8-8896-49A1-B50E-40B36C6A29F9}"/>
              </a:ext>
            </a:extLst>
          </p:cNvPr>
          <p:cNvSpPr txBox="1"/>
          <p:nvPr/>
        </p:nvSpPr>
        <p:spPr>
          <a:xfrm>
            <a:off x="-1440" y="1404906"/>
            <a:ext cx="12094029" cy="892552"/>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a:latin typeface="+mj-lt"/>
              </a:rPr>
              <a:t>Provides a </a:t>
            </a:r>
            <a:r>
              <a:rPr lang="en-US" sz="2600" b="1">
                <a:latin typeface="+mj-lt"/>
              </a:rPr>
              <a:t>Stream</a:t>
            </a:r>
            <a:r>
              <a:rPr lang="en-US" sz="2600">
                <a:latin typeface="+mj-lt"/>
              </a:rPr>
              <a:t> for a file, supporting both synchronous and asynchronous read and write operations</a:t>
            </a:r>
          </a:p>
        </p:txBody>
      </p:sp>
    </p:spTree>
    <p:extLst>
      <p:ext uri="{BB962C8B-B14F-4D97-AF65-F5344CB8AC3E}">
        <p14:creationId xmlns:p14="http://schemas.microsoft.com/office/powerpoint/2010/main" val="393187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0125A3A-0BA2-4E68-8522-5A92558FE878}"/>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69EA56F-24C5-4E9A-8AE8-ED85020C91C5}"/>
              </a:ext>
            </a:extLst>
          </p:cNvPr>
          <p:cNvSpPr>
            <a:spLocks noGrp="1"/>
          </p:cNvSpPr>
          <p:nvPr>
            <p:ph type="sldNum" sz="quarter" idx="12"/>
          </p:nvPr>
        </p:nvSpPr>
        <p:spPr/>
        <p:txBody>
          <a:bodyPr/>
          <a:lstStyle/>
          <a:p>
            <a:fld id="{CC0149FD-98BB-4821-915B-09C9BFE4B727}" type="slidenum">
              <a:rPr lang="en-US" smtClean="0"/>
              <a:pPr/>
              <a:t>11</a:t>
            </a:fld>
            <a:endParaRPr lang="en-US" dirty="0"/>
          </a:p>
        </p:txBody>
      </p:sp>
      <p:sp>
        <p:nvSpPr>
          <p:cNvPr id="6" name="Title 1">
            <a:extLst>
              <a:ext uri="{FF2B5EF4-FFF2-40B4-BE49-F238E27FC236}">
                <a16:creationId xmlns:a16="http://schemas.microsoft.com/office/drawing/2014/main" id="{90289BB5-03EA-452C-9FBC-EE4ED34B7AA6}"/>
              </a:ext>
            </a:extLst>
          </p:cNvPr>
          <p:cNvSpPr>
            <a:spLocks noGrp="1"/>
          </p:cNvSpPr>
          <p:nvPr>
            <p:ph type="title"/>
          </p:nvPr>
        </p:nvSpPr>
        <p:spPr>
          <a:xfrm>
            <a:off x="275516" y="687426"/>
            <a:ext cx="8889505" cy="575433"/>
          </a:xfrm>
        </p:spPr>
        <p:txBody>
          <a:bodyPr>
            <a:normAutofit fontScale="90000"/>
          </a:bodyPr>
          <a:lstStyle/>
          <a:p>
            <a:r>
              <a:rPr lang="en-US" b="1"/>
              <a:t>FileStream Class Demonstration</a:t>
            </a:r>
            <a:endParaRPr lang="en-US" dirty="0"/>
          </a:p>
        </p:txBody>
      </p:sp>
      <p:pic>
        <p:nvPicPr>
          <p:cNvPr id="12" name="Picture 11">
            <a:extLst>
              <a:ext uri="{FF2B5EF4-FFF2-40B4-BE49-F238E27FC236}">
                <a16:creationId xmlns:a16="http://schemas.microsoft.com/office/drawing/2014/main" id="{E9186E24-3C53-444D-89ED-BDDBB11609FE}"/>
              </a:ext>
            </a:extLst>
          </p:cNvPr>
          <p:cNvPicPr>
            <a:picLocks noChangeAspect="1"/>
          </p:cNvPicPr>
          <p:nvPr/>
        </p:nvPicPr>
        <p:blipFill>
          <a:blip r:embed="rId2"/>
          <a:stretch>
            <a:fillRect/>
          </a:stretch>
        </p:blipFill>
        <p:spPr>
          <a:xfrm>
            <a:off x="-1" y="1496397"/>
            <a:ext cx="7853083" cy="3430605"/>
          </a:xfrm>
          <a:prstGeom prst="rect">
            <a:avLst/>
          </a:prstGeom>
        </p:spPr>
      </p:pic>
      <p:pic>
        <p:nvPicPr>
          <p:cNvPr id="13" name="Picture 12">
            <a:extLst>
              <a:ext uri="{FF2B5EF4-FFF2-40B4-BE49-F238E27FC236}">
                <a16:creationId xmlns:a16="http://schemas.microsoft.com/office/drawing/2014/main" id="{C8744FAE-9039-42C2-A828-1293F82CC03D}"/>
              </a:ext>
            </a:extLst>
          </p:cNvPr>
          <p:cNvPicPr>
            <a:picLocks noChangeAspect="1"/>
          </p:cNvPicPr>
          <p:nvPr/>
        </p:nvPicPr>
        <p:blipFill>
          <a:blip r:embed="rId3"/>
          <a:stretch>
            <a:fillRect/>
          </a:stretch>
        </p:blipFill>
        <p:spPr>
          <a:xfrm>
            <a:off x="8379921" y="3337813"/>
            <a:ext cx="3771437" cy="1454240"/>
          </a:xfrm>
          <a:prstGeom prst="rect">
            <a:avLst/>
          </a:prstGeom>
          <a:ln>
            <a:solidFill>
              <a:srgbClr val="00B050"/>
            </a:solidFill>
          </a:ln>
        </p:spPr>
      </p:pic>
      <p:grpSp>
        <p:nvGrpSpPr>
          <p:cNvPr id="16" name="Group 15">
            <a:extLst>
              <a:ext uri="{FF2B5EF4-FFF2-40B4-BE49-F238E27FC236}">
                <a16:creationId xmlns:a16="http://schemas.microsoft.com/office/drawing/2014/main" id="{9200DC60-E139-4860-9EDF-F4B1369FFC53}"/>
              </a:ext>
            </a:extLst>
          </p:cNvPr>
          <p:cNvGrpSpPr/>
          <p:nvPr/>
        </p:nvGrpSpPr>
        <p:grpSpPr>
          <a:xfrm>
            <a:off x="9385869" y="1895981"/>
            <a:ext cx="1589314" cy="1441832"/>
            <a:chOff x="9558589" y="1330401"/>
            <a:chExt cx="1589314" cy="1441832"/>
          </a:xfrm>
        </p:grpSpPr>
        <p:sp>
          <p:nvSpPr>
            <p:cNvPr id="9" name="Rectangle 8">
              <a:extLst>
                <a:ext uri="{FF2B5EF4-FFF2-40B4-BE49-F238E27FC236}">
                  <a16:creationId xmlns:a16="http://schemas.microsoft.com/office/drawing/2014/main" id="{0D51B999-737C-43A8-B5A6-226E53A2EFF4}"/>
                </a:ext>
              </a:extLst>
            </p:cNvPr>
            <p:cNvSpPr/>
            <p:nvPr/>
          </p:nvSpPr>
          <p:spPr>
            <a:xfrm>
              <a:off x="9558589" y="1330401"/>
              <a:ext cx="1589314" cy="707016"/>
            </a:xfrm>
            <a:prstGeom prst="rect">
              <a:avLst/>
            </a:prstGeom>
            <a:solidFill>
              <a:srgbClr val="00B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On Windows OS</a:t>
              </a:r>
            </a:p>
          </p:txBody>
        </p:sp>
        <p:cxnSp>
          <p:nvCxnSpPr>
            <p:cNvPr id="10" name="Straight Arrow Connector 9">
              <a:extLst>
                <a:ext uri="{FF2B5EF4-FFF2-40B4-BE49-F238E27FC236}">
                  <a16:creationId xmlns:a16="http://schemas.microsoft.com/office/drawing/2014/main" id="{C3FCDF1F-E93B-450C-AEB3-D8ABCDE7499C}"/>
                </a:ext>
              </a:extLst>
            </p:cNvPr>
            <p:cNvCxnSpPr>
              <a:cxnSpLocks/>
            </p:cNvCxnSpPr>
            <p:nvPr/>
          </p:nvCxnSpPr>
          <p:spPr>
            <a:xfrm>
              <a:off x="10353246" y="2040685"/>
              <a:ext cx="1" cy="7315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a:extLst>
              <a:ext uri="{FF2B5EF4-FFF2-40B4-BE49-F238E27FC236}">
                <a16:creationId xmlns:a16="http://schemas.microsoft.com/office/drawing/2014/main" id="{D672B288-2C5E-4386-9B4B-CB9F8C194D1B}"/>
              </a:ext>
            </a:extLst>
          </p:cNvPr>
          <p:cNvGrpSpPr/>
          <p:nvPr/>
        </p:nvGrpSpPr>
        <p:grpSpPr>
          <a:xfrm>
            <a:off x="3516113" y="5288285"/>
            <a:ext cx="2863172" cy="707016"/>
            <a:chOff x="3516113" y="4927002"/>
            <a:chExt cx="3038501" cy="707016"/>
          </a:xfrm>
        </p:grpSpPr>
        <p:sp>
          <p:nvSpPr>
            <p:cNvPr id="11" name="Rectangle 10">
              <a:extLst>
                <a:ext uri="{FF2B5EF4-FFF2-40B4-BE49-F238E27FC236}">
                  <a16:creationId xmlns:a16="http://schemas.microsoft.com/office/drawing/2014/main" id="{31356AA4-BDFB-4242-AAF3-ECA69DE2187D}"/>
                </a:ext>
              </a:extLst>
            </p:cNvPr>
            <p:cNvSpPr/>
            <p:nvPr/>
          </p:nvSpPr>
          <p:spPr>
            <a:xfrm>
              <a:off x="3516113" y="4927002"/>
              <a:ext cx="1589314" cy="707016"/>
            </a:xfrm>
            <a:prstGeom prst="rect">
              <a:avLst/>
            </a:prstGeom>
            <a:solidFill>
              <a:srgbClr val="00B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On Mac OS</a:t>
              </a:r>
            </a:p>
          </p:txBody>
        </p:sp>
        <p:cxnSp>
          <p:nvCxnSpPr>
            <p:cNvPr id="14" name="Straight Arrow Connector 13">
              <a:extLst>
                <a:ext uri="{FF2B5EF4-FFF2-40B4-BE49-F238E27FC236}">
                  <a16:creationId xmlns:a16="http://schemas.microsoft.com/office/drawing/2014/main" id="{714E6C91-6F97-4D7F-81C9-A5DB15C6D610}"/>
                </a:ext>
              </a:extLst>
            </p:cNvPr>
            <p:cNvCxnSpPr>
              <a:cxnSpLocks/>
              <a:stCxn id="11" idx="3"/>
            </p:cNvCxnSpPr>
            <p:nvPr/>
          </p:nvCxnSpPr>
          <p:spPr>
            <a:xfrm>
              <a:off x="5105428" y="5280510"/>
              <a:ext cx="144918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8" name="Picture 17">
            <a:extLst>
              <a:ext uri="{FF2B5EF4-FFF2-40B4-BE49-F238E27FC236}">
                <a16:creationId xmlns:a16="http://schemas.microsoft.com/office/drawing/2014/main" id="{97FFEDD6-6894-4C23-9E39-487553B09E88}"/>
              </a:ext>
            </a:extLst>
          </p:cNvPr>
          <p:cNvPicPr>
            <a:picLocks noChangeAspect="1"/>
          </p:cNvPicPr>
          <p:nvPr/>
        </p:nvPicPr>
        <p:blipFill>
          <a:blip r:embed="rId4"/>
          <a:stretch>
            <a:fillRect/>
          </a:stretch>
        </p:blipFill>
        <p:spPr>
          <a:xfrm>
            <a:off x="6379285" y="4914413"/>
            <a:ext cx="5769038" cy="1515752"/>
          </a:xfrm>
          <a:prstGeom prst="rect">
            <a:avLst/>
          </a:prstGeom>
        </p:spPr>
      </p:pic>
    </p:spTree>
    <p:extLst>
      <p:ext uri="{BB962C8B-B14F-4D97-AF65-F5344CB8AC3E}">
        <p14:creationId xmlns:p14="http://schemas.microsoft.com/office/powerpoint/2010/main" val="296780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12</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695097"/>
            <a:ext cx="11950262" cy="3926972"/>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latin typeface="+mj-lt"/>
              </a:rPr>
              <a:t>File is a static class to read\write from physical file with less coding</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latin typeface="+mj-lt"/>
              </a:rPr>
              <a:t>Static File class provides functionalities such as create, read\write, copy, move, delete and others for physical files</a:t>
            </a:r>
          </a:p>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latin typeface="+mj-lt"/>
              </a:rPr>
              <a:t>The static File class includes various utility method to interact with physical file of any type e.g. binary, text etc. Use this static File class to perform some quick operation on physical file</a:t>
            </a:r>
          </a:p>
        </p:txBody>
      </p:sp>
      <p:sp>
        <p:nvSpPr>
          <p:cNvPr id="9" name="Title 1">
            <a:extLst>
              <a:ext uri="{FF2B5EF4-FFF2-40B4-BE49-F238E27FC236}">
                <a16:creationId xmlns:a16="http://schemas.microsoft.com/office/drawing/2014/main" id="{3E30C26D-3FD8-465D-BF82-45672E71E99B}"/>
              </a:ext>
            </a:extLst>
          </p:cNvPr>
          <p:cNvSpPr>
            <a:spLocks noGrp="1"/>
          </p:cNvSpPr>
          <p:nvPr>
            <p:ph type="title"/>
          </p:nvPr>
        </p:nvSpPr>
        <p:spPr>
          <a:xfrm>
            <a:off x="275516" y="687426"/>
            <a:ext cx="8889505" cy="575433"/>
          </a:xfrm>
        </p:spPr>
        <p:txBody>
          <a:bodyPr>
            <a:normAutofit fontScale="90000"/>
          </a:bodyPr>
          <a:lstStyle/>
          <a:p>
            <a:r>
              <a:rPr lang="en-US" b="1"/>
              <a:t>Working with File Class</a:t>
            </a:r>
            <a:endParaRPr lang="en-US" dirty="0"/>
          </a:p>
        </p:txBody>
      </p:sp>
    </p:spTree>
    <p:extLst>
      <p:ext uri="{BB962C8B-B14F-4D97-AF65-F5344CB8AC3E}">
        <p14:creationId xmlns:p14="http://schemas.microsoft.com/office/powerpoint/2010/main" val="641934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13</a:t>
            </a:fld>
            <a:endParaRPr lang="en-US" dirty="0"/>
          </a:p>
        </p:txBody>
      </p:sp>
      <p:sp>
        <p:nvSpPr>
          <p:cNvPr id="17" name="Title 1">
            <a:extLst>
              <a:ext uri="{FF2B5EF4-FFF2-40B4-BE49-F238E27FC236}">
                <a16:creationId xmlns:a16="http://schemas.microsoft.com/office/drawing/2014/main" id="{E0926664-EC9C-4F46-BAF9-4F166744B43F}"/>
              </a:ext>
            </a:extLst>
          </p:cNvPr>
          <p:cNvSpPr>
            <a:spLocks noGrp="1"/>
          </p:cNvSpPr>
          <p:nvPr>
            <p:ph type="title"/>
          </p:nvPr>
        </p:nvSpPr>
        <p:spPr>
          <a:xfrm>
            <a:off x="275516" y="687426"/>
            <a:ext cx="8889505" cy="575433"/>
          </a:xfrm>
        </p:spPr>
        <p:txBody>
          <a:bodyPr>
            <a:normAutofit fontScale="90000"/>
          </a:bodyPr>
          <a:lstStyle/>
          <a:p>
            <a:r>
              <a:rPr lang="en-US" b="1"/>
              <a:t>Working with File Class</a:t>
            </a:r>
            <a:endParaRPr lang="en-US" dirty="0"/>
          </a:p>
        </p:txBody>
      </p:sp>
      <p:graphicFrame>
        <p:nvGraphicFramePr>
          <p:cNvPr id="6" name="Table 5">
            <a:extLst>
              <a:ext uri="{FF2B5EF4-FFF2-40B4-BE49-F238E27FC236}">
                <a16:creationId xmlns:a16="http://schemas.microsoft.com/office/drawing/2014/main" id="{645E7BFF-F43E-4F03-92A3-4CB5BFC24385}"/>
              </a:ext>
            </a:extLst>
          </p:cNvPr>
          <p:cNvGraphicFramePr>
            <a:graphicFrameLocks noGrp="1"/>
          </p:cNvGraphicFramePr>
          <p:nvPr>
            <p:extLst>
              <p:ext uri="{D42A27DB-BD31-4B8C-83A1-F6EECF244321}">
                <p14:modId xmlns:p14="http://schemas.microsoft.com/office/powerpoint/2010/main" val="2733011369"/>
              </p:ext>
            </p:extLst>
          </p:nvPr>
        </p:nvGraphicFramePr>
        <p:xfrm>
          <a:off x="71618" y="2037474"/>
          <a:ext cx="12048763" cy="4332846"/>
        </p:xfrm>
        <a:graphic>
          <a:graphicData uri="http://schemas.openxmlformats.org/drawingml/2006/table">
            <a:tbl>
              <a:tblPr firstRow="1" bandRow="1">
                <a:tableStyleId>{5C22544A-7EE6-4342-B048-85BDC9FD1C3A}</a:tableStyleId>
              </a:tblPr>
              <a:tblGrid>
                <a:gridCol w="2152355">
                  <a:extLst>
                    <a:ext uri="{9D8B030D-6E8A-4147-A177-3AD203B41FA5}">
                      <a16:colId xmlns:a16="http://schemas.microsoft.com/office/drawing/2014/main" val="20000"/>
                    </a:ext>
                  </a:extLst>
                </a:gridCol>
                <a:gridCol w="9896408">
                  <a:extLst>
                    <a:ext uri="{9D8B030D-6E8A-4147-A177-3AD203B41FA5}">
                      <a16:colId xmlns:a16="http://schemas.microsoft.com/office/drawing/2014/main" val="20001"/>
                    </a:ext>
                  </a:extLst>
                </a:gridCol>
              </a:tblGrid>
              <a:tr h="367272">
                <a:tc>
                  <a:txBody>
                    <a:bodyPr/>
                    <a:lstStyle/>
                    <a:p>
                      <a:r>
                        <a:rPr lang="en-US" sz="2000"/>
                        <a:t>Method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10000"/>
                  </a:ext>
                </a:extLst>
              </a:tr>
              <a:tr h="932305">
                <a:tc>
                  <a:txBody>
                    <a:bodyPr/>
                    <a:lstStyle/>
                    <a:p>
                      <a:pPr fontAlgn="t"/>
                      <a:r>
                        <a:rPr lang="en-US" sz="2000">
                          <a:solidFill>
                            <a:srgbClr val="414141"/>
                          </a:solidFill>
                          <a:effectLst/>
                        </a:rPr>
                        <a:t>AppendAllLines</a:t>
                      </a:r>
                    </a:p>
                  </a:txBody>
                  <a:tcPr/>
                </a:tc>
                <a:tc>
                  <a:txBody>
                    <a:bodyPr/>
                    <a:lstStyle/>
                    <a:p>
                      <a:pPr fontAlgn="t"/>
                      <a:r>
                        <a:rPr lang="en-US" sz="2000">
                          <a:solidFill>
                            <a:srgbClr val="414141"/>
                          </a:solidFill>
                          <a:effectLst/>
                        </a:rPr>
                        <a:t>Appends lines to a file, and then closes the file. If the specified file does not exist, this method creates a file, writes the specified lines to the file, and then closes the file</a:t>
                      </a:r>
                    </a:p>
                  </a:txBody>
                  <a:tcPr/>
                </a:tc>
                <a:extLst>
                  <a:ext uri="{0D108BD9-81ED-4DB2-BD59-A6C34878D82A}">
                    <a16:rowId xmlns:a16="http://schemas.microsoft.com/office/drawing/2014/main" val="10001"/>
                  </a:ext>
                </a:extLst>
              </a:tr>
              <a:tr h="932305">
                <a:tc>
                  <a:txBody>
                    <a:bodyPr/>
                    <a:lstStyle/>
                    <a:p>
                      <a:pPr fontAlgn="t"/>
                      <a:r>
                        <a:rPr lang="en-US" sz="2000">
                          <a:solidFill>
                            <a:srgbClr val="414141"/>
                          </a:solidFill>
                          <a:effectLst/>
                        </a:rPr>
                        <a:t>AppendAllText</a:t>
                      </a:r>
                    </a:p>
                  </a:txBody>
                  <a:tcPr/>
                </a:tc>
                <a:tc>
                  <a:txBody>
                    <a:bodyPr/>
                    <a:lstStyle/>
                    <a:p>
                      <a:pPr fontAlgn="t"/>
                      <a:r>
                        <a:rPr lang="en-US" sz="2000">
                          <a:solidFill>
                            <a:srgbClr val="414141"/>
                          </a:solidFill>
                          <a:effectLst/>
                        </a:rPr>
                        <a:t>Opens a file, appends the specified string to the file, and then closes the file. If the file does not exist, this method creates a file, writes the specified string to the file, then closes the file</a:t>
                      </a:r>
                    </a:p>
                  </a:txBody>
                  <a:tcPr/>
                </a:tc>
                <a:extLst>
                  <a:ext uri="{0D108BD9-81ED-4DB2-BD59-A6C34878D82A}">
                    <a16:rowId xmlns:a16="http://schemas.microsoft.com/office/drawing/2014/main" val="10002"/>
                  </a:ext>
                </a:extLst>
              </a:tr>
              <a:tr h="649789">
                <a:tc>
                  <a:txBody>
                    <a:bodyPr/>
                    <a:lstStyle/>
                    <a:p>
                      <a:pPr fontAlgn="t"/>
                      <a:r>
                        <a:rPr lang="en-US" sz="2000">
                          <a:solidFill>
                            <a:srgbClr val="414141"/>
                          </a:solidFill>
                          <a:effectLst/>
                        </a:rPr>
                        <a:t>AppendText</a:t>
                      </a:r>
                    </a:p>
                  </a:txBody>
                  <a:tcPr/>
                </a:tc>
                <a:tc>
                  <a:txBody>
                    <a:bodyPr/>
                    <a:lstStyle/>
                    <a:p>
                      <a:pPr fontAlgn="t"/>
                      <a:r>
                        <a:rPr lang="en-US" sz="2000">
                          <a:solidFill>
                            <a:srgbClr val="414141"/>
                          </a:solidFill>
                          <a:effectLst/>
                        </a:rPr>
                        <a:t>Creates a StreamWriter that appends UTF-8 encoded text to an existing file, or to a new file if the specified file does not exist</a:t>
                      </a:r>
                    </a:p>
                  </a:txBody>
                  <a:tcPr/>
                </a:tc>
                <a:extLst>
                  <a:ext uri="{0D108BD9-81ED-4DB2-BD59-A6C34878D82A}">
                    <a16:rowId xmlns:a16="http://schemas.microsoft.com/office/drawing/2014/main" val="10003"/>
                  </a:ext>
                </a:extLst>
              </a:tr>
              <a:tr h="504941">
                <a:tc>
                  <a:txBody>
                    <a:bodyPr/>
                    <a:lstStyle/>
                    <a:p>
                      <a:pPr fontAlgn="t"/>
                      <a:r>
                        <a:rPr lang="en-US" sz="2000">
                          <a:solidFill>
                            <a:srgbClr val="414141"/>
                          </a:solidFill>
                          <a:effectLst/>
                        </a:rPr>
                        <a:t>Copy</a:t>
                      </a:r>
                    </a:p>
                  </a:txBody>
                  <a:tcPr/>
                </a:tc>
                <a:tc>
                  <a:txBody>
                    <a:bodyPr/>
                    <a:lstStyle/>
                    <a:p>
                      <a:pPr fontAlgn="t"/>
                      <a:r>
                        <a:rPr lang="en-US" sz="2000">
                          <a:solidFill>
                            <a:srgbClr val="414141"/>
                          </a:solidFill>
                          <a:effectLst/>
                        </a:rPr>
                        <a:t>Copies an existing file to a new file. Overwriting a file of the same name is not allowed</a:t>
                      </a:r>
                    </a:p>
                  </a:txBody>
                  <a:tcPr/>
                </a:tc>
                <a:extLst>
                  <a:ext uri="{0D108BD9-81ED-4DB2-BD59-A6C34878D82A}">
                    <a16:rowId xmlns:a16="http://schemas.microsoft.com/office/drawing/2014/main" val="10004"/>
                  </a:ext>
                </a:extLst>
              </a:tr>
              <a:tr h="367272">
                <a:tc>
                  <a:txBody>
                    <a:bodyPr/>
                    <a:lstStyle/>
                    <a:p>
                      <a:pPr fontAlgn="t"/>
                      <a:r>
                        <a:rPr lang="en-US" sz="2000">
                          <a:solidFill>
                            <a:srgbClr val="414141"/>
                          </a:solidFill>
                          <a:effectLst/>
                        </a:rPr>
                        <a:t>Create</a:t>
                      </a:r>
                    </a:p>
                  </a:txBody>
                  <a:tcPr/>
                </a:tc>
                <a:tc>
                  <a:txBody>
                    <a:bodyPr/>
                    <a:lstStyle/>
                    <a:p>
                      <a:pPr fontAlgn="t"/>
                      <a:r>
                        <a:rPr lang="en-US" sz="2000">
                          <a:solidFill>
                            <a:srgbClr val="414141"/>
                          </a:solidFill>
                          <a:effectLst/>
                        </a:rPr>
                        <a:t>Creates or overwrites a file in the specified path</a:t>
                      </a:r>
                    </a:p>
                  </a:txBody>
                  <a:tcPr/>
                </a:tc>
                <a:extLst>
                  <a:ext uri="{0D108BD9-81ED-4DB2-BD59-A6C34878D82A}">
                    <a16:rowId xmlns:a16="http://schemas.microsoft.com/office/drawing/2014/main" val="10005"/>
                  </a:ext>
                </a:extLst>
              </a:tr>
              <a:tr h="367272">
                <a:tc>
                  <a:txBody>
                    <a:bodyPr/>
                    <a:lstStyle/>
                    <a:p>
                      <a:pPr fontAlgn="t"/>
                      <a:r>
                        <a:rPr lang="en-US" sz="2000">
                          <a:solidFill>
                            <a:srgbClr val="414141"/>
                          </a:solidFill>
                          <a:effectLst/>
                        </a:rPr>
                        <a:t>CreateText</a:t>
                      </a:r>
                    </a:p>
                  </a:txBody>
                  <a:tcPr/>
                </a:tc>
                <a:tc>
                  <a:txBody>
                    <a:bodyPr/>
                    <a:lstStyle/>
                    <a:p>
                      <a:pPr fontAlgn="t"/>
                      <a:r>
                        <a:rPr lang="en-US" sz="2000">
                          <a:solidFill>
                            <a:srgbClr val="414141"/>
                          </a:solidFill>
                          <a:effectLst/>
                        </a:rPr>
                        <a:t>Creates or opens a file for writing UTF-8 encoded text</a:t>
                      </a:r>
                    </a:p>
                  </a:txBody>
                  <a:tcPr/>
                </a:tc>
                <a:extLst>
                  <a:ext uri="{0D108BD9-81ED-4DB2-BD59-A6C34878D82A}">
                    <a16:rowId xmlns:a16="http://schemas.microsoft.com/office/drawing/2014/main" val="508282034"/>
                  </a:ext>
                </a:extLst>
              </a:tr>
            </a:tbl>
          </a:graphicData>
        </a:graphic>
      </p:graphicFrame>
      <p:sp>
        <p:nvSpPr>
          <p:cNvPr id="7" name="TextBox 6">
            <a:extLst>
              <a:ext uri="{FF2B5EF4-FFF2-40B4-BE49-F238E27FC236}">
                <a16:creationId xmlns:a16="http://schemas.microsoft.com/office/drawing/2014/main" id="{2CA59F5D-8231-49C8-BF26-7ED02332EA6F}"/>
              </a:ext>
            </a:extLst>
          </p:cNvPr>
          <p:cNvSpPr txBox="1"/>
          <p:nvPr/>
        </p:nvSpPr>
        <p:spPr>
          <a:xfrm>
            <a:off x="0" y="1320659"/>
            <a:ext cx="6167120" cy="618374"/>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a:latin typeface="+mj-lt"/>
              </a:rPr>
              <a:t>Important Methods of static File class</a:t>
            </a:r>
            <a:endParaRPr lang="en-US" sz="2600" dirty="0">
              <a:latin typeface="+mj-lt"/>
            </a:endParaRPr>
          </a:p>
        </p:txBody>
      </p:sp>
    </p:spTree>
    <p:extLst>
      <p:ext uri="{BB962C8B-B14F-4D97-AF65-F5344CB8AC3E}">
        <p14:creationId xmlns:p14="http://schemas.microsoft.com/office/powerpoint/2010/main" val="2089957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14</a:t>
            </a:fld>
            <a:endParaRPr lang="en-US" dirty="0"/>
          </a:p>
        </p:txBody>
      </p:sp>
      <p:sp>
        <p:nvSpPr>
          <p:cNvPr id="17" name="Title 1">
            <a:extLst>
              <a:ext uri="{FF2B5EF4-FFF2-40B4-BE49-F238E27FC236}">
                <a16:creationId xmlns:a16="http://schemas.microsoft.com/office/drawing/2014/main" id="{E0926664-EC9C-4F46-BAF9-4F166744B43F}"/>
              </a:ext>
            </a:extLst>
          </p:cNvPr>
          <p:cNvSpPr>
            <a:spLocks noGrp="1"/>
          </p:cNvSpPr>
          <p:nvPr>
            <p:ph type="title"/>
          </p:nvPr>
        </p:nvSpPr>
        <p:spPr>
          <a:xfrm>
            <a:off x="275516" y="687426"/>
            <a:ext cx="8889505" cy="575433"/>
          </a:xfrm>
        </p:spPr>
        <p:txBody>
          <a:bodyPr>
            <a:normAutofit fontScale="90000"/>
          </a:bodyPr>
          <a:lstStyle/>
          <a:p>
            <a:r>
              <a:rPr lang="en-US" b="1"/>
              <a:t>Working with File Class</a:t>
            </a:r>
            <a:endParaRPr lang="en-US" dirty="0"/>
          </a:p>
        </p:txBody>
      </p:sp>
      <p:graphicFrame>
        <p:nvGraphicFramePr>
          <p:cNvPr id="6" name="Table 5">
            <a:extLst>
              <a:ext uri="{FF2B5EF4-FFF2-40B4-BE49-F238E27FC236}">
                <a16:creationId xmlns:a16="http://schemas.microsoft.com/office/drawing/2014/main" id="{645E7BFF-F43E-4F03-92A3-4CB5BFC24385}"/>
              </a:ext>
            </a:extLst>
          </p:cNvPr>
          <p:cNvGraphicFramePr>
            <a:graphicFrameLocks noGrp="1"/>
          </p:cNvGraphicFramePr>
          <p:nvPr>
            <p:extLst>
              <p:ext uri="{D42A27DB-BD31-4B8C-83A1-F6EECF244321}">
                <p14:modId xmlns:p14="http://schemas.microsoft.com/office/powerpoint/2010/main" val="1950732649"/>
              </p:ext>
            </p:extLst>
          </p:nvPr>
        </p:nvGraphicFramePr>
        <p:xfrm>
          <a:off x="252505" y="1462064"/>
          <a:ext cx="11786290" cy="4953907"/>
        </p:xfrm>
        <a:graphic>
          <a:graphicData uri="http://schemas.openxmlformats.org/drawingml/2006/table">
            <a:tbl>
              <a:tblPr firstRow="1" bandRow="1">
                <a:tableStyleId>{5C22544A-7EE6-4342-B048-85BDC9FD1C3A}</a:tableStyleId>
              </a:tblPr>
              <a:tblGrid>
                <a:gridCol w="2299018">
                  <a:extLst>
                    <a:ext uri="{9D8B030D-6E8A-4147-A177-3AD203B41FA5}">
                      <a16:colId xmlns:a16="http://schemas.microsoft.com/office/drawing/2014/main" val="20000"/>
                    </a:ext>
                  </a:extLst>
                </a:gridCol>
                <a:gridCol w="9487272">
                  <a:extLst>
                    <a:ext uri="{9D8B030D-6E8A-4147-A177-3AD203B41FA5}">
                      <a16:colId xmlns:a16="http://schemas.microsoft.com/office/drawing/2014/main" val="20001"/>
                    </a:ext>
                  </a:extLst>
                </a:gridCol>
              </a:tblGrid>
              <a:tr h="412592">
                <a:tc>
                  <a:txBody>
                    <a:bodyPr/>
                    <a:lstStyle/>
                    <a:p>
                      <a:r>
                        <a:rPr lang="en-US" sz="2000" b="1"/>
                        <a:t>Method Name</a:t>
                      </a:r>
                      <a:endParaRPr lang="en-US" sz="2000" b="1" dirty="0"/>
                    </a:p>
                  </a:txBody>
                  <a:tcPr/>
                </a:tc>
                <a:tc>
                  <a:txBody>
                    <a:bodyPr/>
                    <a:lstStyle/>
                    <a:p>
                      <a:r>
                        <a:rPr lang="en-US" sz="2000" b="1" dirty="0"/>
                        <a:t>Description</a:t>
                      </a:r>
                    </a:p>
                  </a:txBody>
                  <a:tcPr/>
                </a:tc>
                <a:extLst>
                  <a:ext uri="{0D108BD9-81ED-4DB2-BD59-A6C34878D82A}">
                    <a16:rowId xmlns:a16="http://schemas.microsoft.com/office/drawing/2014/main" val="10000"/>
                  </a:ext>
                </a:extLst>
              </a:tr>
              <a:tr h="412592">
                <a:tc>
                  <a:txBody>
                    <a:bodyPr/>
                    <a:lstStyle/>
                    <a:p>
                      <a:pPr fontAlgn="t"/>
                      <a:r>
                        <a:rPr lang="en-US" sz="2000">
                          <a:solidFill>
                            <a:srgbClr val="414141"/>
                          </a:solidFill>
                          <a:effectLst/>
                        </a:rPr>
                        <a:t>Delete</a:t>
                      </a:r>
                    </a:p>
                  </a:txBody>
                  <a:tcPr/>
                </a:tc>
                <a:tc>
                  <a:txBody>
                    <a:bodyPr/>
                    <a:lstStyle/>
                    <a:p>
                      <a:pPr fontAlgn="t"/>
                      <a:r>
                        <a:rPr lang="en-US" sz="2000">
                          <a:solidFill>
                            <a:srgbClr val="414141"/>
                          </a:solidFill>
                          <a:effectLst/>
                        </a:rPr>
                        <a:t>Deletes the specified file</a:t>
                      </a:r>
                    </a:p>
                  </a:txBody>
                  <a:tcPr/>
                </a:tc>
                <a:extLst>
                  <a:ext uri="{0D108BD9-81ED-4DB2-BD59-A6C34878D82A}">
                    <a16:rowId xmlns:a16="http://schemas.microsoft.com/office/drawing/2014/main" val="10001"/>
                  </a:ext>
                </a:extLst>
              </a:tr>
              <a:tr h="668943">
                <a:tc>
                  <a:txBody>
                    <a:bodyPr/>
                    <a:lstStyle/>
                    <a:p>
                      <a:pPr fontAlgn="t"/>
                      <a:r>
                        <a:rPr lang="en-US" sz="2000">
                          <a:solidFill>
                            <a:srgbClr val="414141"/>
                          </a:solidFill>
                          <a:effectLst/>
                        </a:rPr>
                        <a:t>Decrypt</a:t>
                      </a:r>
                    </a:p>
                  </a:txBody>
                  <a:tcPr/>
                </a:tc>
                <a:tc>
                  <a:txBody>
                    <a:bodyPr/>
                    <a:lstStyle/>
                    <a:p>
                      <a:pPr fontAlgn="t"/>
                      <a:r>
                        <a:rPr lang="en-US" sz="2000">
                          <a:solidFill>
                            <a:srgbClr val="414141"/>
                          </a:solidFill>
                          <a:effectLst/>
                        </a:rPr>
                        <a:t>Decrypts a file that was encrypted by the current account using the Encrypt method</a:t>
                      </a:r>
                    </a:p>
                  </a:txBody>
                  <a:tcPr/>
                </a:tc>
                <a:extLst>
                  <a:ext uri="{0D108BD9-81ED-4DB2-BD59-A6C34878D82A}">
                    <a16:rowId xmlns:a16="http://schemas.microsoft.com/office/drawing/2014/main" val="3896853296"/>
                  </a:ext>
                </a:extLst>
              </a:tr>
              <a:tr h="412592">
                <a:tc>
                  <a:txBody>
                    <a:bodyPr/>
                    <a:lstStyle/>
                    <a:p>
                      <a:pPr fontAlgn="t"/>
                      <a:r>
                        <a:rPr lang="en-US" sz="2000">
                          <a:solidFill>
                            <a:srgbClr val="414141"/>
                          </a:solidFill>
                          <a:effectLst/>
                        </a:rPr>
                        <a:t>Encrypt</a:t>
                      </a:r>
                    </a:p>
                  </a:txBody>
                  <a:tcPr/>
                </a:tc>
                <a:tc>
                  <a:txBody>
                    <a:bodyPr/>
                    <a:lstStyle/>
                    <a:p>
                      <a:pPr fontAlgn="t"/>
                      <a:r>
                        <a:rPr lang="en-US" sz="2000">
                          <a:solidFill>
                            <a:srgbClr val="414141"/>
                          </a:solidFill>
                          <a:effectLst/>
                        </a:rPr>
                        <a:t>Encrypts a file so that only the account used to encrypt the file can decrypt it</a:t>
                      </a:r>
                    </a:p>
                  </a:txBody>
                  <a:tcPr/>
                </a:tc>
                <a:extLst>
                  <a:ext uri="{0D108BD9-81ED-4DB2-BD59-A6C34878D82A}">
                    <a16:rowId xmlns:a16="http://schemas.microsoft.com/office/drawing/2014/main" val="10002"/>
                  </a:ext>
                </a:extLst>
              </a:tr>
              <a:tr h="412592">
                <a:tc>
                  <a:txBody>
                    <a:bodyPr/>
                    <a:lstStyle/>
                    <a:p>
                      <a:pPr fontAlgn="t"/>
                      <a:r>
                        <a:rPr lang="en-US" sz="2000">
                          <a:solidFill>
                            <a:srgbClr val="414141"/>
                          </a:solidFill>
                          <a:effectLst/>
                        </a:rPr>
                        <a:t>Exists</a:t>
                      </a:r>
                    </a:p>
                  </a:txBody>
                  <a:tcPr/>
                </a:tc>
                <a:tc>
                  <a:txBody>
                    <a:bodyPr/>
                    <a:lstStyle/>
                    <a:p>
                      <a:pPr fontAlgn="t"/>
                      <a:r>
                        <a:rPr lang="en-US" sz="2000">
                          <a:solidFill>
                            <a:srgbClr val="414141"/>
                          </a:solidFill>
                          <a:effectLst/>
                        </a:rPr>
                        <a:t>Determines whether the specified file exists</a:t>
                      </a:r>
                    </a:p>
                  </a:txBody>
                  <a:tcPr/>
                </a:tc>
                <a:extLst>
                  <a:ext uri="{0D108BD9-81ED-4DB2-BD59-A6C34878D82A}">
                    <a16:rowId xmlns:a16="http://schemas.microsoft.com/office/drawing/2014/main" val="10003"/>
                  </a:ext>
                </a:extLst>
              </a:tr>
              <a:tr h="729969">
                <a:tc>
                  <a:txBody>
                    <a:bodyPr/>
                    <a:lstStyle/>
                    <a:p>
                      <a:pPr fontAlgn="t"/>
                      <a:r>
                        <a:rPr lang="en-US" sz="2000">
                          <a:solidFill>
                            <a:srgbClr val="414141"/>
                          </a:solidFill>
                          <a:effectLst/>
                        </a:rPr>
                        <a:t>GetAccessControl</a:t>
                      </a:r>
                    </a:p>
                  </a:txBody>
                  <a:tcPr/>
                </a:tc>
                <a:tc>
                  <a:txBody>
                    <a:bodyPr/>
                    <a:lstStyle/>
                    <a:p>
                      <a:pPr fontAlgn="t"/>
                      <a:r>
                        <a:rPr lang="en-US" sz="2000">
                          <a:solidFill>
                            <a:srgbClr val="414141"/>
                          </a:solidFill>
                          <a:effectLst/>
                        </a:rPr>
                        <a:t>Gets a FileSecurity object that encapsulates the access control list (ACL) entries for a specified file</a:t>
                      </a:r>
                    </a:p>
                  </a:txBody>
                  <a:tcPr/>
                </a:tc>
                <a:extLst>
                  <a:ext uri="{0D108BD9-81ED-4DB2-BD59-A6C34878D82A}">
                    <a16:rowId xmlns:a16="http://schemas.microsoft.com/office/drawing/2014/main" val="10004"/>
                  </a:ext>
                </a:extLst>
              </a:tr>
              <a:tr h="729969">
                <a:tc>
                  <a:txBody>
                    <a:bodyPr/>
                    <a:lstStyle/>
                    <a:p>
                      <a:pPr fontAlgn="t"/>
                      <a:r>
                        <a:rPr lang="en-US" sz="2000">
                          <a:solidFill>
                            <a:srgbClr val="414141"/>
                          </a:solidFill>
                          <a:effectLst/>
                        </a:rPr>
                        <a:t>Move</a:t>
                      </a:r>
                    </a:p>
                  </a:txBody>
                  <a:tcPr/>
                </a:tc>
                <a:tc>
                  <a:txBody>
                    <a:bodyPr/>
                    <a:lstStyle/>
                    <a:p>
                      <a:pPr fontAlgn="t"/>
                      <a:r>
                        <a:rPr lang="en-US" sz="2000">
                          <a:solidFill>
                            <a:srgbClr val="414141"/>
                          </a:solidFill>
                          <a:effectLst/>
                        </a:rPr>
                        <a:t>Moves a specified file to a new location, providing the option to specify a new file name</a:t>
                      </a:r>
                    </a:p>
                  </a:txBody>
                  <a:tcPr/>
                </a:tc>
                <a:extLst>
                  <a:ext uri="{0D108BD9-81ED-4DB2-BD59-A6C34878D82A}">
                    <a16:rowId xmlns:a16="http://schemas.microsoft.com/office/drawing/2014/main" val="10005"/>
                  </a:ext>
                </a:extLst>
              </a:tr>
              <a:tr h="412592">
                <a:tc>
                  <a:txBody>
                    <a:bodyPr/>
                    <a:lstStyle/>
                    <a:p>
                      <a:pPr fontAlgn="t"/>
                      <a:r>
                        <a:rPr lang="en-US" sz="2000">
                          <a:solidFill>
                            <a:srgbClr val="414141"/>
                          </a:solidFill>
                          <a:effectLst/>
                        </a:rPr>
                        <a:t>Open</a:t>
                      </a:r>
                    </a:p>
                  </a:txBody>
                  <a:tcPr/>
                </a:tc>
                <a:tc>
                  <a:txBody>
                    <a:bodyPr/>
                    <a:lstStyle/>
                    <a:p>
                      <a:pPr fontAlgn="t"/>
                      <a:r>
                        <a:rPr lang="en-US" sz="2000">
                          <a:solidFill>
                            <a:srgbClr val="414141"/>
                          </a:solidFill>
                          <a:effectLst/>
                        </a:rPr>
                        <a:t>Opens a FileStream on the specified path with read/write access</a:t>
                      </a:r>
                    </a:p>
                  </a:txBody>
                  <a:tcPr/>
                </a:tc>
                <a:extLst>
                  <a:ext uri="{0D108BD9-81ED-4DB2-BD59-A6C34878D82A}">
                    <a16:rowId xmlns:a16="http://schemas.microsoft.com/office/drawing/2014/main" val="508282034"/>
                  </a:ext>
                </a:extLst>
              </a:tr>
              <a:tr h="729969">
                <a:tc>
                  <a:txBody>
                    <a:bodyPr/>
                    <a:lstStyle/>
                    <a:p>
                      <a:pPr fontAlgn="t"/>
                      <a:r>
                        <a:rPr lang="en-US" sz="2000">
                          <a:solidFill>
                            <a:srgbClr val="414141"/>
                          </a:solidFill>
                          <a:effectLst/>
                        </a:rPr>
                        <a:t>ReadAllBytes</a:t>
                      </a:r>
                    </a:p>
                  </a:txBody>
                  <a:tcPr/>
                </a:tc>
                <a:tc>
                  <a:txBody>
                    <a:bodyPr/>
                    <a:lstStyle/>
                    <a:p>
                      <a:pPr fontAlgn="t"/>
                      <a:r>
                        <a:rPr lang="en-US" sz="2000">
                          <a:solidFill>
                            <a:srgbClr val="414141"/>
                          </a:solidFill>
                          <a:effectLst/>
                        </a:rPr>
                        <a:t>Opens a binary file, reads the contents of the file into a byte array, and then closes the file</a:t>
                      </a:r>
                    </a:p>
                  </a:txBody>
                  <a:tcPr/>
                </a:tc>
                <a:extLst>
                  <a:ext uri="{0D108BD9-81ED-4DB2-BD59-A6C34878D82A}">
                    <a16:rowId xmlns:a16="http://schemas.microsoft.com/office/drawing/2014/main" val="4175548193"/>
                  </a:ext>
                </a:extLst>
              </a:tr>
            </a:tbl>
          </a:graphicData>
        </a:graphic>
      </p:graphicFrame>
    </p:spTree>
    <p:extLst>
      <p:ext uri="{BB962C8B-B14F-4D97-AF65-F5344CB8AC3E}">
        <p14:creationId xmlns:p14="http://schemas.microsoft.com/office/powerpoint/2010/main" val="39598720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15</a:t>
            </a:fld>
            <a:endParaRPr lang="en-US" dirty="0"/>
          </a:p>
        </p:txBody>
      </p:sp>
      <p:sp>
        <p:nvSpPr>
          <p:cNvPr id="17" name="Title 1">
            <a:extLst>
              <a:ext uri="{FF2B5EF4-FFF2-40B4-BE49-F238E27FC236}">
                <a16:creationId xmlns:a16="http://schemas.microsoft.com/office/drawing/2014/main" id="{E0926664-EC9C-4F46-BAF9-4F166744B43F}"/>
              </a:ext>
            </a:extLst>
          </p:cNvPr>
          <p:cNvSpPr>
            <a:spLocks noGrp="1"/>
          </p:cNvSpPr>
          <p:nvPr>
            <p:ph type="title"/>
          </p:nvPr>
        </p:nvSpPr>
        <p:spPr>
          <a:xfrm>
            <a:off x="275516" y="687426"/>
            <a:ext cx="8889505" cy="575433"/>
          </a:xfrm>
        </p:spPr>
        <p:txBody>
          <a:bodyPr>
            <a:normAutofit fontScale="90000"/>
          </a:bodyPr>
          <a:lstStyle/>
          <a:p>
            <a:r>
              <a:rPr lang="en-US" b="1"/>
              <a:t>Working with File Class</a:t>
            </a:r>
            <a:endParaRPr lang="en-US" dirty="0"/>
          </a:p>
        </p:txBody>
      </p:sp>
      <p:graphicFrame>
        <p:nvGraphicFramePr>
          <p:cNvPr id="6" name="Table 5">
            <a:extLst>
              <a:ext uri="{FF2B5EF4-FFF2-40B4-BE49-F238E27FC236}">
                <a16:creationId xmlns:a16="http://schemas.microsoft.com/office/drawing/2014/main" id="{645E7BFF-F43E-4F03-92A3-4CB5BFC24385}"/>
              </a:ext>
            </a:extLst>
          </p:cNvPr>
          <p:cNvGraphicFramePr>
            <a:graphicFrameLocks noGrp="1"/>
          </p:cNvGraphicFramePr>
          <p:nvPr>
            <p:extLst>
              <p:ext uri="{D42A27DB-BD31-4B8C-83A1-F6EECF244321}">
                <p14:modId xmlns:p14="http://schemas.microsoft.com/office/powerpoint/2010/main" val="546975496"/>
              </p:ext>
            </p:extLst>
          </p:nvPr>
        </p:nvGraphicFramePr>
        <p:xfrm>
          <a:off x="211567" y="1752455"/>
          <a:ext cx="11768866" cy="4616069"/>
        </p:xfrm>
        <a:graphic>
          <a:graphicData uri="http://schemas.openxmlformats.org/drawingml/2006/table">
            <a:tbl>
              <a:tblPr firstRow="1" bandRow="1">
                <a:tableStyleId>{5C22544A-7EE6-4342-B048-85BDC9FD1C3A}</a:tableStyleId>
              </a:tblPr>
              <a:tblGrid>
                <a:gridCol w="2122842">
                  <a:extLst>
                    <a:ext uri="{9D8B030D-6E8A-4147-A177-3AD203B41FA5}">
                      <a16:colId xmlns:a16="http://schemas.microsoft.com/office/drawing/2014/main" val="20000"/>
                    </a:ext>
                  </a:extLst>
                </a:gridCol>
                <a:gridCol w="9646024">
                  <a:extLst>
                    <a:ext uri="{9D8B030D-6E8A-4147-A177-3AD203B41FA5}">
                      <a16:colId xmlns:a16="http://schemas.microsoft.com/office/drawing/2014/main" val="20001"/>
                    </a:ext>
                  </a:extLst>
                </a:gridCol>
              </a:tblGrid>
              <a:tr h="495941">
                <a:tc>
                  <a:txBody>
                    <a:bodyPr/>
                    <a:lstStyle/>
                    <a:p>
                      <a:pPr>
                        <a:spcBef>
                          <a:spcPts val="600"/>
                        </a:spcBef>
                        <a:spcAft>
                          <a:spcPts val="600"/>
                        </a:spcAft>
                      </a:pPr>
                      <a:r>
                        <a:rPr lang="en-US" sz="2000"/>
                        <a:t>Method Name</a:t>
                      </a:r>
                      <a:endParaRPr lang="en-US" sz="2000" dirty="0"/>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495941">
                <a:tc>
                  <a:txBody>
                    <a:bodyPr/>
                    <a:lstStyle/>
                    <a:p>
                      <a:pPr fontAlgn="t">
                        <a:spcBef>
                          <a:spcPts val="1200"/>
                        </a:spcBef>
                        <a:spcAft>
                          <a:spcPts val="1200"/>
                        </a:spcAft>
                      </a:pPr>
                      <a:r>
                        <a:rPr lang="en-US" sz="2000">
                          <a:solidFill>
                            <a:srgbClr val="414141"/>
                          </a:solidFill>
                          <a:effectLst/>
                        </a:rPr>
                        <a:t>ReadAllLines</a:t>
                      </a:r>
                    </a:p>
                  </a:txBody>
                  <a:tcPr/>
                </a:tc>
                <a:tc>
                  <a:txBody>
                    <a:bodyPr/>
                    <a:lstStyle/>
                    <a:p>
                      <a:pPr fontAlgn="t">
                        <a:spcBef>
                          <a:spcPts val="1200"/>
                        </a:spcBef>
                        <a:spcAft>
                          <a:spcPts val="1200"/>
                        </a:spcAft>
                      </a:pPr>
                      <a:r>
                        <a:rPr lang="en-US" sz="2000">
                          <a:solidFill>
                            <a:srgbClr val="414141"/>
                          </a:solidFill>
                          <a:effectLst/>
                        </a:rPr>
                        <a:t>Opens a text file, reads all lines of the file, and then closes the file</a:t>
                      </a:r>
                    </a:p>
                  </a:txBody>
                  <a:tcPr/>
                </a:tc>
                <a:extLst>
                  <a:ext uri="{0D108BD9-81ED-4DB2-BD59-A6C34878D82A}">
                    <a16:rowId xmlns:a16="http://schemas.microsoft.com/office/drawing/2014/main" val="10001"/>
                  </a:ext>
                </a:extLst>
              </a:tr>
              <a:tr h="495941">
                <a:tc>
                  <a:txBody>
                    <a:bodyPr/>
                    <a:lstStyle/>
                    <a:p>
                      <a:pPr fontAlgn="t">
                        <a:spcBef>
                          <a:spcPts val="1200"/>
                        </a:spcBef>
                        <a:spcAft>
                          <a:spcPts val="1200"/>
                        </a:spcAft>
                      </a:pPr>
                      <a:r>
                        <a:rPr lang="en-US" sz="2000">
                          <a:solidFill>
                            <a:srgbClr val="414141"/>
                          </a:solidFill>
                          <a:effectLst/>
                        </a:rPr>
                        <a:t>ReadAllText</a:t>
                      </a:r>
                    </a:p>
                  </a:txBody>
                  <a:tcPr/>
                </a:tc>
                <a:tc>
                  <a:txBody>
                    <a:bodyPr/>
                    <a:lstStyle/>
                    <a:p>
                      <a:pPr fontAlgn="t">
                        <a:spcBef>
                          <a:spcPts val="1200"/>
                        </a:spcBef>
                        <a:spcAft>
                          <a:spcPts val="1200"/>
                        </a:spcAft>
                      </a:pPr>
                      <a:r>
                        <a:rPr lang="en-US" sz="2000">
                          <a:solidFill>
                            <a:srgbClr val="414141"/>
                          </a:solidFill>
                          <a:effectLst/>
                        </a:rPr>
                        <a:t>Opens a text file, reads all lines of the file, and then closes the file</a:t>
                      </a:r>
                    </a:p>
                  </a:txBody>
                  <a:tcPr/>
                </a:tc>
                <a:extLst>
                  <a:ext uri="{0D108BD9-81ED-4DB2-BD59-A6C34878D82A}">
                    <a16:rowId xmlns:a16="http://schemas.microsoft.com/office/drawing/2014/main" val="10002"/>
                  </a:ext>
                </a:extLst>
              </a:tr>
              <a:tr h="877435">
                <a:tc>
                  <a:txBody>
                    <a:bodyPr/>
                    <a:lstStyle/>
                    <a:p>
                      <a:pPr fontAlgn="t">
                        <a:spcBef>
                          <a:spcPts val="1200"/>
                        </a:spcBef>
                        <a:spcAft>
                          <a:spcPts val="1200"/>
                        </a:spcAft>
                      </a:pPr>
                      <a:r>
                        <a:rPr lang="en-US" sz="2000">
                          <a:solidFill>
                            <a:srgbClr val="414141"/>
                          </a:solidFill>
                          <a:effectLst/>
                        </a:rPr>
                        <a:t>Replace</a:t>
                      </a:r>
                    </a:p>
                  </a:txBody>
                  <a:tcPr/>
                </a:tc>
                <a:tc>
                  <a:txBody>
                    <a:bodyPr/>
                    <a:lstStyle/>
                    <a:p>
                      <a:pPr fontAlgn="t">
                        <a:spcBef>
                          <a:spcPts val="1200"/>
                        </a:spcBef>
                        <a:spcAft>
                          <a:spcPts val="1200"/>
                        </a:spcAft>
                      </a:pPr>
                      <a:r>
                        <a:rPr lang="en-US" sz="2000">
                          <a:solidFill>
                            <a:srgbClr val="414141"/>
                          </a:solidFill>
                          <a:effectLst/>
                        </a:rPr>
                        <a:t>Replaces the contents of a specified file with the contents of another file, deleting the original file, and creating a backup of the replaced file</a:t>
                      </a:r>
                    </a:p>
                  </a:txBody>
                  <a:tcPr/>
                </a:tc>
                <a:extLst>
                  <a:ext uri="{0D108BD9-81ED-4DB2-BD59-A6C34878D82A}">
                    <a16:rowId xmlns:a16="http://schemas.microsoft.com/office/drawing/2014/main" val="10003"/>
                  </a:ext>
                </a:extLst>
              </a:tr>
              <a:tr h="877435">
                <a:tc>
                  <a:txBody>
                    <a:bodyPr/>
                    <a:lstStyle/>
                    <a:p>
                      <a:pPr fontAlgn="t">
                        <a:spcBef>
                          <a:spcPts val="1200"/>
                        </a:spcBef>
                        <a:spcAft>
                          <a:spcPts val="1200"/>
                        </a:spcAft>
                      </a:pPr>
                      <a:r>
                        <a:rPr lang="en-US" sz="2000">
                          <a:solidFill>
                            <a:srgbClr val="414141"/>
                          </a:solidFill>
                          <a:effectLst/>
                        </a:rPr>
                        <a:t>WriteAllBytes</a:t>
                      </a:r>
                    </a:p>
                  </a:txBody>
                  <a:tcPr/>
                </a:tc>
                <a:tc>
                  <a:txBody>
                    <a:bodyPr/>
                    <a:lstStyle/>
                    <a:p>
                      <a:pPr fontAlgn="t">
                        <a:spcBef>
                          <a:spcPts val="1200"/>
                        </a:spcBef>
                        <a:spcAft>
                          <a:spcPts val="1200"/>
                        </a:spcAft>
                      </a:pPr>
                      <a:r>
                        <a:rPr lang="en-US" sz="2000">
                          <a:solidFill>
                            <a:srgbClr val="414141"/>
                          </a:solidFill>
                          <a:effectLst/>
                        </a:rPr>
                        <a:t>Creates a new file, writes the specified byte array to the file, and then closes the file. If the target file already exists, it is overwritten</a:t>
                      </a:r>
                    </a:p>
                  </a:txBody>
                  <a:tcPr/>
                </a:tc>
                <a:extLst>
                  <a:ext uri="{0D108BD9-81ED-4DB2-BD59-A6C34878D82A}">
                    <a16:rowId xmlns:a16="http://schemas.microsoft.com/office/drawing/2014/main" val="10004"/>
                  </a:ext>
                </a:extLst>
              </a:tr>
              <a:tr h="495941">
                <a:tc>
                  <a:txBody>
                    <a:bodyPr/>
                    <a:lstStyle/>
                    <a:p>
                      <a:pPr fontAlgn="t">
                        <a:spcBef>
                          <a:spcPts val="1200"/>
                        </a:spcBef>
                        <a:spcAft>
                          <a:spcPts val="1200"/>
                        </a:spcAft>
                      </a:pPr>
                      <a:r>
                        <a:rPr lang="en-US" sz="2000">
                          <a:solidFill>
                            <a:srgbClr val="414141"/>
                          </a:solidFill>
                          <a:effectLst/>
                        </a:rPr>
                        <a:t>WriteAllLines</a:t>
                      </a:r>
                    </a:p>
                  </a:txBody>
                  <a:tcPr/>
                </a:tc>
                <a:tc>
                  <a:txBody>
                    <a:bodyPr/>
                    <a:lstStyle/>
                    <a:p>
                      <a:pPr fontAlgn="t">
                        <a:spcBef>
                          <a:spcPts val="1200"/>
                        </a:spcBef>
                        <a:spcAft>
                          <a:spcPts val="1200"/>
                        </a:spcAft>
                      </a:pPr>
                      <a:r>
                        <a:rPr lang="en-US" sz="2000">
                          <a:solidFill>
                            <a:srgbClr val="414141"/>
                          </a:solidFill>
                          <a:effectLst/>
                        </a:rPr>
                        <a:t>Creates a new file, writes a collection of strings to the file, and then closes the file</a:t>
                      </a:r>
                    </a:p>
                  </a:txBody>
                  <a:tcPr/>
                </a:tc>
                <a:extLst>
                  <a:ext uri="{0D108BD9-81ED-4DB2-BD59-A6C34878D82A}">
                    <a16:rowId xmlns:a16="http://schemas.microsoft.com/office/drawing/2014/main" val="10005"/>
                  </a:ext>
                </a:extLst>
              </a:tr>
              <a:tr h="877435">
                <a:tc>
                  <a:txBody>
                    <a:bodyPr/>
                    <a:lstStyle/>
                    <a:p>
                      <a:pPr fontAlgn="t">
                        <a:spcBef>
                          <a:spcPts val="1200"/>
                        </a:spcBef>
                        <a:spcAft>
                          <a:spcPts val="1200"/>
                        </a:spcAft>
                      </a:pPr>
                      <a:r>
                        <a:rPr lang="en-US" sz="2000">
                          <a:solidFill>
                            <a:srgbClr val="414141"/>
                          </a:solidFill>
                          <a:effectLst/>
                        </a:rPr>
                        <a:t>WriteAllText</a:t>
                      </a:r>
                    </a:p>
                  </a:txBody>
                  <a:tcPr/>
                </a:tc>
                <a:tc>
                  <a:txBody>
                    <a:bodyPr/>
                    <a:lstStyle/>
                    <a:p>
                      <a:pPr fontAlgn="t">
                        <a:spcBef>
                          <a:spcPts val="1200"/>
                        </a:spcBef>
                        <a:spcAft>
                          <a:spcPts val="1200"/>
                        </a:spcAft>
                      </a:pPr>
                      <a:r>
                        <a:rPr lang="en-US" sz="2000">
                          <a:solidFill>
                            <a:srgbClr val="414141"/>
                          </a:solidFill>
                          <a:effectLst/>
                        </a:rPr>
                        <a:t>Creates a new file, writes the specified string to the file, and then closes the file. If the target file already exists, it is overwritten</a:t>
                      </a:r>
                    </a:p>
                  </a:txBody>
                  <a:tcPr/>
                </a:tc>
                <a:extLst>
                  <a:ext uri="{0D108BD9-81ED-4DB2-BD59-A6C34878D82A}">
                    <a16:rowId xmlns:a16="http://schemas.microsoft.com/office/drawing/2014/main" val="508282034"/>
                  </a:ext>
                </a:extLst>
              </a:tr>
            </a:tbl>
          </a:graphicData>
        </a:graphic>
      </p:graphicFrame>
    </p:spTree>
    <p:extLst>
      <p:ext uri="{BB962C8B-B14F-4D97-AF65-F5344CB8AC3E}">
        <p14:creationId xmlns:p14="http://schemas.microsoft.com/office/powerpoint/2010/main" val="1571375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16</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0463604" cy="575433"/>
          </a:xfrm>
        </p:spPr>
        <p:txBody>
          <a:bodyPr>
            <a:normAutofit fontScale="90000"/>
          </a:bodyPr>
          <a:lstStyle/>
          <a:p>
            <a:r>
              <a:rPr lang="en-US" b="1"/>
              <a:t>File Class Demonstration-01</a:t>
            </a:r>
            <a:endParaRPr lang="en-US" dirty="0"/>
          </a:p>
        </p:txBody>
      </p:sp>
      <p:pic>
        <p:nvPicPr>
          <p:cNvPr id="3" name="Picture 2">
            <a:extLst>
              <a:ext uri="{FF2B5EF4-FFF2-40B4-BE49-F238E27FC236}">
                <a16:creationId xmlns:a16="http://schemas.microsoft.com/office/drawing/2014/main" id="{93CF4003-EE45-4284-AFCD-FD6F56C9692E}"/>
              </a:ext>
            </a:extLst>
          </p:cNvPr>
          <p:cNvPicPr>
            <a:picLocks noChangeAspect="1"/>
          </p:cNvPicPr>
          <p:nvPr/>
        </p:nvPicPr>
        <p:blipFill>
          <a:blip r:embed="rId2"/>
          <a:stretch>
            <a:fillRect/>
          </a:stretch>
        </p:blipFill>
        <p:spPr>
          <a:xfrm>
            <a:off x="7942460" y="4886251"/>
            <a:ext cx="3012848" cy="1284323"/>
          </a:xfrm>
          <a:prstGeom prst="rect">
            <a:avLst/>
          </a:prstGeom>
        </p:spPr>
      </p:pic>
      <p:grpSp>
        <p:nvGrpSpPr>
          <p:cNvPr id="10" name="Group 9">
            <a:extLst>
              <a:ext uri="{FF2B5EF4-FFF2-40B4-BE49-F238E27FC236}">
                <a16:creationId xmlns:a16="http://schemas.microsoft.com/office/drawing/2014/main" id="{89D2F05C-257C-4FDB-BF83-3352BA987826}"/>
              </a:ext>
            </a:extLst>
          </p:cNvPr>
          <p:cNvGrpSpPr/>
          <p:nvPr/>
        </p:nvGrpSpPr>
        <p:grpSpPr>
          <a:xfrm>
            <a:off x="275516" y="1459133"/>
            <a:ext cx="6306456" cy="4989292"/>
            <a:chOff x="275516" y="1459133"/>
            <a:chExt cx="6306456" cy="4989292"/>
          </a:xfrm>
        </p:grpSpPr>
        <p:pic>
          <p:nvPicPr>
            <p:cNvPr id="7" name="Picture 6">
              <a:extLst>
                <a:ext uri="{FF2B5EF4-FFF2-40B4-BE49-F238E27FC236}">
                  <a16:creationId xmlns:a16="http://schemas.microsoft.com/office/drawing/2014/main" id="{19B89FE5-9339-4D73-A093-2037F1E5B535}"/>
                </a:ext>
              </a:extLst>
            </p:cNvPr>
            <p:cNvPicPr>
              <a:picLocks noChangeAspect="1"/>
            </p:cNvPicPr>
            <p:nvPr/>
          </p:nvPicPr>
          <p:blipFill>
            <a:blip r:embed="rId3"/>
            <a:stretch>
              <a:fillRect/>
            </a:stretch>
          </p:blipFill>
          <p:spPr>
            <a:xfrm>
              <a:off x="372337" y="1459133"/>
              <a:ext cx="6209635" cy="4989292"/>
            </a:xfrm>
            <a:prstGeom prst="rect">
              <a:avLst/>
            </a:prstGeom>
          </p:spPr>
        </p:pic>
        <p:sp>
          <p:nvSpPr>
            <p:cNvPr id="9" name="Rectangle 8">
              <a:extLst>
                <a:ext uri="{FF2B5EF4-FFF2-40B4-BE49-F238E27FC236}">
                  <a16:creationId xmlns:a16="http://schemas.microsoft.com/office/drawing/2014/main" id="{D9122041-7520-42E6-859C-E77091BEC56D}"/>
                </a:ext>
              </a:extLst>
            </p:cNvPr>
            <p:cNvSpPr/>
            <p:nvPr/>
          </p:nvSpPr>
          <p:spPr>
            <a:xfrm>
              <a:off x="275516" y="1656080"/>
              <a:ext cx="1797124" cy="2235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9D26F458-84DE-4731-B380-21ED6449A715}"/>
              </a:ext>
            </a:extLst>
          </p:cNvPr>
          <p:cNvGrpSpPr/>
          <p:nvPr/>
        </p:nvGrpSpPr>
        <p:grpSpPr>
          <a:xfrm>
            <a:off x="7278509" y="1491991"/>
            <a:ext cx="4637975" cy="2852685"/>
            <a:chOff x="7343250" y="1459133"/>
            <a:chExt cx="4637975" cy="2852685"/>
          </a:xfrm>
        </p:grpSpPr>
        <p:pic>
          <p:nvPicPr>
            <p:cNvPr id="12" name="Picture 11">
              <a:extLst>
                <a:ext uri="{FF2B5EF4-FFF2-40B4-BE49-F238E27FC236}">
                  <a16:creationId xmlns:a16="http://schemas.microsoft.com/office/drawing/2014/main" id="{E70C49DF-CB3A-4B5A-B3C3-1FB06E0D6987}"/>
                </a:ext>
              </a:extLst>
            </p:cNvPr>
            <p:cNvPicPr>
              <a:picLocks noChangeAspect="1"/>
            </p:cNvPicPr>
            <p:nvPr/>
          </p:nvPicPr>
          <p:blipFill>
            <a:blip r:embed="rId4"/>
            <a:stretch>
              <a:fillRect/>
            </a:stretch>
          </p:blipFill>
          <p:spPr>
            <a:xfrm>
              <a:off x="7343250" y="1459133"/>
              <a:ext cx="4637975" cy="2852685"/>
            </a:xfrm>
            <a:prstGeom prst="rect">
              <a:avLst/>
            </a:prstGeom>
          </p:spPr>
        </p:pic>
        <p:sp>
          <p:nvSpPr>
            <p:cNvPr id="14" name="Rectangle 13">
              <a:extLst>
                <a:ext uri="{FF2B5EF4-FFF2-40B4-BE49-F238E27FC236}">
                  <a16:creationId xmlns:a16="http://schemas.microsoft.com/office/drawing/2014/main" id="{C1AE64C5-0125-41D7-BB83-A0678570BB57}"/>
                </a:ext>
              </a:extLst>
            </p:cNvPr>
            <p:cNvSpPr/>
            <p:nvPr/>
          </p:nvSpPr>
          <p:spPr>
            <a:xfrm>
              <a:off x="7363570" y="3974098"/>
              <a:ext cx="4300110" cy="33771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783102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17</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0065913" cy="575433"/>
          </a:xfrm>
        </p:spPr>
        <p:txBody>
          <a:bodyPr>
            <a:normAutofit fontScale="90000"/>
          </a:bodyPr>
          <a:lstStyle/>
          <a:p>
            <a:r>
              <a:rPr lang="en-US" b="1"/>
              <a:t>File Class Demonstration-02</a:t>
            </a:r>
            <a:endParaRPr lang="en-US" dirty="0"/>
          </a:p>
        </p:txBody>
      </p:sp>
      <p:pic>
        <p:nvPicPr>
          <p:cNvPr id="3" name="Picture 2">
            <a:extLst>
              <a:ext uri="{FF2B5EF4-FFF2-40B4-BE49-F238E27FC236}">
                <a16:creationId xmlns:a16="http://schemas.microsoft.com/office/drawing/2014/main" id="{109E4AE1-0EE4-4769-A145-0666FE9F0E34}"/>
              </a:ext>
            </a:extLst>
          </p:cNvPr>
          <p:cNvPicPr>
            <a:picLocks noChangeAspect="1"/>
          </p:cNvPicPr>
          <p:nvPr/>
        </p:nvPicPr>
        <p:blipFill>
          <a:blip r:embed="rId2"/>
          <a:stretch>
            <a:fillRect/>
          </a:stretch>
        </p:blipFill>
        <p:spPr>
          <a:xfrm>
            <a:off x="8492343" y="1835937"/>
            <a:ext cx="3482186" cy="1182629"/>
          </a:xfrm>
          <a:prstGeom prst="rect">
            <a:avLst/>
          </a:prstGeom>
        </p:spPr>
      </p:pic>
      <p:pic>
        <p:nvPicPr>
          <p:cNvPr id="7" name="Picture 6">
            <a:extLst>
              <a:ext uri="{FF2B5EF4-FFF2-40B4-BE49-F238E27FC236}">
                <a16:creationId xmlns:a16="http://schemas.microsoft.com/office/drawing/2014/main" id="{E520EE00-2A11-41A5-ABDC-4BCACC6135DA}"/>
              </a:ext>
            </a:extLst>
          </p:cNvPr>
          <p:cNvPicPr>
            <a:picLocks noChangeAspect="1"/>
          </p:cNvPicPr>
          <p:nvPr/>
        </p:nvPicPr>
        <p:blipFill>
          <a:blip r:embed="rId3"/>
          <a:stretch>
            <a:fillRect/>
          </a:stretch>
        </p:blipFill>
        <p:spPr>
          <a:xfrm>
            <a:off x="20320" y="1665882"/>
            <a:ext cx="8185542" cy="4298038"/>
          </a:xfrm>
          <a:prstGeom prst="rect">
            <a:avLst/>
          </a:prstGeom>
        </p:spPr>
      </p:pic>
      <p:grpSp>
        <p:nvGrpSpPr>
          <p:cNvPr id="14" name="Group 13">
            <a:extLst>
              <a:ext uri="{FF2B5EF4-FFF2-40B4-BE49-F238E27FC236}">
                <a16:creationId xmlns:a16="http://schemas.microsoft.com/office/drawing/2014/main" id="{49A99CAA-5D75-4EE6-A43C-097EDCDE11B7}"/>
              </a:ext>
            </a:extLst>
          </p:cNvPr>
          <p:cNvGrpSpPr/>
          <p:nvPr/>
        </p:nvGrpSpPr>
        <p:grpSpPr>
          <a:xfrm>
            <a:off x="8100151" y="3940333"/>
            <a:ext cx="3915018" cy="2503570"/>
            <a:chOff x="8205862" y="2143050"/>
            <a:chExt cx="3915018" cy="2503570"/>
          </a:xfrm>
        </p:grpSpPr>
        <p:pic>
          <p:nvPicPr>
            <p:cNvPr id="12" name="Picture 11">
              <a:extLst>
                <a:ext uri="{FF2B5EF4-FFF2-40B4-BE49-F238E27FC236}">
                  <a16:creationId xmlns:a16="http://schemas.microsoft.com/office/drawing/2014/main" id="{3442F0AA-AAAA-4781-8C12-2438DE9A537C}"/>
                </a:ext>
              </a:extLst>
            </p:cNvPr>
            <p:cNvPicPr>
              <a:picLocks noChangeAspect="1"/>
            </p:cNvPicPr>
            <p:nvPr/>
          </p:nvPicPr>
          <p:blipFill>
            <a:blip r:embed="rId4"/>
            <a:stretch>
              <a:fillRect/>
            </a:stretch>
          </p:blipFill>
          <p:spPr>
            <a:xfrm>
              <a:off x="8205862" y="2143050"/>
              <a:ext cx="3874378" cy="2503570"/>
            </a:xfrm>
            <a:prstGeom prst="rect">
              <a:avLst/>
            </a:prstGeom>
          </p:spPr>
        </p:pic>
        <p:sp>
          <p:nvSpPr>
            <p:cNvPr id="13" name="Rectangle 12">
              <a:extLst>
                <a:ext uri="{FF2B5EF4-FFF2-40B4-BE49-F238E27FC236}">
                  <a16:creationId xmlns:a16="http://schemas.microsoft.com/office/drawing/2014/main" id="{D06EFBED-0A83-4018-81A9-CD33C84E37EB}"/>
                </a:ext>
              </a:extLst>
            </p:cNvPr>
            <p:cNvSpPr/>
            <p:nvPr/>
          </p:nvSpPr>
          <p:spPr>
            <a:xfrm>
              <a:off x="9966960" y="2928079"/>
              <a:ext cx="2153920" cy="50092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19445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7449587" cy="575433"/>
          </a:xfrm>
        </p:spPr>
        <p:txBody>
          <a:bodyPr>
            <a:normAutofit fontScale="90000"/>
          </a:bodyPr>
          <a:lstStyle/>
          <a:p>
            <a:r>
              <a:rPr lang="en-US" b="1" dirty="0"/>
              <a:t>Working with </a:t>
            </a:r>
            <a:r>
              <a:rPr lang="en-US" b="1" dirty="0" err="1"/>
              <a:t>FileInfo</a:t>
            </a:r>
            <a:r>
              <a:rPr lang="en-US" b="1" dirty="0"/>
              <a:t> Class</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18</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291131"/>
            <a:ext cx="12192000" cy="2495811"/>
          </a:xfrm>
          <a:prstGeom prst="rect">
            <a:avLst/>
          </a:prstGeom>
          <a:noFill/>
        </p:spPr>
        <p:txBody>
          <a:bodyPr wrap="square">
            <a:spAutoFit/>
          </a:bodyPr>
          <a:lstStyle/>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The FileInfo class provides the same functionality as the static </a:t>
            </a:r>
            <a:r>
              <a:rPr lang="en-US" sz="2600" b="1">
                <a:latin typeface="+mj-lt"/>
              </a:rPr>
              <a:t>File</a:t>
            </a:r>
            <a:r>
              <a:rPr lang="en-US" sz="2600">
                <a:latin typeface="+mj-lt"/>
              </a:rPr>
              <a:t> class but we have more control on read/write operations on files by writing code manually for reading or writing bytes from a file</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Important Properties and Methods of </a:t>
            </a:r>
            <a:r>
              <a:rPr lang="en-US" sz="2600" b="1">
                <a:latin typeface="+mj-lt"/>
              </a:rPr>
              <a:t>FileInfo </a:t>
            </a:r>
            <a:r>
              <a:rPr lang="en-US" sz="2600">
                <a:latin typeface="+mj-lt"/>
              </a:rPr>
              <a:t>class:</a:t>
            </a:r>
            <a:endParaRPr lang="en-US" sz="2600" dirty="0">
              <a:latin typeface="+mj-lt"/>
            </a:endParaRPr>
          </a:p>
        </p:txBody>
      </p:sp>
      <p:graphicFrame>
        <p:nvGraphicFramePr>
          <p:cNvPr id="6" name="Table 5">
            <a:extLst>
              <a:ext uri="{FF2B5EF4-FFF2-40B4-BE49-F238E27FC236}">
                <a16:creationId xmlns:a16="http://schemas.microsoft.com/office/drawing/2014/main" id="{AA8F4965-B4E1-4A57-A2BD-9C6E58BD9760}"/>
              </a:ext>
            </a:extLst>
          </p:cNvPr>
          <p:cNvGraphicFramePr>
            <a:graphicFrameLocks noGrp="1"/>
          </p:cNvGraphicFramePr>
          <p:nvPr>
            <p:extLst>
              <p:ext uri="{D42A27DB-BD31-4B8C-83A1-F6EECF244321}">
                <p14:modId xmlns:p14="http://schemas.microsoft.com/office/powerpoint/2010/main" val="2687896566"/>
              </p:ext>
            </p:extLst>
          </p:nvPr>
        </p:nvGraphicFramePr>
        <p:xfrm>
          <a:off x="275516" y="3812343"/>
          <a:ext cx="11709655" cy="2622648"/>
        </p:xfrm>
        <a:graphic>
          <a:graphicData uri="http://schemas.openxmlformats.org/drawingml/2006/table">
            <a:tbl>
              <a:tblPr firstRow="1" bandRow="1">
                <a:tableStyleId>{5C22544A-7EE6-4342-B048-85BDC9FD1C3A}</a:tableStyleId>
              </a:tblPr>
              <a:tblGrid>
                <a:gridCol w="3064209">
                  <a:extLst>
                    <a:ext uri="{9D8B030D-6E8A-4147-A177-3AD203B41FA5}">
                      <a16:colId xmlns:a16="http://schemas.microsoft.com/office/drawing/2014/main" val="20000"/>
                    </a:ext>
                  </a:extLst>
                </a:gridCol>
                <a:gridCol w="8645446">
                  <a:extLst>
                    <a:ext uri="{9D8B030D-6E8A-4147-A177-3AD203B41FA5}">
                      <a16:colId xmlns:a16="http://schemas.microsoft.com/office/drawing/2014/main" val="20001"/>
                    </a:ext>
                  </a:extLst>
                </a:gridCol>
              </a:tblGrid>
              <a:tr h="567342">
                <a:tc>
                  <a:txBody>
                    <a:bodyPr/>
                    <a:lstStyle/>
                    <a:p>
                      <a:r>
                        <a:rPr lang="en-US" sz="2000"/>
                        <a:t>Property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10000"/>
                  </a:ext>
                </a:extLst>
              </a:tr>
              <a:tr h="690155">
                <a:tc>
                  <a:txBody>
                    <a:bodyPr/>
                    <a:lstStyle/>
                    <a:p>
                      <a:pPr fontAlgn="t"/>
                      <a:r>
                        <a:rPr lang="en-US" sz="2000">
                          <a:solidFill>
                            <a:srgbClr val="414141"/>
                          </a:solidFill>
                          <a:effectLst/>
                        </a:rPr>
                        <a:t>Directory</a:t>
                      </a:r>
                    </a:p>
                  </a:txBody>
                  <a:tcPr/>
                </a:tc>
                <a:tc>
                  <a:txBody>
                    <a:bodyPr/>
                    <a:lstStyle/>
                    <a:p>
                      <a:pPr fontAlgn="t"/>
                      <a:r>
                        <a:rPr lang="en-US" sz="2000">
                          <a:solidFill>
                            <a:srgbClr val="414141"/>
                          </a:solidFill>
                          <a:effectLst/>
                        </a:rPr>
                        <a:t>Gets an instance of the parent directory</a:t>
                      </a:r>
                    </a:p>
                  </a:txBody>
                  <a:tcPr/>
                </a:tc>
                <a:extLst>
                  <a:ext uri="{0D108BD9-81ED-4DB2-BD59-A6C34878D82A}">
                    <a16:rowId xmlns:a16="http://schemas.microsoft.com/office/drawing/2014/main" val="10004"/>
                  </a:ext>
                </a:extLst>
              </a:tr>
              <a:tr h="677732">
                <a:tc>
                  <a:txBody>
                    <a:bodyPr/>
                    <a:lstStyle/>
                    <a:p>
                      <a:pPr fontAlgn="t"/>
                      <a:r>
                        <a:rPr lang="en-US" sz="2000">
                          <a:solidFill>
                            <a:srgbClr val="414141"/>
                          </a:solidFill>
                          <a:effectLst/>
                        </a:rPr>
                        <a:t>DirectoryName</a:t>
                      </a:r>
                    </a:p>
                  </a:txBody>
                  <a:tcPr/>
                </a:tc>
                <a:tc>
                  <a:txBody>
                    <a:bodyPr/>
                    <a:lstStyle/>
                    <a:p>
                      <a:pPr fontAlgn="t"/>
                      <a:r>
                        <a:rPr lang="en-US" sz="2000">
                          <a:solidFill>
                            <a:srgbClr val="414141"/>
                          </a:solidFill>
                          <a:effectLst/>
                        </a:rPr>
                        <a:t>Gets a string representing the directory's full path</a:t>
                      </a:r>
                    </a:p>
                  </a:txBody>
                  <a:tcPr/>
                </a:tc>
                <a:extLst>
                  <a:ext uri="{0D108BD9-81ED-4DB2-BD59-A6C34878D82A}">
                    <a16:rowId xmlns:a16="http://schemas.microsoft.com/office/drawing/2014/main" val="10005"/>
                  </a:ext>
                </a:extLst>
              </a:tr>
              <a:tr h="687419">
                <a:tc>
                  <a:txBody>
                    <a:bodyPr/>
                    <a:lstStyle/>
                    <a:p>
                      <a:pPr fontAlgn="t"/>
                      <a:r>
                        <a:rPr lang="en-US" sz="2000">
                          <a:solidFill>
                            <a:srgbClr val="414141"/>
                          </a:solidFill>
                          <a:effectLst/>
                        </a:rPr>
                        <a:t>Exists</a:t>
                      </a:r>
                    </a:p>
                  </a:txBody>
                  <a:tcPr/>
                </a:tc>
                <a:tc>
                  <a:txBody>
                    <a:bodyPr/>
                    <a:lstStyle/>
                    <a:p>
                      <a:pPr fontAlgn="t"/>
                      <a:r>
                        <a:rPr lang="en-US" sz="2000">
                          <a:solidFill>
                            <a:srgbClr val="414141"/>
                          </a:solidFill>
                          <a:effectLst/>
                        </a:rPr>
                        <a:t>Gets a value indicating whether a file exists</a:t>
                      </a:r>
                    </a:p>
                  </a:txBody>
                  <a:tcPr/>
                </a:tc>
                <a:extLst>
                  <a:ext uri="{0D108BD9-81ED-4DB2-BD59-A6C34878D82A}">
                    <a16:rowId xmlns:a16="http://schemas.microsoft.com/office/drawing/2014/main" val="4131640326"/>
                  </a:ext>
                </a:extLst>
              </a:tr>
            </a:tbl>
          </a:graphicData>
        </a:graphic>
      </p:graphicFrame>
    </p:spTree>
    <p:extLst>
      <p:ext uri="{BB962C8B-B14F-4D97-AF65-F5344CB8AC3E}">
        <p14:creationId xmlns:p14="http://schemas.microsoft.com/office/powerpoint/2010/main" val="28080533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19</a:t>
            </a:fld>
            <a:endParaRPr lang="en-US" dirty="0"/>
          </a:p>
        </p:txBody>
      </p:sp>
      <p:sp>
        <p:nvSpPr>
          <p:cNvPr id="8" name="Title 1">
            <a:extLst>
              <a:ext uri="{FF2B5EF4-FFF2-40B4-BE49-F238E27FC236}">
                <a16:creationId xmlns:a16="http://schemas.microsoft.com/office/drawing/2014/main" id="{4835628C-FA03-42E3-9D4A-493A72251D0A}"/>
              </a:ext>
            </a:extLst>
          </p:cNvPr>
          <p:cNvSpPr>
            <a:spLocks noGrp="1"/>
          </p:cNvSpPr>
          <p:nvPr>
            <p:ph type="title"/>
          </p:nvPr>
        </p:nvSpPr>
        <p:spPr>
          <a:xfrm>
            <a:off x="275516" y="687426"/>
            <a:ext cx="7449587" cy="575433"/>
          </a:xfrm>
        </p:spPr>
        <p:txBody>
          <a:bodyPr>
            <a:normAutofit fontScale="90000"/>
          </a:bodyPr>
          <a:lstStyle/>
          <a:p>
            <a:r>
              <a:rPr lang="en-US" b="1"/>
              <a:t>Working with FileInfo Class</a:t>
            </a:r>
            <a:endParaRPr lang="en-US" dirty="0"/>
          </a:p>
        </p:txBody>
      </p:sp>
      <p:graphicFrame>
        <p:nvGraphicFramePr>
          <p:cNvPr id="9" name="Table 8">
            <a:extLst>
              <a:ext uri="{FF2B5EF4-FFF2-40B4-BE49-F238E27FC236}">
                <a16:creationId xmlns:a16="http://schemas.microsoft.com/office/drawing/2014/main" id="{FCC3B173-14D9-4590-B1EB-4E02A2982E17}"/>
              </a:ext>
            </a:extLst>
          </p:cNvPr>
          <p:cNvGraphicFramePr>
            <a:graphicFrameLocks noGrp="1"/>
          </p:cNvGraphicFramePr>
          <p:nvPr>
            <p:extLst>
              <p:ext uri="{D42A27DB-BD31-4B8C-83A1-F6EECF244321}">
                <p14:modId xmlns:p14="http://schemas.microsoft.com/office/powerpoint/2010/main" val="2207233172"/>
              </p:ext>
            </p:extLst>
          </p:nvPr>
        </p:nvGraphicFramePr>
        <p:xfrm>
          <a:off x="211567" y="1673564"/>
          <a:ext cx="11768866" cy="4666276"/>
        </p:xfrm>
        <a:graphic>
          <a:graphicData uri="http://schemas.openxmlformats.org/drawingml/2006/table">
            <a:tbl>
              <a:tblPr firstRow="1" bandRow="1">
                <a:tableStyleId>{5C22544A-7EE6-4342-B048-85BDC9FD1C3A}</a:tableStyleId>
              </a:tblPr>
              <a:tblGrid>
                <a:gridCol w="2122842">
                  <a:extLst>
                    <a:ext uri="{9D8B030D-6E8A-4147-A177-3AD203B41FA5}">
                      <a16:colId xmlns:a16="http://schemas.microsoft.com/office/drawing/2014/main" val="20000"/>
                    </a:ext>
                  </a:extLst>
                </a:gridCol>
                <a:gridCol w="9646024">
                  <a:extLst>
                    <a:ext uri="{9D8B030D-6E8A-4147-A177-3AD203B41FA5}">
                      <a16:colId xmlns:a16="http://schemas.microsoft.com/office/drawing/2014/main" val="20001"/>
                    </a:ext>
                  </a:extLst>
                </a:gridCol>
              </a:tblGrid>
              <a:tr h="453117">
                <a:tc>
                  <a:txBody>
                    <a:bodyPr/>
                    <a:lstStyle/>
                    <a:p>
                      <a:pPr>
                        <a:spcBef>
                          <a:spcPts val="600"/>
                        </a:spcBef>
                        <a:spcAft>
                          <a:spcPts val="600"/>
                        </a:spcAft>
                      </a:pPr>
                      <a:r>
                        <a:rPr lang="en-US" sz="2000"/>
                        <a:t>Property Name</a:t>
                      </a:r>
                      <a:endParaRPr lang="en-US" sz="2000" dirty="0"/>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591911">
                <a:tc>
                  <a:txBody>
                    <a:bodyPr/>
                    <a:lstStyle/>
                    <a:p>
                      <a:pPr fontAlgn="t"/>
                      <a:r>
                        <a:rPr lang="en-US" sz="2000">
                          <a:solidFill>
                            <a:srgbClr val="414141"/>
                          </a:solidFill>
                          <a:effectLst/>
                        </a:rPr>
                        <a:t>Extension</a:t>
                      </a:r>
                    </a:p>
                  </a:txBody>
                  <a:tcPr/>
                </a:tc>
                <a:tc>
                  <a:txBody>
                    <a:bodyPr/>
                    <a:lstStyle/>
                    <a:p>
                      <a:pPr fontAlgn="t"/>
                      <a:r>
                        <a:rPr lang="en-US" sz="2000">
                          <a:solidFill>
                            <a:srgbClr val="414141"/>
                          </a:solidFill>
                          <a:effectLst/>
                        </a:rPr>
                        <a:t>Gets the string representing the extension part of the file</a:t>
                      </a:r>
                    </a:p>
                  </a:txBody>
                  <a:tcPr/>
                </a:tc>
                <a:extLst>
                  <a:ext uri="{0D108BD9-81ED-4DB2-BD59-A6C34878D82A}">
                    <a16:rowId xmlns:a16="http://schemas.microsoft.com/office/drawing/2014/main" val="10001"/>
                  </a:ext>
                </a:extLst>
              </a:tr>
              <a:tr h="598715">
                <a:tc>
                  <a:txBody>
                    <a:bodyPr/>
                    <a:lstStyle/>
                    <a:p>
                      <a:pPr fontAlgn="t"/>
                      <a:r>
                        <a:rPr lang="en-US" sz="2000">
                          <a:solidFill>
                            <a:srgbClr val="414141"/>
                          </a:solidFill>
                          <a:effectLst/>
                        </a:rPr>
                        <a:t>FullName</a:t>
                      </a:r>
                    </a:p>
                  </a:txBody>
                  <a:tcPr/>
                </a:tc>
                <a:tc>
                  <a:txBody>
                    <a:bodyPr/>
                    <a:lstStyle/>
                    <a:p>
                      <a:pPr fontAlgn="t"/>
                      <a:r>
                        <a:rPr lang="en-US" sz="2000">
                          <a:solidFill>
                            <a:srgbClr val="414141"/>
                          </a:solidFill>
                          <a:effectLst/>
                        </a:rPr>
                        <a:t>Gets the full path of the directory or file</a:t>
                      </a:r>
                    </a:p>
                  </a:txBody>
                  <a:tcPr/>
                </a:tc>
                <a:extLst>
                  <a:ext uri="{0D108BD9-81ED-4DB2-BD59-A6C34878D82A}">
                    <a16:rowId xmlns:a16="http://schemas.microsoft.com/office/drawing/2014/main" val="10002"/>
                  </a:ext>
                </a:extLst>
              </a:tr>
              <a:tr h="614613">
                <a:tc>
                  <a:txBody>
                    <a:bodyPr/>
                    <a:lstStyle/>
                    <a:p>
                      <a:pPr fontAlgn="t"/>
                      <a:r>
                        <a:rPr lang="en-US" sz="2000">
                          <a:solidFill>
                            <a:srgbClr val="414141"/>
                          </a:solidFill>
                          <a:effectLst/>
                        </a:rPr>
                        <a:t>IsReadOnly</a:t>
                      </a:r>
                    </a:p>
                  </a:txBody>
                  <a:tcPr/>
                </a:tc>
                <a:tc>
                  <a:txBody>
                    <a:bodyPr/>
                    <a:lstStyle/>
                    <a:p>
                      <a:pPr fontAlgn="t"/>
                      <a:r>
                        <a:rPr lang="en-US" sz="2000">
                          <a:solidFill>
                            <a:srgbClr val="414141"/>
                          </a:solidFill>
                          <a:effectLst/>
                        </a:rPr>
                        <a:t>Gets or sets a value that determines if the current file is read only</a:t>
                      </a:r>
                    </a:p>
                  </a:txBody>
                  <a:tcPr/>
                </a:tc>
                <a:extLst>
                  <a:ext uri="{0D108BD9-81ED-4DB2-BD59-A6C34878D82A}">
                    <a16:rowId xmlns:a16="http://schemas.microsoft.com/office/drawing/2014/main" val="10003"/>
                  </a:ext>
                </a:extLst>
              </a:tr>
              <a:tr h="722332">
                <a:tc>
                  <a:txBody>
                    <a:bodyPr/>
                    <a:lstStyle/>
                    <a:p>
                      <a:pPr fontAlgn="t"/>
                      <a:r>
                        <a:rPr lang="en-US" sz="2000">
                          <a:solidFill>
                            <a:srgbClr val="414141"/>
                          </a:solidFill>
                          <a:effectLst/>
                        </a:rPr>
                        <a:t>LastAccessTime</a:t>
                      </a:r>
                    </a:p>
                  </a:txBody>
                  <a:tcPr/>
                </a:tc>
                <a:tc>
                  <a:txBody>
                    <a:bodyPr/>
                    <a:lstStyle/>
                    <a:p>
                      <a:pPr fontAlgn="t"/>
                      <a:r>
                        <a:rPr lang="en-US" sz="2000">
                          <a:solidFill>
                            <a:srgbClr val="414141"/>
                          </a:solidFill>
                          <a:effectLst/>
                        </a:rPr>
                        <a:t>Gets or sets the time the current file or directory was last accessed</a:t>
                      </a:r>
                    </a:p>
                  </a:txBody>
                  <a:tcPr/>
                </a:tc>
                <a:extLst>
                  <a:ext uri="{0D108BD9-81ED-4DB2-BD59-A6C34878D82A}">
                    <a16:rowId xmlns:a16="http://schemas.microsoft.com/office/drawing/2014/main" val="10004"/>
                  </a:ext>
                </a:extLst>
              </a:tr>
              <a:tr h="609600">
                <a:tc>
                  <a:txBody>
                    <a:bodyPr/>
                    <a:lstStyle/>
                    <a:p>
                      <a:pPr fontAlgn="t"/>
                      <a:r>
                        <a:rPr lang="en-US" sz="2000">
                          <a:solidFill>
                            <a:srgbClr val="414141"/>
                          </a:solidFill>
                          <a:effectLst/>
                        </a:rPr>
                        <a:t>LastWriteTime</a:t>
                      </a:r>
                    </a:p>
                  </a:txBody>
                  <a:tcPr/>
                </a:tc>
                <a:tc>
                  <a:txBody>
                    <a:bodyPr/>
                    <a:lstStyle/>
                    <a:p>
                      <a:pPr fontAlgn="t"/>
                      <a:r>
                        <a:rPr lang="en-US" sz="2000">
                          <a:solidFill>
                            <a:srgbClr val="414141"/>
                          </a:solidFill>
                          <a:effectLst/>
                        </a:rPr>
                        <a:t>Gets or sets the time when the current file or directory was last written to</a:t>
                      </a:r>
                    </a:p>
                  </a:txBody>
                  <a:tcPr/>
                </a:tc>
                <a:extLst>
                  <a:ext uri="{0D108BD9-81ED-4DB2-BD59-A6C34878D82A}">
                    <a16:rowId xmlns:a16="http://schemas.microsoft.com/office/drawing/2014/main" val="10005"/>
                  </a:ext>
                </a:extLst>
              </a:tr>
              <a:tr h="561355">
                <a:tc>
                  <a:txBody>
                    <a:bodyPr/>
                    <a:lstStyle/>
                    <a:p>
                      <a:pPr fontAlgn="t"/>
                      <a:r>
                        <a:rPr lang="en-US" sz="2000">
                          <a:solidFill>
                            <a:srgbClr val="414141"/>
                          </a:solidFill>
                          <a:effectLst/>
                        </a:rPr>
                        <a:t>Length</a:t>
                      </a:r>
                    </a:p>
                  </a:txBody>
                  <a:tcPr/>
                </a:tc>
                <a:tc>
                  <a:txBody>
                    <a:bodyPr/>
                    <a:lstStyle/>
                    <a:p>
                      <a:pPr fontAlgn="t"/>
                      <a:r>
                        <a:rPr lang="en-US" sz="2000">
                          <a:solidFill>
                            <a:srgbClr val="414141"/>
                          </a:solidFill>
                          <a:effectLst/>
                        </a:rPr>
                        <a:t>Gets the size, in bytes, of the current file</a:t>
                      </a:r>
                    </a:p>
                  </a:txBody>
                  <a:tcPr/>
                </a:tc>
                <a:extLst>
                  <a:ext uri="{0D108BD9-81ED-4DB2-BD59-A6C34878D82A}">
                    <a16:rowId xmlns:a16="http://schemas.microsoft.com/office/drawing/2014/main" val="508282034"/>
                  </a:ext>
                </a:extLst>
              </a:tr>
              <a:tr h="514633">
                <a:tc>
                  <a:txBody>
                    <a:bodyPr/>
                    <a:lstStyle/>
                    <a:p>
                      <a:pPr fontAlgn="t"/>
                      <a:r>
                        <a:rPr lang="en-US" sz="2000">
                          <a:solidFill>
                            <a:srgbClr val="414141"/>
                          </a:solidFill>
                          <a:effectLst/>
                        </a:rPr>
                        <a:t>Name</a:t>
                      </a:r>
                    </a:p>
                  </a:txBody>
                  <a:tcPr/>
                </a:tc>
                <a:tc>
                  <a:txBody>
                    <a:bodyPr/>
                    <a:lstStyle/>
                    <a:p>
                      <a:pPr fontAlgn="t"/>
                      <a:r>
                        <a:rPr lang="en-US" sz="2000">
                          <a:solidFill>
                            <a:srgbClr val="414141"/>
                          </a:solidFill>
                          <a:effectLst/>
                        </a:rPr>
                        <a:t>Gets the name of the file</a:t>
                      </a:r>
                    </a:p>
                  </a:txBody>
                  <a:tcPr/>
                </a:tc>
                <a:extLst>
                  <a:ext uri="{0D108BD9-81ED-4DB2-BD59-A6C34878D82A}">
                    <a16:rowId xmlns:a16="http://schemas.microsoft.com/office/drawing/2014/main" val="2099629954"/>
                  </a:ext>
                </a:extLst>
              </a:tr>
            </a:tbl>
          </a:graphicData>
        </a:graphic>
      </p:graphicFrame>
    </p:spTree>
    <p:extLst>
      <p:ext uri="{BB962C8B-B14F-4D97-AF65-F5344CB8AC3E}">
        <p14:creationId xmlns:p14="http://schemas.microsoft.com/office/powerpoint/2010/main" val="28800529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20</a:t>
            </a:fld>
            <a:endParaRPr lang="en-US" dirty="0"/>
          </a:p>
        </p:txBody>
      </p:sp>
      <p:sp>
        <p:nvSpPr>
          <p:cNvPr id="8" name="Title 1">
            <a:extLst>
              <a:ext uri="{FF2B5EF4-FFF2-40B4-BE49-F238E27FC236}">
                <a16:creationId xmlns:a16="http://schemas.microsoft.com/office/drawing/2014/main" id="{794F0819-96CD-4BEF-8AB7-3D50513BB568}"/>
              </a:ext>
            </a:extLst>
          </p:cNvPr>
          <p:cNvSpPr>
            <a:spLocks noGrp="1"/>
          </p:cNvSpPr>
          <p:nvPr>
            <p:ph type="title"/>
          </p:nvPr>
        </p:nvSpPr>
        <p:spPr>
          <a:xfrm>
            <a:off x="275516" y="687426"/>
            <a:ext cx="7449587" cy="575433"/>
          </a:xfrm>
        </p:spPr>
        <p:txBody>
          <a:bodyPr>
            <a:normAutofit fontScale="90000"/>
          </a:bodyPr>
          <a:lstStyle/>
          <a:p>
            <a:r>
              <a:rPr lang="en-US" b="1"/>
              <a:t>Working with FileInfo Class</a:t>
            </a:r>
            <a:endParaRPr lang="en-US" dirty="0"/>
          </a:p>
        </p:txBody>
      </p:sp>
      <p:graphicFrame>
        <p:nvGraphicFramePr>
          <p:cNvPr id="9" name="Table 8">
            <a:extLst>
              <a:ext uri="{FF2B5EF4-FFF2-40B4-BE49-F238E27FC236}">
                <a16:creationId xmlns:a16="http://schemas.microsoft.com/office/drawing/2014/main" id="{06B7EE87-76DB-407D-9347-6AE41374D688}"/>
              </a:ext>
            </a:extLst>
          </p:cNvPr>
          <p:cNvGraphicFramePr>
            <a:graphicFrameLocks noGrp="1"/>
          </p:cNvGraphicFramePr>
          <p:nvPr>
            <p:extLst>
              <p:ext uri="{D42A27DB-BD31-4B8C-83A1-F6EECF244321}">
                <p14:modId xmlns:p14="http://schemas.microsoft.com/office/powerpoint/2010/main" val="517702714"/>
              </p:ext>
            </p:extLst>
          </p:nvPr>
        </p:nvGraphicFramePr>
        <p:xfrm>
          <a:off x="275516" y="1601849"/>
          <a:ext cx="11768866" cy="4839234"/>
        </p:xfrm>
        <a:graphic>
          <a:graphicData uri="http://schemas.openxmlformats.org/drawingml/2006/table">
            <a:tbl>
              <a:tblPr firstRow="1" bandRow="1">
                <a:tableStyleId>{5C22544A-7EE6-4342-B048-85BDC9FD1C3A}</a:tableStyleId>
              </a:tblPr>
              <a:tblGrid>
                <a:gridCol w="2284804">
                  <a:extLst>
                    <a:ext uri="{9D8B030D-6E8A-4147-A177-3AD203B41FA5}">
                      <a16:colId xmlns:a16="http://schemas.microsoft.com/office/drawing/2014/main" val="20000"/>
                    </a:ext>
                  </a:extLst>
                </a:gridCol>
                <a:gridCol w="9484062">
                  <a:extLst>
                    <a:ext uri="{9D8B030D-6E8A-4147-A177-3AD203B41FA5}">
                      <a16:colId xmlns:a16="http://schemas.microsoft.com/office/drawing/2014/main" val="20001"/>
                    </a:ext>
                  </a:extLst>
                </a:gridCol>
              </a:tblGrid>
              <a:tr h="447399">
                <a:tc>
                  <a:txBody>
                    <a:bodyPr/>
                    <a:lstStyle/>
                    <a:p>
                      <a:pPr>
                        <a:spcBef>
                          <a:spcPts val="600"/>
                        </a:spcBef>
                        <a:spcAft>
                          <a:spcPts val="600"/>
                        </a:spcAft>
                      </a:pPr>
                      <a:r>
                        <a:rPr lang="en-US" sz="2000"/>
                        <a:t>Method Name</a:t>
                      </a:r>
                      <a:endParaRPr lang="en-US" sz="2000" dirty="0"/>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447399">
                <a:tc>
                  <a:txBody>
                    <a:bodyPr/>
                    <a:lstStyle/>
                    <a:p>
                      <a:pPr fontAlgn="t"/>
                      <a:r>
                        <a:rPr lang="en-US" sz="2000">
                          <a:solidFill>
                            <a:srgbClr val="414141"/>
                          </a:solidFill>
                          <a:effectLst/>
                        </a:rPr>
                        <a:t>AppendText</a:t>
                      </a:r>
                    </a:p>
                  </a:txBody>
                  <a:tcPr/>
                </a:tc>
                <a:tc>
                  <a:txBody>
                    <a:bodyPr/>
                    <a:lstStyle/>
                    <a:p>
                      <a:pPr fontAlgn="t"/>
                      <a:r>
                        <a:rPr lang="en-US" sz="2000">
                          <a:solidFill>
                            <a:srgbClr val="414141"/>
                          </a:solidFill>
                          <a:effectLst/>
                        </a:rPr>
                        <a:t>Creates a StreamWriter that appends text to the file represented by this instance of the FileInfo</a:t>
                      </a:r>
                    </a:p>
                  </a:txBody>
                  <a:tcPr/>
                </a:tc>
                <a:extLst>
                  <a:ext uri="{0D108BD9-81ED-4DB2-BD59-A6C34878D82A}">
                    <a16:rowId xmlns:a16="http://schemas.microsoft.com/office/drawing/2014/main" val="10001"/>
                  </a:ext>
                </a:extLst>
              </a:tr>
              <a:tr h="447399">
                <a:tc>
                  <a:txBody>
                    <a:bodyPr/>
                    <a:lstStyle/>
                    <a:p>
                      <a:pPr fontAlgn="t"/>
                      <a:r>
                        <a:rPr lang="en-US" sz="2000">
                          <a:solidFill>
                            <a:srgbClr val="414141"/>
                          </a:solidFill>
                          <a:effectLst/>
                        </a:rPr>
                        <a:t>CopyTo</a:t>
                      </a:r>
                    </a:p>
                  </a:txBody>
                  <a:tcPr/>
                </a:tc>
                <a:tc>
                  <a:txBody>
                    <a:bodyPr/>
                    <a:lstStyle/>
                    <a:p>
                      <a:pPr fontAlgn="t"/>
                      <a:r>
                        <a:rPr lang="en-US" sz="2000">
                          <a:solidFill>
                            <a:srgbClr val="414141"/>
                          </a:solidFill>
                          <a:effectLst/>
                        </a:rPr>
                        <a:t>Copies an existing file to a new file, disallowing the overwriting of an existing file</a:t>
                      </a:r>
                    </a:p>
                  </a:txBody>
                  <a:tcPr/>
                </a:tc>
                <a:extLst>
                  <a:ext uri="{0D108BD9-81ED-4DB2-BD59-A6C34878D82A}">
                    <a16:rowId xmlns:a16="http://schemas.microsoft.com/office/drawing/2014/main" val="10002"/>
                  </a:ext>
                </a:extLst>
              </a:tr>
              <a:tr h="487645">
                <a:tc>
                  <a:txBody>
                    <a:bodyPr/>
                    <a:lstStyle/>
                    <a:p>
                      <a:pPr fontAlgn="t"/>
                      <a:r>
                        <a:rPr lang="en-US" sz="2000">
                          <a:solidFill>
                            <a:srgbClr val="414141"/>
                          </a:solidFill>
                          <a:effectLst/>
                        </a:rPr>
                        <a:t>Create</a:t>
                      </a:r>
                    </a:p>
                  </a:txBody>
                  <a:tcPr/>
                </a:tc>
                <a:tc>
                  <a:txBody>
                    <a:bodyPr/>
                    <a:lstStyle/>
                    <a:p>
                      <a:pPr fontAlgn="t"/>
                      <a:r>
                        <a:rPr lang="en-US" sz="2000">
                          <a:solidFill>
                            <a:srgbClr val="414141"/>
                          </a:solidFill>
                          <a:effectLst/>
                        </a:rPr>
                        <a:t>Creates a file</a:t>
                      </a:r>
                    </a:p>
                  </a:txBody>
                  <a:tcPr/>
                </a:tc>
                <a:extLst>
                  <a:ext uri="{0D108BD9-81ED-4DB2-BD59-A6C34878D82A}">
                    <a16:rowId xmlns:a16="http://schemas.microsoft.com/office/drawing/2014/main" val="10003"/>
                  </a:ext>
                </a:extLst>
              </a:tr>
              <a:tr h="451821">
                <a:tc>
                  <a:txBody>
                    <a:bodyPr/>
                    <a:lstStyle/>
                    <a:p>
                      <a:pPr fontAlgn="t"/>
                      <a:r>
                        <a:rPr lang="en-US" sz="2000">
                          <a:solidFill>
                            <a:srgbClr val="414141"/>
                          </a:solidFill>
                          <a:effectLst/>
                        </a:rPr>
                        <a:t>CreateText</a:t>
                      </a:r>
                    </a:p>
                  </a:txBody>
                  <a:tcPr/>
                </a:tc>
                <a:tc>
                  <a:txBody>
                    <a:bodyPr/>
                    <a:lstStyle/>
                    <a:p>
                      <a:pPr fontAlgn="t"/>
                      <a:r>
                        <a:rPr lang="en-US" sz="2000">
                          <a:solidFill>
                            <a:srgbClr val="414141"/>
                          </a:solidFill>
                          <a:effectLst/>
                        </a:rPr>
                        <a:t>Creates a StreamWriter that writes a new text file</a:t>
                      </a:r>
                    </a:p>
                  </a:txBody>
                  <a:tcPr/>
                </a:tc>
                <a:extLst>
                  <a:ext uri="{0D108BD9-81ED-4DB2-BD59-A6C34878D82A}">
                    <a16:rowId xmlns:a16="http://schemas.microsoft.com/office/drawing/2014/main" val="10004"/>
                  </a:ext>
                </a:extLst>
              </a:tr>
              <a:tr h="447399">
                <a:tc>
                  <a:txBody>
                    <a:bodyPr/>
                    <a:lstStyle/>
                    <a:p>
                      <a:pPr fontAlgn="t"/>
                      <a:r>
                        <a:rPr lang="en-US" sz="2000">
                          <a:solidFill>
                            <a:srgbClr val="414141"/>
                          </a:solidFill>
                          <a:effectLst/>
                        </a:rPr>
                        <a:t>Decrypt</a:t>
                      </a:r>
                    </a:p>
                  </a:txBody>
                  <a:tcPr/>
                </a:tc>
                <a:tc>
                  <a:txBody>
                    <a:bodyPr/>
                    <a:lstStyle/>
                    <a:p>
                      <a:pPr fontAlgn="t"/>
                      <a:r>
                        <a:rPr lang="en-US" sz="2000">
                          <a:solidFill>
                            <a:srgbClr val="414141"/>
                          </a:solidFill>
                          <a:effectLst/>
                        </a:rPr>
                        <a:t>Decrypts a file that was encrypted by the current account using the Encrypt method</a:t>
                      </a:r>
                    </a:p>
                  </a:txBody>
                  <a:tcPr/>
                </a:tc>
                <a:extLst>
                  <a:ext uri="{0D108BD9-81ED-4DB2-BD59-A6C34878D82A}">
                    <a16:rowId xmlns:a16="http://schemas.microsoft.com/office/drawing/2014/main" val="10005"/>
                  </a:ext>
                </a:extLst>
              </a:tr>
              <a:tr h="413213">
                <a:tc>
                  <a:txBody>
                    <a:bodyPr/>
                    <a:lstStyle/>
                    <a:p>
                      <a:pPr fontAlgn="t"/>
                      <a:r>
                        <a:rPr lang="en-US" sz="2000">
                          <a:solidFill>
                            <a:srgbClr val="414141"/>
                          </a:solidFill>
                          <a:effectLst/>
                        </a:rPr>
                        <a:t>Delete</a:t>
                      </a:r>
                    </a:p>
                  </a:txBody>
                  <a:tcPr/>
                </a:tc>
                <a:tc>
                  <a:txBody>
                    <a:bodyPr/>
                    <a:lstStyle/>
                    <a:p>
                      <a:pPr fontAlgn="t"/>
                      <a:r>
                        <a:rPr lang="en-US" sz="2000">
                          <a:solidFill>
                            <a:srgbClr val="414141"/>
                          </a:solidFill>
                          <a:effectLst/>
                        </a:rPr>
                        <a:t>Deletes the specified file</a:t>
                      </a:r>
                    </a:p>
                  </a:txBody>
                  <a:tcPr/>
                </a:tc>
                <a:extLst>
                  <a:ext uri="{0D108BD9-81ED-4DB2-BD59-A6C34878D82A}">
                    <a16:rowId xmlns:a16="http://schemas.microsoft.com/office/drawing/2014/main" val="508282034"/>
                  </a:ext>
                </a:extLst>
              </a:tr>
              <a:tr h="488637">
                <a:tc>
                  <a:txBody>
                    <a:bodyPr/>
                    <a:lstStyle/>
                    <a:p>
                      <a:pPr fontAlgn="t"/>
                      <a:r>
                        <a:rPr lang="en-US" sz="2000">
                          <a:solidFill>
                            <a:srgbClr val="414141"/>
                          </a:solidFill>
                          <a:effectLst/>
                        </a:rPr>
                        <a:t>Encrypt</a:t>
                      </a:r>
                    </a:p>
                  </a:txBody>
                  <a:tcPr/>
                </a:tc>
                <a:tc>
                  <a:txBody>
                    <a:bodyPr/>
                    <a:lstStyle/>
                    <a:p>
                      <a:pPr fontAlgn="t"/>
                      <a:r>
                        <a:rPr lang="en-US" sz="2000">
                          <a:solidFill>
                            <a:srgbClr val="414141"/>
                          </a:solidFill>
                          <a:effectLst/>
                        </a:rPr>
                        <a:t>Encrypts a file so that only the account used to encrypt the file can decrypt it</a:t>
                      </a:r>
                    </a:p>
                  </a:txBody>
                  <a:tcPr/>
                </a:tc>
                <a:extLst>
                  <a:ext uri="{0D108BD9-81ED-4DB2-BD59-A6C34878D82A}">
                    <a16:rowId xmlns:a16="http://schemas.microsoft.com/office/drawing/2014/main" val="715878446"/>
                  </a:ext>
                </a:extLst>
              </a:tr>
              <a:tr h="479580">
                <a:tc>
                  <a:txBody>
                    <a:bodyPr/>
                    <a:lstStyle/>
                    <a:p>
                      <a:pPr fontAlgn="t"/>
                      <a:r>
                        <a:rPr lang="en-US" sz="2000">
                          <a:solidFill>
                            <a:srgbClr val="414141"/>
                          </a:solidFill>
                          <a:effectLst/>
                        </a:rPr>
                        <a:t>GetAccessControl</a:t>
                      </a:r>
                    </a:p>
                  </a:txBody>
                  <a:tcPr/>
                </a:tc>
                <a:tc>
                  <a:txBody>
                    <a:bodyPr/>
                    <a:lstStyle/>
                    <a:p>
                      <a:pPr fontAlgn="t"/>
                      <a:r>
                        <a:rPr lang="en-US" sz="2000">
                          <a:solidFill>
                            <a:srgbClr val="414141"/>
                          </a:solidFill>
                          <a:effectLst/>
                        </a:rPr>
                        <a:t>Gets a FileSecurity object that encapsulates the access control list (ACL) entries for a specified file</a:t>
                      </a:r>
                    </a:p>
                  </a:txBody>
                  <a:tcPr/>
                </a:tc>
                <a:extLst>
                  <a:ext uri="{0D108BD9-81ED-4DB2-BD59-A6C34878D82A}">
                    <a16:rowId xmlns:a16="http://schemas.microsoft.com/office/drawing/2014/main" val="3957265234"/>
                  </a:ext>
                </a:extLst>
              </a:tr>
            </a:tbl>
          </a:graphicData>
        </a:graphic>
      </p:graphicFrame>
    </p:spTree>
    <p:extLst>
      <p:ext uri="{BB962C8B-B14F-4D97-AF65-F5344CB8AC3E}">
        <p14:creationId xmlns:p14="http://schemas.microsoft.com/office/powerpoint/2010/main" val="1588206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21</a:t>
            </a:fld>
            <a:endParaRPr lang="en-US" dirty="0"/>
          </a:p>
        </p:txBody>
      </p:sp>
      <p:sp>
        <p:nvSpPr>
          <p:cNvPr id="8" name="Title 1">
            <a:extLst>
              <a:ext uri="{FF2B5EF4-FFF2-40B4-BE49-F238E27FC236}">
                <a16:creationId xmlns:a16="http://schemas.microsoft.com/office/drawing/2014/main" id="{794F0819-96CD-4BEF-8AB7-3D50513BB568}"/>
              </a:ext>
            </a:extLst>
          </p:cNvPr>
          <p:cNvSpPr>
            <a:spLocks noGrp="1"/>
          </p:cNvSpPr>
          <p:nvPr>
            <p:ph type="title"/>
          </p:nvPr>
        </p:nvSpPr>
        <p:spPr>
          <a:xfrm>
            <a:off x="275516" y="687426"/>
            <a:ext cx="7449587" cy="575433"/>
          </a:xfrm>
        </p:spPr>
        <p:txBody>
          <a:bodyPr>
            <a:normAutofit fontScale="90000"/>
          </a:bodyPr>
          <a:lstStyle/>
          <a:p>
            <a:r>
              <a:rPr lang="en-US" b="1"/>
              <a:t>Working with FileInfo Class</a:t>
            </a:r>
            <a:endParaRPr lang="en-US" dirty="0"/>
          </a:p>
        </p:txBody>
      </p:sp>
      <p:graphicFrame>
        <p:nvGraphicFramePr>
          <p:cNvPr id="9" name="Table 8">
            <a:extLst>
              <a:ext uri="{FF2B5EF4-FFF2-40B4-BE49-F238E27FC236}">
                <a16:creationId xmlns:a16="http://schemas.microsoft.com/office/drawing/2014/main" id="{06B7EE87-76DB-407D-9347-6AE41374D688}"/>
              </a:ext>
            </a:extLst>
          </p:cNvPr>
          <p:cNvGraphicFramePr>
            <a:graphicFrameLocks noGrp="1"/>
          </p:cNvGraphicFramePr>
          <p:nvPr>
            <p:extLst>
              <p:ext uri="{D42A27DB-BD31-4B8C-83A1-F6EECF244321}">
                <p14:modId xmlns:p14="http://schemas.microsoft.com/office/powerpoint/2010/main" val="2964154781"/>
              </p:ext>
            </p:extLst>
          </p:nvPr>
        </p:nvGraphicFramePr>
        <p:xfrm>
          <a:off x="211567" y="1655636"/>
          <a:ext cx="11768866" cy="4745163"/>
        </p:xfrm>
        <a:graphic>
          <a:graphicData uri="http://schemas.openxmlformats.org/drawingml/2006/table">
            <a:tbl>
              <a:tblPr firstRow="1" bandRow="1">
                <a:tableStyleId>{5C22544A-7EE6-4342-B048-85BDC9FD1C3A}</a:tableStyleId>
              </a:tblPr>
              <a:tblGrid>
                <a:gridCol w="2284804">
                  <a:extLst>
                    <a:ext uri="{9D8B030D-6E8A-4147-A177-3AD203B41FA5}">
                      <a16:colId xmlns:a16="http://schemas.microsoft.com/office/drawing/2014/main" val="20000"/>
                    </a:ext>
                  </a:extLst>
                </a:gridCol>
                <a:gridCol w="9484062">
                  <a:extLst>
                    <a:ext uri="{9D8B030D-6E8A-4147-A177-3AD203B41FA5}">
                      <a16:colId xmlns:a16="http://schemas.microsoft.com/office/drawing/2014/main" val="20001"/>
                    </a:ext>
                  </a:extLst>
                </a:gridCol>
              </a:tblGrid>
              <a:tr h="508818">
                <a:tc>
                  <a:txBody>
                    <a:bodyPr/>
                    <a:lstStyle/>
                    <a:p>
                      <a:pPr>
                        <a:spcBef>
                          <a:spcPts val="600"/>
                        </a:spcBef>
                        <a:spcAft>
                          <a:spcPts val="600"/>
                        </a:spcAft>
                      </a:pPr>
                      <a:r>
                        <a:rPr lang="en-US" sz="2000"/>
                        <a:t>Method Name</a:t>
                      </a:r>
                      <a:endParaRPr lang="en-US" sz="2000" dirty="0"/>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797278">
                <a:tc>
                  <a:txBody>
                    <a:bodyPr/>
                    <a:lstStyle/>
                    <a:p>
                      <a:pPr fontAlgn="t"/>
                      <a:r>
                        <a:rPr lang="en-US" sz="2000">
                          <a:solidFill>
                            <a:srgbClr val="414141"/>
                          </a:solidFill>
                          <a:effectLst/>
                        </a:rPr>
                        <a:t>MoveTo</a:t>
                      </a:r>
                    </a:p>
                  </a:txBody>
                  <a:tcPr/>
                </a:tc>
                <a:tc>
                  <a:txBody>
                    <a:bodyPr/>
                    <a:lstStyle/>
                    <a:p>
                      <a:pPr fontAlgn="t"/>
                      <a:r>
                        <a:rPr lang="en-US" sz="2000">
                          <a:solidFill>
                            <a:srgbClr val="414141"/>
                          </a:solidFill>
                          <a:effectLst/>
                        </a:rPr>
                        <a:t>Moves a specified file to a new location, providing the option to specify a new file name</a:t>
                      </a:r>
                    </a:p>
                  </a:txBody>
                  <a:tcPr/>
                </a:tc>
                <a:extLst>
                  <a:ext uri="{0D108BD9-81ED-4DB2-BD59-A6C34878D82A}">
                    <a16:rowId xmlns:a16="http://schemas.microsoft.com/office/drawing/2014/main" val="10001"/>
                  </a:ext>
                </a:extLst>
              </a:tr>
              <a:tr h="508818">
                <a:tc>
                  <a:txBody>
                    <a:bodyPr/>
                    <a:lstStyle/>
                    <a:p>
                      <a:pPr fontAlgn="t"/>
                      <a:r>
                        <a:rPr lang="en-US" sz="2000">
                          <a:solidFill>
                            <a:srgbClr val="414141"/>
                          </a:solidFill>
                          <a:effectLst/>
                        </a:rPr>
                        <a:t>Open</a:t>
                      </a:r>
                    </a:p>
                  </a:txBody>
                  <a:tcPr/>
                </a:tc>
                <a:tc>
                  <a:txBody>
                    <a:bodyPr/>
                    <a:lstStyle/>
                    <a:p>
                      <a:pPr fontAlgn="t"/>
                      <a:r>
                        <a:rPr lang="en-US" sz="2000">
                          <a:solidFill>
                            <a:srgbClr val="414141"/>
                          </a:solidFill>
                          <a:effectLst/>
                        </a:rPr>
                        <a:t>Opens a in the specified FileMode</a:t>
                      </a:r>
                    </a:p>
                  </a:txBody>
                  <a:tcPr/>
                </a:tc>
                <a:extLst>
                  <a:ext uri="{0D108BD9-81ED-4DB2-BD59-A6C34878D82A}">
                    <a16:rowId xmlns:a16="http://schemas.microsoft.com/office/drawing/2014/main" val="10002"/>
                  </a:ext>
                </a:extLst>
              </a:tr>
              <a:tr h="554589">
                <a:tc>
                  <a:txBody>
                    <a:bodyPr/>
                    <a:lstStyle/>
                    <a:p>
                      <a:pPr fontAlgn="t"/>
                      <a:r>
                        <a:rPr lang="en-US" sz="2000">
                          <a:solidFill>
                            <a:srgbClr val="414141"/>
                          </a:solidFill>
                          <a:effectLst/>
                        </a:rPr>
                        <a:t>OpenRead</a:t>
                      </a:r>
                    </a:p>
                  </a:txBody>
                  <a:tcPr/>
                </a:tc>
                <a:tc>
                  <a:txBody>
                    <a:bodyPr/>
                    <a:lstStyle/>
                    <a:p>
                      <a:pPr fontAlgn="t"/>
                      <a:r>
                        <a:rPr lang="en-US" sz="2000">
                          <a:solidFill>
                            <a:srgbClr val="414141"/>
                          </a:solidFill>
                          <a:effectLst/>
                        </a:rPr>
                        <a:t>Creates a read-only FileStream</a:t>
                      </a:r>
                    </a:p>
                  </a:txBody>
                  <a:tcPr/>
                </a:tc>
                <a:extLst>
                  <a:ext uri="{0D108BD9-81ED-4DB2-BD59-A6C34878D82A}">
                    <a16:rowId xmlns:a16="http://schemas.microsoft.com/office/drawing/2014/main" val="10003"/>
                  </a:ext>
                </a:extLst>
              </a:tr>
              <a:tr h="513847">
                <a:tc>
                  <a:txBody>
                    <a:bodyPr/>
                    <a:lstStyle/>
                    <a:p>
                      <a:pPr fontAlgn="t"/>
                      <a:r>
                        <a:rPr lang="en-US" sz="2000">
                          <a:solidFill>
                            <a:srgbClr val="414141"/>
                          </a:solidFill>
                          <a:effectLst/>
                        </a:rPr>
                        <a:t>OpenText</a:t>
                      </a:r>
                    </a:p>
                  </a:txBody>
                  <a:tcPr/>
                </a:tc>
                <a:tc>
                  <a:txBody>
                    <a:bodyPr/>
                    <a:lstStyle/>
                    <a:p>
                      <a:pPr fontAlgn="t"/>
                      <a:r>
                        <a:rPr lang="en-US" sz="2000">
                          <a:solidFill>
                            <a:srgbClr val="414141"/>
                          </a:solidFill>
                          <a:effectLst/>
                        </a:rPr>
                        <a:t>Creates a StreamReader with UTF8 encoding that reads from an existing text file</a:t>
                      </a:r>
                    </a:p>
                  </a:txBody>
                  <a:tcPr/>
                </a:tc>
                <a:extLst>
                  <a:ext uri="{0D108BD9-81ED-4DB2-BD59-A6C34878D82A}">
                    <a16:rowId xmlns:a16="http://schemas.microsoft.com/office/drawing/2014/main" val="10004"/>
                  </a:ext>
                </a:extLst>
              </a:tr>
              <a:tr h="508818">
                <a:tc>
                  <a:txBody>
                    <a:bodyPr/>
                    <a:lstStyle/>
                    <a:p>
                      <a:pPr fontAlgn="t"/>
                      <a:r>
                        <a:rPr lang="en-US" sz="2000">
                          <a:solidFill>
                            <a:srgbClr val="414141"/>
                          </a:solidFill>
                          <a:effectLst/>
                        </a:rPr>
                        <a:t>OpenWrite</a:t>
                      </a:r>
                    </a:p>
                  </a:txBody>
                  <a:tcPr/>
                </a:tc>
                <a:tc>
                  <a:txBody>
                    <a:bodyPr/>
                    <a:lstStyle/>
                    <a:p>
                      <a:pPr fontAlgn="t"/>
                      <a:r>
                        <a:rPr lang="en-US" sz="2000">
                          <a:solidFill>
                            <a:srgbClr val="414141"/>
                          </a:solidFill>
                          <a:effectLst/>
                        </a:rPr>
                        <a:t>Creates a write-only FileStream</a:t>
                      </a:r>
                    </a:p>
                  </a:txBody>
                  <a:tcPr/>
                </a:tc>
                <a:extLst>
                  <a:ext uri="{0D108BD9-81ED-4DB2-BD59-A6C34878D82A}">
                    <a16:rowId xmlns:a16="http://schemas.microsoft.com/office/drawing/2014/main" val="10005"/>
                  </a:ext>
                </a:extLst>
              </a:tr>
              <a:tr h="797278">
                <a:tc>
                  <a:txBody>
                    <a:bodyPr/>
                    <a:lstStyle/>
                    <a:p>
                      <a:pPr fontAlgn="t"/>
                      <a:r>
                        <a:rPr lang="en-US" sz="2000">
                          <a:solidFill>
                            <a:srgbClr val="414141"/>
                          </a:solidFill>
                          <a:effectLst/>
                        </a:rPr>
                        <a:t>Replace</a:t>
                      </a:r>
                    </a:p>
                  </a:txBody>
                  <a:tcPr/>
                </a:tc>
                <a:tc>
                  <a:txBody>
                    <a:bodyPr/>
                    <a:lstStyle/>
                    <a:p>
                      <a:pPr fontAlgn="t"/>
                      <a:r>
                        <a:rPr lang="en-US" sz="2000">
                          <a:solidFill>
                            <a:srgbClr val="414141"/>
                          </a:solidFill>
                          <a:effectLst/>
                        </a:rPr>
                        <a:t>Replaces the contents of a specified file with the file described by the current FileInfo object, deleting the original file, and creating a backup of the replaced file</a:t>
                      </a:r>
                    </a:p>
                  </a:txBody>
                  <a:tcPr/>
                </a:tc>
                <a:extLst>
                  <a:ext uri="{0D108BD9-81ED-4DB2-BD59-A6C34878D82A}">
                    <a16:rowId xmlns:a16="http://schemas.microsoft.com/office/drawing/2014/main" val="508282034"/>
                  </a:ext>
                </a:extLst>
              </a:tr>
              <a:tr h="555717">
                <a:tc>
                  <a:txBody>
                    <a:bodyPr/>
                    <a:lstStyle/>
                    <a:p>
                      <a:pPr fontAlgn="t"/>
                      <a:r>
                        <a:rPr lang="en-US" sz="2000">
                          <a:solidFill>
                            <a:srgbClr val="414141"/>
                          </a:solidFill>
                          <a:effectLst/>
                        </a:rPr>
                        <a:t>ToString</a:t>
                      </a:r>
                    </a:p>
                  </a:txBody>
                  <a:tcPr/>
                </a:tc>
                <a:tc>
                  <a:txBody>
                    <a:bodyPr/>
                    <a:lstStyle/>
                    <a:p>
                      <a:pPr fontAlgn="t"/>
                      <a:r>
                        <a:rPr lang="en-US" sz="2000">
                          <a:solidFill>
                            <a:srgbClr val="414141"/>
                          </a:solidFill>
                          <a:effectLst/>
                        </a:rPr>
                        <a:t>Returns a path as string</a:t>
                      </a:r>
                    </a:p>
                  </a:txBody>
                  <a:tcPr/>
                </a:tc>
                <a:extLst>
                  <a:ext uri="{0D108BD9-81ED-4DB2-BD59-A6C34878D82A}">
                    <a16:rowId xmlns:a16="http://schemas.microsoft.com/office/drawing/2014/main" val="715878446"/>
                  </a:ext>
                </a:extLst>
              </a:tr>
            </a:tbl>
          </a:graphicData>
        </a:graphic>
      </p:graphicFrame>
    </p:spTree>
    <p:extLst>
      <p:ext uri="{BB962C8B-B14F-4D97-AF65-F5344CB8AC3E}">
        <p14:creationId xmlns:p14="http://schemas.microsoft.com/office/powerpoint/2010/main" val="15197782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22</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0783345" cy="575433"/>
          </a:xfrm>
        </p:spPr>
        <p:txBody>
          <a:bodyPr>
            <a:normAutofit fontScale="90000"/>
          </a:bodyPr>
          <a:lstStyle/>
          <a:p>
            <a:r>
              <a:rPr lang="en-US" b="1"/>
              <a:t>FileInfo Class Demonstration</a:t>
            </a:r>
            <a:endParaRPr lang="en-US" dirty="0"/>
          </a:p>
        </p:txBody>
      </p:sp>
      <p:pic>
        <p:nvPicPr>
          <p:cNvPr id="3" name="Picture 2">
            <a:extLst>
              <a:ext uri="{FF2B5EF4-FFF2-40B4-BE49-F238E27FC236}">
                <a16:creationId xmlns:a16="http://schemas.microsoft.com/office/drawing/2014/main" id="{B3D93028-27D5-48AA-88C0-4D8482CD8AF7}"/>
              </a:ext>
            </a:extLst>
          </p:cNvPr>
          <p:cNvPicPr>
            <a:picLocks noChangeAspect="1"/>
          </p:cNvPicPr>
          <p:nvPr/>
        </p:nvPicPr>
        <p:blipFill>
          <a:blip r:embed="rId2"/>
          <a:stretch>
            <a:fillRect/>
          </a:stretch>
        </p:blipFill>
        <p:spPr>
          <a:xfrm>
            <a:off x="7778454" y="2294409"/>
            <a:ext cx="4359018" cy="2484335"/>
          </a:xfrm>
          <a:prstGeom prst="rect">
            <a:avLst/>
          </a:prstGeom>
        </p:spPr>
      </p:pic>
      <p:pic>
        <p:nvPicPr>
          <p:cNvPr id="7" name="Picture 6">
            <a:extLst>
              <a:ext uri="{FF2B5EF4-FFF2-40B4-BE49-F238E27FC236}">
                <a16:creationId xmlns:a16="http://schemas.microsoft.com/office/drawing/2014/main" id="{0140EE4E-C9F0-46B6-835B-AFDB5669BC50}"/>
              </a:ext>
            </a:extLst>
          </p:cNvPr>
          <p:cNvPicPr>
            <a:picLocks noChangeAspect="1"/>
          </p:cNvPicPr>
          <p:nvPr/>
        </p:nvPicPr>
        <p:blipFill>
          <a:blip r:embed="rId3"/>
          <a:stretch>
            <a:fillRect/>
          </a:stretch>
        </p:blipFill>
        <p:spPr>
          <a:xfrm>
            <a:off x="275515" y="1288332"/>
            <a:ext cx="7319383" cy="5175733"/>
          </a:xfrm>
          <a:prstGeom prst="rect">
            <a:avLst/>
          </a:prstGeom>
        </p:spPr>
      </p:pic>
    </p:spTree>
    <p:extLst>
      <p:ext uri="{BB962C8B-B14F-4D97-AF65-F5344CB8AC3E}">
        <p14:creationId xmlns:p14="http://schemas.microsoft.com/office/powerpoint/2010/main" val="1475926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8244540" cy="575433"/>
          </a:xfrm>
        </p:spPr>
        <p:txBody>
          <a:bodyPr>
            <a:normAutofit fontScale="90000"/>
          </a:bodyPr>
          <a:lstStyle/>
          <a:p>
            <a:r>
              <a:rPr lang="en-US" b="1"/>
              <a:t>Working with Directory Class</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23</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291131"/>
            <a:ext cx="12192000" cy="1895647"/>
          </a:xfrm>
          <a:prstGeom prst="rect">
            <a:avLst/>
          </a:prstGeom>
          <a:noFill/>
        </p:spPr>
        <p:txBody>
          <a:bodyPr wrap="square">
            <a:spAutoFit/>
          </a:bodyPr>
          <a:lstStyle/>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Exposes static methods for creating, moving, and enumerating through directories and subdirectories. This class cannot be inherited</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Important methods of </a:t>
            </a:r>
            <a:r>
              <a:rPr lang="en-US" sz="2600" b="1">
                <a:latin typeface="+mj-lt"/>
              </a:rPr>
              <a:t>Directory </a:t>
            </a:r>
            <a:r>
              <a:rPr lang="en-US" sz="2600">
                <a:latin typeface="+mj-lt"/>
              </a:rPr>
              <a:t>class:</a:t>
            </a:r>
            <a:endParaRPr lang="en-US" sz="2600" dirty="0">
              <a:latin typeface="+mj-lt"/>
            </a:endParaRPr>
          </a:p>
        </p:txBody>
      </p:sp>
      <p:graphicFrame>
        <p:nvGraphicFramePr>
          <p:cNvPr id="6" name="Table 5">
            <a:extLst>
              <a:ext uri="{FF2B5EF4-FFF2-40B4-BE49-F238E27FC236}">
                <a16:creationId xmlns:a16="http://schemas.microsoft.com/office/drawing/2014/main" id="{AA8F4965-B4E1-4A57-A2BD-9C6E58BD9760}"/>
              </a:ext>
            </a:extLst>
          </p:cNvPr>
          <p:cNvGraphicFramePr>
            <a:graphicFrameLocks noGrp="1"/>
          </p:cNvGraphicFramePr>
          <p:nvPr>
            <p:extLst>
              <p:ext uri="{D42A27DB-BD31-4B8C-83A1-F6EECF244321}">
                <p14:modId xmlns:p14="http://schemas.microsoft.com/office/powerpoint/2010/main" val="3981566295"/>
              </p:ext>
            </p:extLst>
          </p:nvPr>
        </p:nvGraphicFramePr>
        <p:xfrm>
          <a:off x="275516" y="3429001"/>
          <a:ext cx="11709655" cy="2950283"/>
        </p:xfrm>
        <a:graphic>
          <a:graphicData uri="http://schemas.openxmlformats.org/drawingml/2006/table">
            <a:tbl>
              <a:tblPr firstRow="1" bandRow="1">
                <a:tableStyleId>{5C22544A-7EE6-4342-B048-85BDC9FD1C3A}</a:tableStyleId>
              </a:tblPr>
              <a:tblGrid>
                <a:gridCol w="3618752">
                  <a:extLst>
                    <a:ext uri="{9D8B030D-6E8A-4147-A177-3AD203B41FA5}">
                      <a16:colId xmlns:a16="http://schemas.microsoft.com/office/drawing/2014/main" val="20000"/>
                    </a:ext>
                  </a:extLst>
                </a:gridCol>
                <a:gridCol w="8090903">
                  <a:extLst>
                    <a:ext uri="{9D8B030D-6E8A-4147-A177-3AD203B41FA5}">
                      <a16:colId xmlns:a16="http://schemas.microsoft.com/office/drawing/2014/main" val="20001"/>
                    </a:ext>
                  </a:extLst>
                </a:gridCol>
              </a:tblGrid>
              <a:tr h="632309">
                <a:tc>
                  <a:txBody>
                    <a:bodyPr/>
                    <a:lstStyle/>
                    <a:p>
                      <a:pPr>
                        <a:spcBef>
                          <a:spcPts val="600"/>
                        </a:spcBef>
                        <a:spcAft>
                          <a:spcPts val="600"/>
                        </a:spcAft>
                      </a:pPr>
                      <a:r>
                        <a:rPr lang="en-US" sz="2000"/>
                        <a:t>Method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10000"/>
                  </a:ext>
                </a:extLst>
              </a:tr>
              <a:tr h="781317">
                <a:tc>
                  <a:txBody>
                    <a:bodyPr/>
                    <a:lstStyle/>
                    <a:p>
                      <a:pPr algn="l" fontAlgn="t"/>
                      <a:r>
                        <a:rPr lang="en-US" sz="2000" kern="1200">
                          <a:solidFill>
                            <a:srgbClr val="414141"/>
                          </a:solidFill>
                          <a:effectLst/>
                          <a:latin typeface="+mn-lt"/>
                          <a:ea typeface="+mn-ea"/>
                          <a:cs typeface="+mn-cs"/>
                        </a:rPr>
                        <a:t>CreateDirectory(String)</a:t>
                      </a:r>
                    </a:p>
                  </a:txBody>
                  <a:tcPr/>
                </a:tc>
                <a:tc>
                  <a:txBody>
                    <a:bodyPr/>
                    <a:lstStyle/>
                    <a:p>
                      <a:pPr algn="l" fontAlgn="t"/>
                      <a:r>
                        <a:rPr lang="en-US" sz="2000">
                          <a:effectLst/>
                        </a:rPr>
                        <a:t>Creates all directories and subdirectories in the specified path unless they already exist.</a:t>
                      </a:r>
                    </a:p>
                  </a:txBody>
                  <a:tcPr/>
                </a:tc>
                <a:extLst>
                  <a:ext uri="{0D108BD9-81ED-4DB2-BD59-A6C34878D82A}">
                    <a16:rowId xmlns:a16="http://schemas.microsoft.com/office/drawing/2014/main" val="10004"/>
                  </a:ext>
                </a:extLst>
              </a:tr>
              <a:tr h="755340">
                <a:tc>
                  <a:txBody>
                    <a:bodyPr/>
                    <a:lstStyle/>
                    <a:p>
                      <a:pPr algn="l" fontAlgn="t"/>
                      <a:r>
                        <a:rPr lang="en-US" sz="2000" kern="1200">
                          <a:solidFill>
                            <a:srgbClr val="414141"/>
                          </a:solidFill>
                          <a:effectLst/>
                          <a:latin typeface="+mn-lt"/>
                          <a:ea typeface="+mn-ea"/>
                          <a:cs typeface="+mn-cs"/>
                        </a:rPr>
                        <a:t>Delete(String)</a:t>
                      </a:r>
                    </a:p>
                  </a:txBody>
                  <a:tcPr/>
                </a:tc>
                <a:tc>
                  <a:txBody>
                    <a:bodyPr/>
                    <a:lstStyle/>
                    <a:p>
                      <a:pPr algn="l" fontAlgn="t"/>
                      <a:r>
                        <a:rPr lang="en-US" sz="2000">
                          <a:effectLst/>
                        </a:rPr>
                        <a:t>Deletes an empty directory from a specified path.</a:t>
                      </a:r>
                    </a:p>
                  </a:txBody>
                  <a:tcPr/>
                </a:tc>
                <a:extLst>
                  <a:ext uri="{0D108BD9-81ED-4DB2-BD59-A6C34878D82A}">
                    <a16:rowId xmlns:a16="http://schemas.microsoft.com/office/drawing/2014/main" val="10005"/>
                  </a:ext>
                </a:extLst>
              </a:tr>
              <a:tr h="781317">
                <a:tc>
                  <a:txBody>
                    <a:bodyPr/>
                    <a:lstStyle/>
                    <a:p>
                      <a:pPr marL="0" algn="l" defTabSz="914400" rtl="0" eaLnBrk="1" fontAlgn="t" latinLnBrk="0" hangingPunct="1"/>
                      <a:r>
                        <a:rPr lang="en-US" sz="2000" kern="1200">
                          <a:solidFill>
                            <a:srgbClr val="414141"/>
                          </a:solidFill>
                          <a:effectLst/>
                          <a:latin typeface="+mn-lt"/>
                          <a:ea typeface="+mn-ea"/>
                          <a:cs typeface="+mn-cs"/>
                        </a:rPr>
                        <a:t>EnumerateDirectories(String)</a:t>
                      </a:r>
                    </a:p>
                  </a:txBody>
                  <a:tcPr/>
                </a:tc>
                <a:tc>
                  <a:txBody>
                    <a:bodyPr/>
                    <a:lstStyle/>
                    <a:p>
                      <a:pPr marL="0" algn="l" defTabSz="914400" rtl="0" eaLnBrk="1" fontAlgn="t" latinLnBrk="0" hangingPunct="1"/>
                      <a:r>
                        <a:rPr lang="en-US" sz="2000" kern="1200">
                          <a:solidFill>
                            <a:srgbClr val="414141"/>
                          </a:solidFill>
                          <a:effectLst/>
                          <a:latin typeface="+mn-lt"/>
                          <a:ea typeface="+mn-ea"/>
                          <a:cs typeface="+mn-cs"/>
                        </a:rPr>
                        <a:t>Returns an enumerable collection of directory full names in a specified path.</a:t>
                      </a:r>
                    </a:p>
                  </a:txBody>
                  <a:tcPr/>
                </a:tc>
                <a:extLst>
                  <a:ext uri="{0D108BD9-81ED-4DB2-BD59-A6C34878D82A}">
                    <a16:rowId xmlns:a16="http://schemas.microsoft.com/office/drawing/2014/main" val="4131640326"/>
                  </a:ext>
                </a:extLst>
              </a:tr>
            </a:tbl>
          </a:graphicData>
        </a:graphic>
      </p:graphicFrame>
    </p:spTree>
    <p:extLst>
      <p:ext uri="{BB962C8B-B14F-4D97-AF65-F5344CB8AC3E}">
        <p14:creationId xmlns:p14="http://schemas.microsoft.com/office/powerpoint/2010/main" val="769899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24</a:t>
            </a:fld>
            <a:endParaRPr lang="en-US" dirty="0"/>
          </a:p>
        </p:txBody>
      </p:sp>
      <p:graphicFrame>
        <p:nvGraphicFramePr>
          <p:cNvPr id="9" name="Table 8">
            <a:extLst>
              <a:ext uri="{FF2B5EF4-FFF2-40B4-BE49-F238E27FC236}">
                <a16:creationId xmlns:a16="http://schemas.microsoft.com/office/drawing/2014/main" id="{FCC3B173-14D9-4590-B1EB-4E02A2982E17}"/>
              </a:ext>
            </a:extLst>
          </p:cNvPr>
          <p:cNvGraphicFramePr>
            <a:graphicFrameLocks noGrp="1"/>
          </p:cNvGraphicFramePr>
          <p:nvPr>
            <p:extLst>
              <p:ext uri="{D42A27DB-BD31-4B8C-83A1-F6EECF244321}">
                <p14:modId xmlns:p14="http://schemas.microsoft.com/office/powerpoint/2010/main" val="2120932328"/>
              </p:ext>
            </p:extLst>
          </p:nvPr>
        </p:nvGraphicFramePr>
        <p:xfrm>
          <a:off x="211567" y="1532053"/>
          <a:ext cx="11768866" cy="4897401"/>
        </p:xfrm>
        <a:graphic>
          <a:graphicData uri="http://schemas.openxmlformats.org/drawingml/2006/table">
            <a:tbl>
              <a:tblPr firstRow="1" bandRow="1">
                <a:tableStyleId>{5C22544A-7EE6-4342-B048-85BDC9FD1C3A}</a:tableStyleId>
              </a:tblPr>
              <a:tblGrid>
                <a:gridCol w="3359972">
                  <a:extLst>
                    <a:ext uri="{9D8B030D-6E8A-4147-A177-3AD203B41FA5}">
                      <a16:colId xmlns:a16="http://schemas.microsoft.com/office/drawing/2014/main" val="20000"/>
                    </a:ext>
                  </a:extLst>
                </a:gridCol>
                <a:gridCol w="8408894">
                  <a:extLst>
                    <a:ext uri="{9D8B030D-6E8A-4147-A177-3AD203B41FA5}">
                      <a16:colId xmlns:a16="http://schemas.microsoft.com/office/drawing/2014/main" val="20001"/>
                    </a:ext>
                  </a:extLst>
                </a:gridCol>
              </a:tblGrid>
              <a:tr h="453117">
                <a:tc>
                  <a:txBody>
                    <a:bodyPr/>
                    <a:lstStyle/>
                    <a:p>
                      <a:pPr>
                        <a:spcBef>
                          <a:spcPts val="600"/>
                        </a:spcBef>
                        <a:spcAft>
                          <a:spcPts val="600"/>
                        </a:spcAft>
                      </a:pPr>
                      <a:r>
                        <a:rPr lang="en-US" sz="2000"/>
                        <a:t>Method Name</a:t>
                      </a:r>
                      <a:endParaRPr lang="en-US" sz="2000" dirty="0"/>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591911">
                <a:tc>
                  <a:txBody>
                    <a:bodyPr/>
                    <a:lstStyle/>
                    <a:p>
                      <a:pPr algn="l" fontAlgn="t"/>
                      <a:r>
                        <a:rPr lang="en-US" sz="2000" u="none" strike="noStrike">
                          <a:effectLst/>
                        </a:rPr>
                        <a:t>EnumerateFiles(String)</a:t>
                      </a:r>
                      <a:endParaRPr lang="en-US" sz="2000">
                        <a:effectLst/>
                      </a:endParaRPr>
                    </a:p>
                  </a:txBody>
                  <a:tcPr/>
                </a:tc>
                <a:tc>
                  <a:txBody>
                    <a:bodyPr/>
                    <a:lstStyle/>
                    <a:p>
                      <a:pPr algn="l" fontAlgn="t"/>
                      <a:r>
                        <a:rPr lang="en-US" sz="2000">
                          <a:effectLst/>
                        </a:rPr>
                        <a:t>Returns an enumerable collection of full file names in a specified path.</a:t>
                      </a:r>
                    </a:p>
                  </a:txBody>
                  <a:tcPr/>
                </a:tc>
                <a:extLst>
                  <a:ext uri="{0D108BD9-81ED-4DB2-BD59-A6C34878D82A}">
                    <a16:rowId xmlns:a16="http://schemas.microsoft.com/office/drawing/2014/main" val="10001"/>
                  </a:ext>
                </a:extLst>
              </a:tr>
              <a:tr h="598715">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Exists(String)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Determines whether the given path refers to an existing directory on disk.</a:t>
                      </a:r>
                    </a:p>
                  </a:txBody>
                  <a:tcPr/>
                </a:tc>
                <a:extLst>
                  <a:ext uri="{0D108BD9-81ED-4DB2-BD59-A6C34878D82A}">
                    <a16:rowId xmlns:a16="http://schemas.microsoft.com/office/drawing/2014/main" val="10002"/>
                  </a:ext>
                </a:extLst>
              </a:tr>
              <a:tr h="614613">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GetCurrentDirectory()</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Gets the current working directory of the application.</a:t>
                      </a:r>
                    </a:p>
                  </a:txBody>
                  <a:tcPr/>
                </a:tc>
                <a:extLst>
                  <a:ext uri="{0D108BD9-81ED-4DB2-BD59-A6C34878D82A}">
                    <a16:rowId xmlns:a16="http://schemas.microsoft.com/office/drawing/2014/main" val="10003"/>
                  </a:ext>
                </a:extLst>
              </a:tr>
              <a:tr h="722332">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GetDirectories(String)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Returns the names of subdirectories (including their paths) in the specified directory.</a:t>
                      </a:r>
                    </a:p>
                  </a:txBody>
                  <a:tcPr/>
                </a:tc>
                <a:extLst>
                  <a:ext uri="{0D108BD9-81ED-4DB2-BD59-A6C34878D82A}">
                    <a16:rowId xmlns:a16="http://schemas.microsoft.com/office/drawing/2014/main" val="10004"/>
                  </a:ext>
                </a:extLst>
              </a:tr>
              <a:tr h="609600">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GetFiles(String)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Returns the names of files (including their paths) in the specified directory.</a:t>
                      </a:r>
                    </a:p>
                  </a:txBody>
                  <a:tcPr/>
                </a:tc>
                <a:extLst>
                  <a:ext uri="{0D108BD9-81ED-4DB2-BD59-A6C34878D82A}">
                    <a16:rowId xmlns:a16="http://schemas.microsoft.com/office/drawing/2014/main" val="10005"/>
                  </a:ext>
                </a:extLst>
              </a:tr>
              <a:tr h="561355">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GetParent(String)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Retrieves the parent directory of the specified path, including both absolute and relative paths.</a:t>
                      </a:r>
                    </a:p>
                  </a:txBody>
                  <a:tcPr/>
                </a:tc>
                <a:extLst>
                  <a:ext uri="{0D108BD9-81ED-4DB2-BD59-A6C34878D82A}">
                    <a16:rowId xmlns:a16="http://schemas.microsoft.com/office/drawing/2014/main" val="508282034"/>
                  </a:ext>
                </a:extLst>
              </a:tr>
              <a:tr h="514633">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Move(String, 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Moves a file or a directory and its contents to a new location.</a:t>
                      </a:r>
                    </a:p>
                  </a:txBody>
                  <a:tcPr/>
                </a:tc>
                <a:extLst>
                  <a:ext uri="{0D108BD9-81ED-4DB2-BD59-A6C34878D82A}">
                    <a16:rowId xmlns:a16="http://schemas.microsoft.com/office/drawing/2014/main" val="2099629954"/>
                  </a:ext>
                </a:extLst>
              </a:tr>
            </a:tbl>
          </a:graphicData>
        </a:graphic>
      </p:graphicFrame>
      <p:sp>
        <p:nvSpPr>
          <p:cNvPr id="10" name="Title 1">
            <a:extLst>
              <a:ext uri="{FF2B5EF4-FFF2-40B4-BE49-F238E27FC236}">
                <a16:creationId xmlns:a16="http://schemas.microsoft.com/office/drawing/2014/main" id="{87F50C86-740E-4113-AF6B-16F995BE313B}"/>
              </a:ext>
            </a:extLst>
          </p:cNvPr>
          <p:cNvSpPr>
            <a:spLocks noGrp="1"/>
          </p:cNvSpPr>
          <p:nvPr>
            <p:ph type="title"/>
          </p:nvPr>
        </p:nvSpPr>
        <p:spPr>
          <a:xfrm>
            <a:off x="275516" y="687426"/>
            <a:ext cx="8244540" cy="575433"/>
          </a:xfrm>
        </p:spPr>
        <p:txBody>
          <a:bodyPr>
            <a:normAutofit fontScale="90000"/>
          </a:bodyPr>
          <a:lstStyle/>
          <a:p>
            <a:r>
              <a:rPr lang="en-US" b="1"/>
              <a:t>Working with Directory Class</a:t>
            </a:r>
            <a:endParaRPr lang="en-US" dirty="0"/>
          </a:p>
        </p:txBody>
      </p:sp>
    </p:spTree>
    <p:extLst>
      <p:ext uri="{BB962C8B-B14F-4D97-AF65-F5344CB8AC3E}">
        <p14:creationId xmlns:p14="http://schemas.microsoft.com/office/powerpoint/2010/main" val="2169578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25</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1372198" cy="575433"/>
          </a:xfrm>
        </p:spPr>
        <p:txBody>
          <a:bodyPr>
            <a:normAutofit fontScale="90000"/>
          </a:bodyPr>
          <a:lstStyle/>
          <a:p>
            <a:r>
              <a:rPr lang="en-US" b="1"/>
              <a:t>Directory Class Demonstration</a:t>
            </a:r>
            <a:endParaRPr lang="en-US" dirty="0"/>
          </a:p>
        </p:txBody>
      </p:sp>
      <p:pic>
        <p:nvPicPr>
          <p:cNvPr id="7" name="Picture 6">
            <a:extLst>
              <a:ext uri="{FF2B5EF4-FFF2-40B4-BE49-F238E27FC236}">
                <a16:creationId xmlns:a16="http://schemas.microsoft.com/office/drawing/2014/main" id="{8670780F-3FD2-4D71-B89A-B6FECD059DB3}"/>
              </a:ext>
            </a:extLst>
          </p:cNvPr>
          <p:cNvPicPr>
            <a:picLocks noChangeAspect="1"/>
          </p:cNvPicPr>
          <p:nvPr/>
        </p:nvPicPr>
        <p:blipFill>
          <a:blip r:embed="rId2"/>
          <a:stretch>
            <a:fillRect/>
          </a:stretch>
        </p:blipFill>
        <p:spPr>
          <a:xfrm>
            <a:off x="0" y="1639689"/>
            <a:ext cx="8699679" cy="4762022"/>
          </a:xfrm>
          <a:prstGeom prst="rect">
            <a:avLst/>
          </a:prstGeom>
        </p:spPr>
      </p:pic>
      <p:pic>
        <p:nvPicPr>
          <p:cNvPr id="9" name="Picture 8">
            <a:extLst>
              <a:ext uri="{FF2B5EF4-FFF2-40B4-BE49-F238E27FC236}">
                <a16:creationId xmlns:a16="http://schemas.microsoft.com/office/drawing/2014/main" id="{0E0EBD85-5CA7-4AC8-B63B-39152216C483}"/>
              </a:ext>
            </a:extLst>
          </p:cNvPr>
          <p:cNvPicPr>
            <a:picLocks noChangeAspect="1"/>
          </p:cNvPicPr>
          <p:nvPr/>
        </p:nvPicPr>
        <p:blipFill>
          <a:blip r:embed="rId3"/>
          <a:stretch>
            <a:fillRect/>
          </a:stretch>
        </p:blipFill>
        <p:spPr>
          <a:xfrm>
            <a:off x="7002204" y="3590948"/>
            <a:ext cx="5088436" cy="1306711"/>
          </a:xfrm>
          <a:prstGeom prst="rect">
            <a:avLst/>
          </a:prstGeom>
          <a:ln>
            <a:solidFill>
              <a:srgbClr val="00B050"/>
            </a:solidFill>
          </a:ln>
        </p:spPr>
      </p:pic>
      <p:pic>
        <p:nvPicPr>
          <p:cNvPr id="3" name="Picture 2">
            <a:extLst>
              <a:ext uri="{FF2B5EF4-FFF2-40B4-BE49-F238E27FC236}">
                <a16:creationId xmlns:a16="http://schemas.microsoft.com/office/drawing/2014/main" id="{E4F5885C-211C-4A3E-9156-3F20B377686F}"/>
              </a:ext>
            </a:extLst>
          </p:cNvPr>
          <p:cNvPicPr>
            <a:picLocks noChangeAspect="1"/>
          </p:cNvPicPr>
          <p:nvPr/>
        </p:nvPicPr>
        <p:blipFill>
          <a:blip r:embed="rId4"/>
          <a:stretch>
            <a:fillRect/>
          </a:stretch>
        </p:blipFill>
        <p:spPr>
          <a:xfrm>
            <a:off x="7002204" y="4976648"/>
            <a:ext cx="5088436" cy="1425063"/>
          </a:xfrm>
          <a:prstGeom prst="rect">
            <a:avLst/>
          </a:prstGeom>
        </p:spPr>
      </p:pic>
      <p:sp>
        <p:nvSpPr>
          <p:cNvPr id="6" name="Rectangle 5">
            <a:extLst>
              <a:ext uri="{FF2B5EF4-FFF2-40B4-BE49-F238E27FC236}">
                <a16:creationId xmlns:a16="http://schemas.microsoft.com/office/drawing/2014/main" id="{1F837733-00BB-4397-A735-D91DAD0EBE84}"/>
              </a:ext>
            </a:extLst>
          </p:cNvPr>
          <p:cNvSpPr/>
          <p:nvPr/>
        </p:nvSpPr>
        <p:spPr>
          <a:xfrm>
            <a:off x="8870393" y="2105669"/>
            <a:ext cx="1589314" cy="707016"/>
          </a:xfrm>
          <a:prstGeom prst="rect">
            <a:avLst/>
          </a:prstGeom>
          <a:solidFill>
            <a:srgbClr val="00B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On Windows OS</a:t>
            </a:r>
          </a:p>
        </p:txBody>
      </p:sp>
      <p:sp>
        <p:nvSpPr>
          <p:cNvPr id="10" name="Rectangle 9">
            <a:extLst>
              <a:ext uri="{FF2B5EF4-FFF2-40B4-BE49-F238E27FC236}">
                <a16:creationId xmlns:a16="http://schemas.microsoft.com/office/drawing/2014/main" id="{2082D5AF-7C0E-42C3-87FA-D6680069D4D1}"/>
              </a:ext>
            </a:extLst>
          </p:cNvPr>
          <p:cNvSpPr/>
          <p:nvPr/>
        </p:nvSpPr>
        <p:spPr>
          <a:xfrm>
            <a:off x="4642594" y="5528711"/>
            <a:ext cx="1589314" cy="707016"/>
          </a:xfrm>
          <a:prstGeom prst="rect">
            <a:avLst/>
          </a:prstGeom>
          <a:solidFill>
            <a:srgbClr val="00B05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On Linux OS</a:t>
            </a:r>
          </a:p>
        </p:txBody>
      </p:sp>
      <p:cxnSp>
        <p:nvCxnSpPr>
          <p:cNvPr id="12" name="Straight Arrow Connector 11">
            <a:extLst>
              <a:ext uri="{FF2B5EF4-FFF2-40B4-BE49-F238E27FC236}">
                <a16:creationId xmlns:a16="http://schemas.microsoft.com/office/drawing/2014/main" id="{E9D2E65A-BCC0-4711-8D53-E5F2B5D1F713}"/>
              </a:ext>
            </a:extLst>
          </p:cNvPr>
          <p:cNvCxnSpPr>
            <a:cxnSpLocks/>
          </p:cNvCxnSpPr>
          <p:nvPr/>
        </p:nvCxnSpPr>
        <p:spPr>
          <a:xfrm>
            <a:off x="9546422" y="2819905"/>
            <a:ext cx="1" cy="73154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3EEE85E-4749-49B4-917A-A246107161D7}"/>
              </a:ext>
            </a:extLst>
          </p:cNvPr>
          <p:cNvCxnSpPr>
            <a:cxnSpLocks/>
          </p:cNvCxnSpPr>
          <p:nvPr/>
        </p:nvCxnSpPr>
        <p:spPr>
          <a:xfrm>
            <a:off x="6231908" y="5908653"/>
            <a:ext cx="760136"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3574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2805-FFB8-4969-816A-38F8B7EBC1B0}"/>
              </a:ext>
            </a:extLst>
          </p:cNvPr>
          <p:cNvSpPr>
            <a:spLocks noGrp="1"/>
          </p:cNvSpPr>
          <p:nvPr>
            <p:ph type="title"/>
          </p:nvPr>
        </p:nvSpPr>
        <p:spPr>
          <a:xfrm>
            <a:off x="275516" y="687426"/>
            <a:ext cx="8244540" cy="575433"/>
          </a:xfrm>
        </p:spPr>
        <p:txBody>
          <a:bodyPr>
            <a:normAutofit fontScale="90000"/>
          </a:bodyPr>
          <a:lstStyle/>
          <a:p>
            <a:r>
              <a:rPr lang="en-US" b="1" dirty="0"/>
              <a:t>Working with </a:t>
            </a:r>
            <a:r>
              <a:rPr lang="en-US" b="1" dirty="0" err="1"/>
              <a:t>DirectoryInfo</a:t>
            </a:r>
            <a:r>
              <a:rPr lang="en-US" b="1"/>
              <a:t> Class </a:t>
            </a:r>
            <a:endParaRPr lang="en-US" dirty="0"/>
          </a:p>
        </p:txBody>
      </p:sp>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26</a:t>
            </a:fld>
            <a:endParaRPr lang="en-US" dirty="0"/>
          </a:p>
        </p:txBody>
      </p:sp>
      <p:sp>
        <p:nvSpPr>
          <p:cNvPr id="7" name="TextBox 6">
            <a:extLst>
              <a:ext uri="{FF2B5EF4-FFF2-40B4-BE49-F238E27FC236}">
                <a16:creationId xmlns:a16="http://schemas.microsoft.com/office/drawing/2014/main" id="{6786E8FE-C5E5-4DE4-97E2-9EF45451F77E}"/>
              </a:ext>
            </a:extLst>
          </p:cNvPr>
          <p:cNvSpPr txBox="1"/>
          <p:nvPr/>
        </p:nvSpPr>
        <p:spPr>
          <a:xfrm>
            <a:off x="0" y="1291131"/>
            <a:ext cx="12192000" cy="1895647"/>
          </a:xfrm>
          <a:prstGeom prst="rect">
            <a:avLst/>
          </a:prstGeom>
          <a:noFill/>
        </p:spPr>
        <p:txBody>
          <a:bodyPr wrap="square">
            <a:spAutoFit/>
          </a:bodyPr>
          <a:lstStyle/>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Exposes instance methods for creating, moving, and enumerating through directories and subdirectories. This class cannot be inherited</a:t>
            </a:r>
          </a:p>
          <a:p>
            <a:pPr marL="342900" indent="-342900" algn="just">
              <a:lnSpc>
                <a:spcPct val="150000"/>
              </a:lnSpc>
              <a:spcBef>
                <a:spcPts val="300"/>
              </a:spcBef>
              <a:spcAft>
                <a:spcPts val="300"/>
              </a:spcAft>
              <a:buClr>
                <a:srgbClr val="973735"/>
              </a:buClr>
              <a:buSzPct val="50000"/>
              <a:buFont typeface="Wingdings" pitchFamily="2" charset="2"/>
              <a:buChar char="u"/>
              <a:tabLst>
                <a:tab pos="241300" algn="l"/>
              </a:tabLst>
              <a:defRPr/>
            </a:pPr>
            <a:r>
              <a:rPr lang="en-US" sz="2600">
                <a:latin typeface="+mj-lt"/>
              </a:rPr>
              <a:t>Important Properties and Methods of </a:t>
            </a:r>
            <a:r>
              <a:rPr lang="en-US" sz="2600" b="1">
                <a:latin typeface="+mj-lt"/>
              </a:rPr>
              <a:t>DirectoryInfo </a:t>
            </a:r>
            <a:r>
              <a:rPr lang="en-US" sz="2600">
                <a:latin typeface="+mj-lt"/>
              </a:rPr>
              <a:t>class:</a:t>
            </a:r>
            <a:endParaRPr lang="en-US" sz="2600" dirty="0">
              <a:latin typeface="+mj-lt"/>
            </a:endParaRPr>
          </a:p>
        </p:txBody>
      </p:sp>
      <p:graphicFrame>
        <p:nvGraphicFramePr>
          <p:cNvPr id="6" name="Table 5">
            <a:extLst>
              <a:ext uri="{FF2B5EF4-FFF2-40B4-BE49-F238E27FC236}">
                <a16:creationId xmlns:a16="http://schemas.microsoft.com/office/drawing/2014/main" id="{AA8F4965-B4E1-4A57-A2BD-9C6E58BD9760}"/>
              </a:ext>
            </a:extLst>
          </p:cNvPr>
          <p:cNvGraphicFramePr>
            <a:graphicFrameLocks noGrp="1"/>
          </p:cNvGraphicFramePr>
          <p:nvPr>
            <p:extLst>
              <p:ext uri="{D42A27DB-BD31-4B8C-83A1-F6EECF244321}">
                <p14:modId xmlns:p14="http://schemas.microsoft.com/office/powerpoint/2010/main" val="4156160089"/>
              </p:ext>
            </p:extLst>
          </p:nvPr>
        </p:nvGraphicFramePr>
        <p:xfrm>
          <a:off x="241172" y="3348574"/>
          <a:ext cx="11852857" cy="3008682"/>
        </p:xfrm>
        <a:graphic>
          <a:graphicData uri="http://schemas.openxmlformats.org/drawingml/2006/table">
            <a:tbl>
              <a:tblPr firstRow="1" bandRow="1">
                <a:tableStyleId>{5C22544A-7EE6-4342-B048-85BDC9FD1C3A}</a:tableStyleId>
              </a:tblPr>
              <a:tblGrid>
                <a:gridCol w="3101682">
                  <a:extLst>
                    <a:ext uri="{9D8B030D-6E8A-4147-A177-3AD203B41FA5}">
                      <a16:colId xmlns:a16="http://schemas.microsoft.com/office/drawing/2014/main" val="20000"/>
                    </a:ext>
                  </a:extLst>
                </a:gridCol>
                <a:gridCol w="8751175">
                  <a:extLst>
                    <a:ext uri="{9D8B030D-6E8A-4147-A177-3AD203B41FA5}">
                      <a16:colId xmlns:a16="http://schemas.microsoft.com/office/drawing/2014/main" val="20001"/>
                    </a:ext>
                  </a:extLst>
                </a:gridCol>
              </a:tblGrid>
              <a:tr h="606403">
                <a:tc>
                  <a:txBody>
                    <a:bodyPr/>
                    <a:lstStyle/>
                    <a:p>
                      <a:r>
                        <a:rPr lang="en-US" sz="2000"/>
                        <a:t>Property Name</a:t>
                      </a:r>
                      <a:endParaRPr lang="en-US" sz="2000" dirty="0"/>
                    </a:p>
                  </a:txBody>
                  <a:tcPr/>
                </a:tc>
                <a:tc>
                  <a:txBody>
                    <a:bodyPr/>
                    <a:lstStyle/>
                    <a:p>
                      <a:r>
                        <a:rPr lang="en-US" sz="2000" dirty="0"/>
                        <a:t>Description</a:t>
                      </a:r>
                    </a:p>
                  </a:txBody>
                  <a:tcPr/>
                </a:tc>
                <a:extLst>
                  <a:ext uri="{0D108BD9-81ED-4DB2-BD59-A6C34878D82A}">
                    <a16:rowId xmlns:a16="http://schemas.microsoft.com/office/drawing/2014/main" val="10000"/>
                  </a:ext>
                </a:extLst>
              </a:tr>
              <a:tr h="500314">
                <a:tc>
                  <a:txBody>
                    <a:bodyPr/>
                    <a:lstStyle/>
                    <a:p>
                      <a:pPr algn="l" fontAlgn="t"/>
                      <a:r>
                        <a:rPr lang="en-US" sz="2000" u="none" strike="noStrike">
                          <a:effectLst/>
                        </a:rPr>
                        <a:t>Attributes</a:t>
                      </a:r>
                      <a:endParaRPr lang="en-US" sz="2000">
                        <a:effectLst/>
                      </a:endParaRPr>
                    </a:p>
                  </a:txBody>
                  <a:tcPr/>
                </a:tc>
                <a:tc>
                  <a:txBody>
                    <a:bodyPr/>
                    <a:lstStyle/>
                    <a:p>
                      <a:pPr algn="l" fontAlgn="t"/>
                      <a:r>
                        <a:rPr lang="en-US" sz="2000">
                          <a:effectLst/>
                        </a:rPr>
                        <a:t>Gets or sets the attributes for the current file or directory</a:t>
                      </a:r>
                    </a:p>
                  </a:txBody>
                  <a:tcPr/>
                </a:tc>
                <a:extLst>
                  <a:ext uri="{0D108BD9-81ED-4DB2-BD59-A6C34878D82A}">
                    <a16:rowId xmlns:a16="http://schemas.microsoft.com/office/drawing/2014/main" val="10004"/>
                  </a:ext>
                </a:extLst>
              </a:tr>
              <a:tr h="530564">
                <a:tc>
                  <a:txBody>
                    <a:bodyPr/>
                    <a:lstStyle/>
                    <a:p>
                      <a:pPr algn="l" fontAlgn="t"/>
                      <a:r>
                        <a:rPr lang="en-US" sz="2000" u="none" strike="noStrike">
                          <a:effectLst/>
                        </a:rPr>
                        <a:t>CreationTime</a:t>
                      </a:r>
                      <a:endParaRPr lang="en-US" sz="2000">
                        <a:effectLst/>
                      </a:endParaRPr>
                    </a:p>
                  </a:txBody>
                  <a:tcPr/>
                </a:tc>
                <a:tc>
                  <a:txBody>
                    <a:bodyPr/>
                    <a:lstStyle/>
                    <a:p>
                      <a:pPr algn="l" fontAlgn="t"/>
                      <a:r>
                        <a:rPr lang="en-US" sz="2000">
                          <a:effectLst/>
                        </a:rPr>
                        <a:t>Gets or sets the creation time of the current file or directory</a:t>
                      </a:r>
                    </a:p>
                  </a:txBody>
                  <a:tcPr/>
                </a:tc>
                <a:extLst>
                  <a:ext uri="{0D108BD9-81ED-4DB2-BD59-A6C34878D82A}">
                    <a16:rowId xmlns:a16="http://schemas.microsoft.com/office/drawing/2014/main" val="10005"/>
                  </a:ext>
                </a:extLst>
              </a:tr>
              <a:tr h="484025">
                <a:tc>
                  <a:txBody>
                    <a:bodyPr/>
                    <a:lstStyle/>
                    <a:p>
                      <a:pPr algn="l" fontAlgn="t"/>
                      <a:r>
                        <a:rPr lang="en-US" sz="2000" u="none" strike="noStrike">
                          <a:effectLst/>
                        </a:rPr>
                        <a:t>Exists</a:t>
                      </a:r>
                      <a:endParaRPr lang="en-US" sz="2000">
                        <a:effectLst/>
                      </a:endParaRPr>
                    </a:p>
                  </a:txBody>
                  <a:tcPr/>
                </a:tc>
                <a:tc>
                  <a:txBody>
                    <a:bodyPr/>
                    <a:lstStyle/>
                    <a:p>
                      <a:pPr algn="l" fontAlgn="t"/>
                      <a:r>
                        <a:rPr lang="en-US" sz="2000">
                          <a:effectLst/>
                        </a:rPr>
                        <a:t>Gets a value indicating whether the directory exists</a:t>
                      </a:r>
                    </a:p>
                  </a:txBody>
                  <a:tcPr/>
                </a:tc>
                <a:extLst>
                  <a:ext uri="{0D108BD9-81ED-4DB2-BD59-A6C34878D82A}">
                    <a16:rowId xmlns:a16="http://schemas.microsoft.com/office/drawing/2014/main" val="4131640326"/>
                  </a:ext>
                </a:extLst>
              </a:tr>
              <a:tr h="423521">
                <a:tc>
                  <a:txBody>
                    <a:bodyPr/>
                    <a:lstStyle/>
                    <a:p>
                      <a:pPr algn="l" fontAlgn="t"/>
                      <a:r>
                        <a:rPr lang="en-US" sz="2000" u="none" strike="noStrike">
                          <a:effectLst/>
                        </a:rPr>
                        <a:t>Extension</a:t>
                      </a:r>
                      <a:endParaRPr lang="en-US" sz="2000">
                        <a:effectLst/>
                      </a:endParaRPr>
                    </a:p>
                  </a:txBody>
                  <a:tcPr/>
                </a:tc>
                <a:tc>
                  <a:txBody>
                    <a:bodyPr/>
                    <a:lstStyle/>
                    <a:p>
                      <a:pPr algn="l" fontAlgn="t"/>
                      <a:r>
                        <a:rPr lang="en-US" sz="2000">
                          <a:effectLst/>
                        </a:rPr>
                        <a:t>Gets the string representing the extension part of the file</a:t>
                      </a:r>
                    </a:p>
                  </a:txBody>
                  <a:tcPr/>
                </a:tc>
                <a:extLst>
                  <a:ext uri="{0D108BD9-81ED-4DB2-BD59-A6C34878D82A}">
                    <a16:rowId xmlns:a16="http://schemas.microsoft.com/office/drawing/2014/main" val="1536847324"/>
                  </a:ext>
                </a:extLst>
              </a:tr>
              <a:tr h="463855">
                <a:tc>
                  <a:txBody>
                    <a:bodyPr/>
                    <a:lstStyle/>
                    <a:p>
                      <a:pPr algn="l" fontAlgn="t"/>
                      <a:r>
                        <a:rPr lang="en-US" sz="2000" u="none" strike="noStrike">
                          <a:effectLst/>
                        </a:rPr>
                        <a:t>FullName</a:t>
                      </a:r>
                      <a:endParaRPr lang="en-US" sz="2000">
                        <a:effectLst/>
                      </a:endParaRPr>
                    </a:p>
                  </a:txBody>
                  <a:tcPr/>
                </a:tc>
                <a:tc>
                  <a:txBody>
                    <a:bodyPr/>
                    <a:lstStyle/>
                    <a:p>
                      <a:pPr algn="l" fontAlgn="t"/>
                      <a:r>
                        <a:rPr lang="en-US" sz="2000">
                          <a:effectLst/>
                        </a:rPr>
                        <a:t>Gets the full path of the directory or file</a:t>
                      </a:r>
                    </a:p>
                  </a:txBody>
                  <a:tcPr/>
                </a:tc>
                <a:extLst>
                  <a:ext uri="{0D108BD9-81ED-4DB2-BD59-A6C34878D82A}">
                    <a16:rowId xmlns:a16="http://schemas.microsoft.com/office/drawing/2014/main" val="1970673537"/>
                  </a:ext>
                </a:extLst>
              </a:tr>
            </a:tbl>
          </a:graphicData>
        </a:graphic>
      </p:graphicFrame>
    </p:spTree>
    <p:extLst>
      <p:ext uri="{BB962C8B-B14F-4D97-AF65-F5344CB8AC3E}">
        <p14:creationId xmlns:p14="http://schemas.microsoft.com/office/powerpoint/2010/main" val="13689311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27</a:t>
            </a:fld>
            <a:endParaRPr lang="en-US" dirty="0"/>
          </a:p>
        </p:txBody>
      </p:sp>
      <p:graphicFrame>
        <p:nvGraphicFramePr>
          <p:cNvPr id="9" name="Table 8">
            <a:extLst>
              <a:ext uri="{FF2B5EF4-FFF2-40B4-BE49-F238E27FC236}">
                <a16:creationId xmlns:a16="http://schemas.microsoft.com/office/drawing/2014/main" id="{FCC3B173-14D9-4590-B1EB-4E02A2982E17}"/>
              </a:ext>
            </a:extLst>
          </p:cNvPr>
          <p:cNvGraphicFramePr>
            <a:graphicFrameLocks noGrp="1"/>
          </p:cNvGraphicFramePr>
          <p:nvPr>
            <p:extLst>
              <p:ext uri="{D42A27DB-BD31-4B8C-83A1-F6EECF244321}">
                <p14:modId xmlns:p14="http://schemas.microsoft.com/office/powerpoint/2010/main" val="2998289268"/>
              </p:ext>
            </p:extLst>
          </p:nvPr>
        </p:nvGraphicFramePr>
        <p:xfrm>
          <a:off x="108858" y="1686012"/>
          <a:ext cx="11974284" cy="4698889"/>
        </p:xfrm>
        <a:graphic>
          <a:graphicData uri="http://schemas.openxmlformats.org/drawingml/2006/table">
            <a:tbl>
              <a:tblPr firstRow="1" bandRow="1">
                <a:tableStyleId>{5C22544A-7EE6-4342-B048-85BDC9FD1C3A}</a:tableStyleId>
              </a:tblPr>
              <a:tblGrid>
                <a:gridCol w="3306819">
                  <a:extLst>
                    <a:ext uri="{9D8B030D-6E8A-4147-A177-3AD203B41FA5}">
                      <a16:colId xmlns:a16="http://schemas.microsoft.com/office/drawing/2014/main" val="20000"/>
                    </a:ext>
                  </a:extLst>
                </a:gridCol>
                <a:gridCol w="8667465">
                  <a:extLst>
                    <a:ext uri="{9D8B030D-6E8A-4147-A177-3AD203B41FA5}">
                      <a16:colId xmlns:a16="http://schemas.microsoft.com/office/drawing/2014/main" val="20001"/>
                    </a:ext>
                  </a:extLst>
                </a:gridCol>
              </a:tblGrid>
              <a:tr h="453117">
                <a:tc>
                  <a:txBody>
                    <a:bodyPr/>
                    <a:lstStyle/>
                    <a:p>
                      <a:pPr>
                        <a:spcBef>
                          <a:spcPts val="600"/>
                        </a:spcBef>
                        <a:spcAft>
                          <a:spcPts val="600"/>
                        </a:spcAft>
                      </a:pPr>
                      <a:r>
                        <a:rPr lang="en-US" sz="2000"/>
                        <a:t>Method </a:t>
                      </a:r>
                      <a:r>
                        <a:rPr lang="en-US" sz="2000" dirty="0"/>
                        <a:t>Name</a:t>
                      </a:r>
                    </a:p>
                  </a:txBody>
                  <a:tcPr/>
                </a:tc>
                <a:tc>
                  <a:txBody>
                    <a:bodyPr/>
                    <a:lstStyle/>
                    <a:p>
                      <a:pPr>
                        <a:spcBef>
                          <a:spcPts val="600"/>
                        </a:spcBef>
                        <a:spcAft>
                          <a:spcPts val="600"/>
                        </a:spcAft>
                      </a:pPr>
                      <a:r>
                        <a:rPr lang="en-US" sz="2000" dirty="0"/>
                        <a:t>Description</a:t>
                      </a:r>
                    </a:p>
                  </a:txBody>
                  <a:tcPr/>
                </a:tc>
                <a:extLst>
                  <a:ext uri="{0D108BD9-81ED-4DB2-BD59-A6C34878D82A}">
                    <a16:rowId xmlns:a16="http://schemas.microsoft.com/office/drawing/2014/main" val="10000"/>
                  </a:ext>
                </a:extLst>
              </a:tr>
              <a:tr h="440785">
                <a:tc>
                  <a:txBody>
                    <a:bodyPr/>
                    <a:lstStyle/>
                    <a:p>
                      <a:pPr algn="l" fontAlgn="t"/>
                      <a:r>
                        <a:rPr lang="en-US" sz="2000" u="none" strike="noStrike">
                          <a:effectLst/>
                        </a:rPr>
                        <a:t>Create()</a:t>
                      </a:r>
                      <a:endParaRPr lang="en-US" sz="2000">
                        <a:effectLst/>
                      </a:endParaRPr>
                    </a:p>
                  </a:txBody>
                  <a:tcPr/>
                </a:tc>
                <a:tc>
                  <a:txBody>
                    <a:bodyPr/>
                    <a:lstStyle/>
                    <a:p>
                      <a:pPr algn="l" fontAlgn="t"/>
                      <a:r>
                        <a:rPr lang="en-US" sz="2000">
                          <a:effectLst/>
                        </a:rPr>
                        <a:t>Creates a directory</a:t>
                      </a:r>
                    </a:p>
                  </a:txBody>
                  <a:tcPr/>
                </a:tc>
                <a:extLst>
                  <a:ext uri="{0D108BD9-81ED-4DB2-BD59-A6C34878D82A}">
                    <a16:rowId xmlns:a16="http://schemas.microsoft.com/office/drawing/2014/main" val="10001"/>
                  </a:ext>
                </a:extLst>
              </a:tr>
              <a:tr h="598715">
                <a:tc>
                  <a:txBody>
                    <a:bodyPr/>
                    <a:lstStyle/>
                    <a:p>
                      <a:pPr algn="l" fontAlgn="t"/>
                      <a:r>
                        <a:rPr lang="en-US" sz="2000" u="none" strike="noStrike">
                          <a:effectLst/>
                        </a:rPr>
                        <a:t>CreateSubdirectory(String)</a:t>
                      </a:r>
                      <a:endParaRPr lang="en-US" sz="2000">
                        <a:effectLst/>
                      </a:endParaRPr>
                    </a:p>
                  </a:txBody>
                  <a:tcPr/>
                </a:tc>
                <a:tc>
                  <a:txBody>
                    <a:bodyPr/>
                    <a:lstStyle/>
                    <a:p>
                      <a:pPr algn="l" fontAlgn="t"/>
                      <a:r>
                        <a:rPr lang="en-US" sz="2000">
                          <a:effectLst/>
                        </a:rPr>
                        <a:t>Creates a subdirectory or subdirectories on the specified path. The specified path can be relative to this instance of the </a:t>
                      </a:r>
                      <a:r>
                        <a:rPr lang="en-US" sz="2000" u="none" strike="noStrike">
                          <a:effectLst/>
                        </a:rPr>
                        <a:t>DirectoryInfo</a:t>
                      </a:r>
                      <a:r>
                        <a:rPr lang="en-US" sz="2000">
                          <a:effectLst/>
                        </a:rPr>
                        <a:t> class</a:t>
                      </a:r>
                    </a:p>
                  </a:txBody>
                  <a:tcPr/>
                </a:tc>
                <a:extLst>
                  <a:ext uri="{0D108BD9-81ED-4DB2-BD59-A6C34878D82A}">
                    <a16:rowId xmlns:a16="http://schemas.microsoft.com/office/drawing/2014/main" val="10002"/>
                  </a:ext>
                </a:extLst>
              </a:tr>
              <a:tr h="507274">
                <a:tc>
                  <a:txBody>
                    <a:bodyPr/>
                    <a:lstStyle/>
                    <a:p>
                      <a:pPr algn="l" fontAlgn="t"/>
                      <a:r>
                        <a:rPr lang="en-US" sz="2000" u="none" strike="noStrike">
                          <a:effectLst/>
                        </a:rPr>
                        <a:t>Delete()</a:t>
                      </a:r>
                      <a:endParaRPr lang="en-US" sz="2000">
                        <a:effectLst/>
                      </a:endParaRPr>
                    </a:p>
                  </a:txBody>
                  <a:tcPr/>
                </a:tc>
                <a:tc>
                  <a:txBody>
                    <a:bodyPr/>
                    <a:lstStyle/>
                    <a:p>
                      <a:pPr algn="l" fontAlgn="t"/>
                      <a:r>
                        <a:rPr lang="en-US" sz="2000">
                          <a:effectLst/>
                        </a:rPr>
                        <a:t>Deletes this </a:t>
                      </a:r>
                      <a:r>
                        <a:rPr lang="en-US" sz="2000" u="none" strike="noStrike">
                          <a:effectLst/>
                        </a:rPr>
                        <a:t>DirectoryInfo</a:t>
                      </a:r>
                      <a:r>
                        <a:rPr lang="en-US" sz="2000">
                          <a:effectLst/>
                        </a:rPr>
                        <a:t> if it is empty</a:t>
                      </a:r>
                    </a:p>
                  </a:txBody>
                  <a:tcPr/>
                </a:tc>
                <a:extLst>
                  <a:ext uri="{0D108BD9-81ED-4DB2-BD59-A6C34878D82A}">
                    <a16:rowId xmlns:a16="http://schemas.microsoft.com/office/drawing/2014/main" val="10003"/>
                  </a:ext>
                </a:extLst>
              </a:tr>
              <a:tr h="722332">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GetDirectories(String)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Returns an array of directories in the current DirectoryInfo matching the given search criteria</a:t>
                      </a:r>
                    </a:p>
                  </a:txBody>
                  <a:tcPr/>
                </a:tc>
                <a:extLst>
                  <a:ext uri="{0D108BD9-81ED-4DB2-BD59-A6C34878D82A}">
                    <a16:rowId xmlns:a16="http://schemas.microsoft.com/office/drawing/2014/main" val="10004"/>
                  </a:ext>
                </a:extLst>
              </a:tr>
              <a:tr h="609600">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GetFiles(String)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Returns a file list from the current directory matching the given search pattern</a:t>
                      </a:r>
                    </a:p>
                  </a:txBody>
                  <a:tcPr/>
                </a:tc>
                <a:extLst>
                  <a:ext uri="{0D108BD9-81ED-4DB2-BD59-A6C34878D82A}">
                    <a16:rowId xmlns:a16="http://schemas.microsoft.com/office/drawing/2014/main" val="10005"/>
                  </a:ext>
                </a:extLst>
              </a:tr>
              <a:tr h="472261">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MoveTo(String)</a:t>
                      </a:r>
                    </a:p>
                  </a:txBody>
                  <a:tcPr/>
                </a:tc>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Moves a DirectoryInfo instance and its contents to a new path</a:t>
                      </a:r>
                    </a:p>
                  </a:txBody>
                  <a:tcPr/>
                </a:tc>
                <a:extLst>
                  <a:ext uri="{0D108BD9-81ED-4DB2-BD59-A6C34878D82A}">
                    <a16:rowId xmlns:a16="http://schemas.microsoft.com/office/drawing/2014/main" val="508282034"/>
                  </a:ext>
                </a:extLst>
              </a:tr>
              <a:tr h="514633">
                <a:tc>
                  <a:txBody>
                    <a:bodyPr/>
                    <a:lstStyle/>
                    <a:p>
                      <a:pPr marL="0" algn="l" defTabSz="914400" rtl="0" eaLnBrk="1" fontAlgn="t" latinLnBrk="0" hangingPunct="1"/>
                      <a:r>
                        <a:rPr lang="en-US" sz="2000" u="none" strike="noStrike" kern="1200">
                          <a:solidFill>
                            <a:schemeClr val="dk1"/>
                          </a:solidFill>
                          <a:effectLst/>
                          <a:latin typeface="+mn-lt"/>
                          <a:ea typeface="+mn-ea"/>
                          <a:cs typeface="+mn-cs"/>
                        </a:rPr>
                        <a:t>GetFileSystemInfos(String)</a:t>
                      </a:r>
                    </a:p>
                  </a:txBody>
                  <a:tcPr/>
                </a:tc>
                <a:tc>
                  <a:txBody>
                    <a:bodyPr/>
                    <a:lstStyle/>
                    <a:p>
                      <a:pPr marL="0" algn="l" defTabSz="914400" rtl="0" eaLnBrk="1" fontAlgn="t" latinLnBrk="0" hangingPunct="1"/>
                      <a:r>
                        <a:rPr lang="en-US" sz="2000" u="none" strike="noStrike" kern="1200" dirty="0">
                          <a:solidFill>
                            <a:schemeClr val="dk1"/>
                          </a:solidFill>
                          <a:effectLst/>
                          <a:latin typeface="+mn-lt"/>
                          <a:ea typeface="+mn-ea"/>
                          <a:cs typeface="+mn-cs"/>
                        </a:rPr>
                        <a:t>Retrieves an array of strongly typed </a:t>
                      </a:r>
                      <a:r>
                        <a:rPr lang="en-US" sz="2000" u="none" strike="noStrike" kern="1200" dirty="0" err="1">
                          <a:solidFill>
                            <a:schemeClr val="dk1"/>
                          </a:solidFill>
                          <a:effectLst/>
                          <a:latin typeface="+mn-lt"/>
                          <a:ea typeface="+mn-ea"/>
                          <a:cs typeface="+mn-cs"/>
                        </a:rPr>
                        <a:t>FileSystemInfo</a:t>
                      </a:r>
                      <a:r>
                        <a:rPr lang="en-US" sz="2000" u="none" strike="noStrike" kern="1200" dirty="0">
                          <a:solidFill>
                            <a:schemeClr val="dk1"/>
                          </a:solidFill>
                          <a:effectLst/>
                          <a:latin typeface="+mn-lt"/>
                          <a:ea typeface="+mn-ea"/>
                          <a:cs typeface="+mn-cs"/>
                        </a:rPr>
                        <a:t> objects representing the files and subdirectories that match the specified search criteria</a:t>
                      </a:r>
                    </a:p>
                  </a:txBody>
                  <a:tcPr/>
                </a:tc>
                <a:extLst>
                  <a:ext uri="{0D108BD9-81ED-4DB2-BD59-A6C34878D82A}">
                    <a16:rowId xmlns:a16="http://schemas.microsoft.com/office/drawing/2014/main" val="2099629954"/>
                  </a:ext>
                </a:extLst>
              </a:tr>
            </a:tbl>
          </a:graphicData>
        </a:graphic>
      </p:graphicFrame>
      <p:sp>
        <p:nvSpPr>
          <p:cNvPr id="10" name="Title 1">
            <a:extLst>
              <a:ext uri="{FF2B5EF4-FFF2-40B4-BE49-F238E27FC236}">
                <a16:creationId xmlns:a16="http://schemas.microsoft.com/office/drawing/2014/main" id="{87F50C86-740E-4113-AF6B-16F995BE313B}"/>
              </a:ext>
            </a:extLst>
          </p:cNvPr>
          <p:cNvSpPr>
            <a:spLocks noGrp="1"/>
          </p:cNvSpPr>
          <p:nvPr>
            <p:ph type="title"/>
          </p:nvPr>
        </p:nvSpPr>
        <p:spPr>
          <a:xfrm>
            <a:off x="275516" y="687426"/>
            <a:ext cx="8244540" cy="575433"/>
          </a:xfrm>
        </p:spPr>
        <p:txBody>
          <a:bodyPr>
            <a:normAutofit fontScale="90000"/>
          </a:bodyPr>
          <a:lstStyle/>
          <a:p>
            <a:r>
              <a:rPr lang="en-US" b="1"/>
              <a:t>Working with DirectoryInfo Class</a:t>
            </a:r>
            <a:endParaRPr lang="en-US" dirty="0"/>
          </a:p>
        </p:txBody>
      </p:sp>
    </p:spTree>
    <p:extLst>
      <p:ext uri="{BB962C8B-B14F-4D97-AF65-F5344CB8AC3E}">
        <p14:creationId xmlns:p14="http://schemas.microsoft.com/office/powerpoint/2010/main" val="1557525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B2069F-8396-413B-8F66-6A5CE930D68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FAD0AA2C-0FC5-4C7C-86AB-765F90A881B6}"/>
              </a:ext>
            </a:extLst>
          </p:cNvPr>
          <p:cNvSpPr>
            <a:spLocks noGrp="1"/>
          </p:cNvSpPr>
          <p:nvPr>
            <p:ph type="sldNum" sz="quarter" idx="12"/>
          </p:nvPr>
        </p:nvSpPr>
        <p:spPr/>
        <p:txBody>
          <a:bodyPr/>
          <a:lstStyle/>
          <a:p>
            <a:fld id="{CC0149FD-98BB-4821-915B-09C9BFE4B727}" type="slidenum">
              <a:rPr lang="en-US" smtClean="0"/>
              <a:pPr/>
              <a:t>28</a:t>
            </a:fld>
            <a:endParaRPr lang="en-US" dirty="0"/>
          </a:p>
        </p:txBody>
      </p:sp>
      <p:sp>
        <p:nvSpPr>
          <p:cNvPr id="8" name="Title 1">
            <a:extLst>
              <a:ext uri="{FF2B5EF4-FFF2-40B4-BE49-F238E27FC236}">
                <a16:creationId xmlns:a16="http://schemas.microsoft.com/office/drawing/2014/main" id="{B614DBDE-BBD3-40B3-82FA-1464CCB5BF1E}"/>
              </a:ext>
            </a:extLst>
          </p:cNvPr>
          <p:cNvSpPr>
            <a:spLocks noGrp="1"/>
          </p:cNvSpPr>
          <p:nvPr>
            <p:ph type="title"/>
          </p:nvPr>
        </p:nvSpPr>
        <p:spPr>
          <a:xfrm>
            <a:off x="275515" y="687426"/>
            <a:ext cx="11916485" cy="575433"/>
          </a:xfrm>
        </p:spPr>
        <p:txBody>
          <a:bodyPr>
            <a:normAutofit fontScale="90000"/>
          </a:bodyPr>
          <a:lstStyle/>
          <a:p>
            <a:r>
              <a:rPr lang="en-US" b="1"/>
              <a:t>Working with DirectoryInfo Class Demonstration</a:t>
            </a:r>
            <a:endParaRPr lang="en-US" dirty="0"/>
          </a:p>
        </p:txBody>
      </p:sp>
      <p:pic>
        <p:nvPicPr>
          <p:cNvPr id="3" name="Picture 2">
            <a:extLst>
              <a:ext uri="{FF2B5EF4-FFF2-40B4-BE49-F238E27FC236}">
                <a16:creationId xmlns:a16="http://schemas.microsoft.com/office/drawing/2014/main" id="{909FAA3A-09FE-448F-ACEF-254A377FF436}"/>
              </a:ext>
            </a:extLst>
          </p:cNvPr>
          <p:cNvPicPr>
            <a:picLocks noChangeAspect="1"/>
          </p:cNvPicPr>
          <p:nvPr/>
        </p:nvPicPr>
        <p:blipFill>
          <a:blip r:embed="rId3"/>
          <a:stretch>
            <a:fillRect/>
          </a:stretch>
        </p:blipFill>
        <p:spPr>
          <a:xfrm>
            <a:off x="0" y="1531467"/>
            <a:ext cx="9805766" cy="4314160"/>
          </a:xfrm>
          <a:prstGeom prst="rect">
            <a:avLst/>
          </a:prstGeom>
        </p:spPr>
      </p:pic>
      <p:pic>
        <p:nvPicPr>
          <p:cNvPr id="7" name="Picture 6">
            <a:extLst>
              <a:ext uri="{FF2B5EF4-FFF2-40B4-BE49-F238E27FC236}">
                <a16:creationId xmlns:a16="http://schemas.microsoft.com/office/drawing/2014/main" id="{2E16EF65-1F3D-4133-A0A9-469387AAEB1B}"/>
              </a:ext>
            </a:extLst>
          </p:cNvPr>
          <p:cNvPicPr>
            <a:picLocks noChangeAspect="1"/>
          </p:cNvPicPr>
          <p:nvPr/>
        </p:nvPicPr>
        <p:blipFill>
          <a:blip r:embed="rId4"/>
          <a:stretch>
            <a:fillRect/>
          </a:stretch>
        </p:blipFill>
        <p:spPr>
          <a:xfrm>
            <a:off x="7501307" y="4690992"/>
            <a:ext cx="4608917" cy="1749067"/>
          </a:xfrm>
          <a:prstGeom prst="rect">
            <a:avLst/>
          </a:prstGeom>
        </p:spPr>
      </p:pic>
    </p:spTree>
    <p:extLst>
      <p:ext uri="{BB962C8B-B14F-4D97-AF65-F5344CB8AC3E}">
        <p14:creationId xmlns:p14="http://schemas.microsoft.com/office/powerpoint/2010/main" val="1615206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29</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1404855" cy="575433"/>
          </a:xfrm>
        </p:spPr>
        <p:txBody>
          <a:bodyPr>
            <a:normAutofit fontScale="90000"/>
          </a:bodyPr>
          <a:lstStyle/>
          <a:p>
            <a:r>
              <a:rPr lang="en-US" b="1"/>
              <a:t>Working with StreamWriter and StreamReader</a:t>
            </a:r>
            <a:endParaRPr lang="en-US" dirty="0"/>
          </a:p>
        </p:txBody>
      </p:sp>
      <p:sp>
        <p:nvSpPr>
          <p:cNvPr id="9" name="TextBox 8">
            <a:extLst>
              <a:ext uri="{FF2B5EF4-FFF2-40B4-BE49-F238E27FC236}">
                <a16:creationId xmlns:a16="http://schemas.microsoft.com/office/drawing/2014/main" id="{D9DE7DAB-B068-44B5-BEDD-AB4D0F1B7CE6}"/>
              </a:ext>
            </a:extLst>
          </p:cNvPr>
          <p:cNvSpPr txBox="1"/>
          <p:nvPr/>
        </p:nvSpPr>
        <p:spPr>
          <a:xfrm>
            <a:off x="-21772" y="1356293"/>
            <a:ext cx="12192000" cy="3046988"/>
          </a:xfrm>
          <a:prstGeom prst="rect">
            <a:avLst/>
          </a:prstGeom>
          <a:noFill/>
        </p:spPr>
        <p:txBody>
          <a:bodyPr wrap="square">
            <a:spAutoFit/>
          </a:bodyPr>
          <a:lstStyle/>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latin typeface="+mj-lt"/>
              </a:rPr>
              <a:t>StreamReader</a:t>
            </a:r>
            <a:r>
              <a:rPr lang="en-US" sz="2600">
                <a:latin typeface="+mj-lt"/>
              </a:rPr>
              <a:t>: StreamReader is a helper class for reading characters from a Stream by converting bytes into characters using an encoded value. It can be used to read strings (characters) from different Streams like FileStream, MemoryStream, etc</a:t>
            </a:r>
          </a:p>
          <a:p>
            <a:pPr marL="342900" indent="-342900" algn="just">
              <a:spcBef>
                <a:spcPts val="600"/>
              </a:spcBef>
              <a:spcAft>
                <a:spcPts val="600"/>
              </a:spcAft>
              <a:buClr>
                <a:srgbClr val="973735"/>
              </a:buClr>
              <a:buSzPct val="50000"/>
              <a:buFont typeface="Wingdings" pitchFamily="2" charset="2"/>
              <a:buChar char="u"/>
              <a:tabLst>
                <a:tab pos="241300" algn="l"/>
              </a:tabLst>
              <a:defRPr/>
            </a:pPr>
            <a:r>
              <a:rPr lang="en-US" sz="2600" b="1">
                <a:latin typeface="+mj-lt"/>
              </a:rPr>
              <a:t>StreamWriter</a:t>
            </a:r>
            <a:r>
              <a:rPr lang="en-US" sz="2600">
                <a:latin typeface="+mj-lt"/>
              </a:rPr>
              <a:t>: StreamWriter is a helper class for writing a string to a Stream by converting characters into bytes. It can be used to write strings to different Streams such as FileStream, MemoryStream, etc</a:t>
            </a:r>
            <a:endParaRPr lang="en-US" sz="2300"/>
          </a:p>
        </p:txBody>
      </p:sp>
      <p:pic>
        <p:nvPicPr>
          <p:cNvPr id="3" name="Picture 2">
            <a:extLst>
              <a:ext uri="{FF2B5EF4-FFF2-40B4-BE49-F238E27FC236}">
                <a16:creationId xmlns:a16="http://schemas.microsoft.com/office/drawing/2014/main" id="{A169000A-3CBD-435C-B18B-392583B09AE1}"/>
              </a:ext>
            </a:extLst>
          </p:cNvPr>
          <p:cNvPicPr>
            <a:picLocks noChangeAspect="1"/>
          </p:cNvPicPr>
          <p:nvPr/>
        </p:nvPicPr>
        <p:blipFill>
          <a:blip r:embed="rId2"/>
          <a:stretch>
            <a:fillRect/>
          </a:stretch>
        </p:blipFill>
        <p:spPr>
          <a:xfrm>
            <a:off x="1716279" y="4403281"/>
            <a:ext cx="8759442" cy="1993925"/>
          </a:xfrm>
          <a:prstGeom prst="rect">
            <a:avLst/>
          </a:prstGeom>
        </p:spPr>
      </p:pic>
    </p:spTree>
    <p:extLst>
      <p:ext uri="{BB962C8B-B14F-4D97-AF65-F5344CB8AC3E}">
        <p14:creationId xmlns:p14="http://schemas.microsoft.com/office/powerpoint/2010/main" val="420613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30</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55196" y="677266"/>
            <a:ext cx="11774970" cy="575433"/>
          </a:xfrm>
        </p:spPr>
        <p:txBody>
          <a:bodyPr>
            <a:normAutofit fontScale="90000"/>
          </a:bodyPr>
          <a:lstStyle/>
          <a:p>
            <a:r>
              <a:rPr lang="en-US" b="1"/>
              <a:t>StreamWriter and StreamReader Demonstration</a:t>
            </a:r>
            <a:endParaRPr lang="en-US" dirty="0"/>
          </a:p>
        </p:txBody>
      </p:sp>
      <p:pic>
        <p:nvPicPr>
          <p:cNvPr id="7" name="Picture 6">
            <a:extLst>
              <a:ext uri="{FF2B5EF4-FFF2-40B4-BE49-F238E27FC236}">
                <a16:creationId xmlns:a16="http://schemas.microsoft.com/office/drawing/2014/main" id="{B771EB16-0537-4510-8D9F-6C2BE0F29361}"/>
              </a:ext>
            </a:extLst>
          </p:cNvPr>
          <p:cNvPicPr>
            <a:picLocks noChangeAspect="1"/>
          </p:cNvPicPr>
          <p:nvPr/>
        </p:nvPicPr>
        <p:blipFill>
          <a:blip r:embed="rId2"/>
          <a:stretch>
            <a:fillRect/>
          </a:stretch>
        </p:blipFill>
        <p:spPr>
          <a:xfrm>
            <a:off x="-10884" y="1573362"/>
            <a:ext cx="8272841" cy="4206952"/>
          </a:xfrm>
          <a:prstGeom prst="rect">
            <a:avLst/>
          </a:prstGeom>
        </p:spPr>
      </p:pic>
      <p:pic>
        <p:nvPicPr>
          <p:cNvPr id="9" name="Picture 8">
            <a:extLst>
              <a:ext uri="{FF2B5EF4-FFF2-40B4-BE49-F238E27FC236}">
                <a16:creationId xmlns:a16="http://schemas.microsoft.com/office/drawing/2014/main" id="{34BF6BA1-E740-45AA-858C-6CE0AA891196}"/>
              </a:ext>
            </a:extLst>
          </p:cNvPr>
          <p:cNvPicPr>
            <a:picLocks noChangeAspect="1"/>
          </p:cNvPicPr>
          <p:nvPr/>
        </p:nvPicPr>
        <p:blipFill>
          <a:blip r:embed="rId3"/>
          <a:stretch>
            <a:fillRect/>
          </a:stretch>
        </p:blipFill>
        <p:spPr>
          <a:xfrm>
            <a:off x="5922954" y="4013651"/>
            <a:ext cx="6236389" cy="2435842"/>
          </a:xfrm>
          <a:prstGeom prst="rect">
            <a:avLst/>
          </a:prstGeom>
        </p:spPr>
      </p:pic>
      <p:pic>
        <p:nvPicPr>
          <p:cNvPr id="10" name="Picture 9">
            <a:extLst>
              <a:ext uri="{FF2B5EF4-FFF2-40B4-BE49-F238E27FC236}">
                <a16:creationId xmlns:a16="http://schemas.microsoft.com/office/drawing/2014/main" id="{94B1F1C8-480C-4069-827A-A22B21E83408}"/>
              </a:ext>
            </a:extLst>
          </p:cNvPr>
          <p:cNvPicPr>
            <a:picLocks noChangeAspect="1"/>
          </p:cNvPicPr>
          <p:nvPr/>
        </p:nvPicPr>
        <p:blipFill>
          <a:blip r:embed="rId4"/>
          <a:stretch>
            <a:fillRect/>
          </a:stretch>
        </p:blipFill>
        <p:spPr>
          <a:xfrm>
            <a:off x="8247736" y="1647573"/>
            <a:ext cx="3922492" cy="2001684"/>
          </a:xfrm>
          <a:prstGeom prst="rect">
            <a:avLst/>
          </a:prstGeom>
        </p:spPr>
      </p:pic>
    </p:spTree>
    <p:extLst>
      <p:ext uri="{BB962C8B-B14F-4D97-AF65-F5344CB8AC3E}">
        <p14:creationId xmlns:p14="http://schemas.microsoft.com/office/powerpoint/2010/main" val="835533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31</a:t>
            </a:fld>
            <a:endParaRPr lang="en-US" dirty="0"/>
          </a:p>
        </p:txBody>
      </p:sp>
      <p:sp>
        <p:nvSpPr>
          <p:cNvPr id="7" name="Title 1">
            <a:extLst>
              <a:ext uri="{FF2B5EF4-FFF2-40B4-BE49-F238E27FC236}">
                <a16:creationId xmlns:a16="http://schemas.microsoft.com/office/drawing/2014/main" id="{3C3707EE-9714-4039-9CB3-FCD53E10698F}"/>
              </a:ext>
            </a:extLst>
          </p:cNvPr>
          <p:cNvSpPr>
            <a:spLocks noGrp="1"/>
          </p:cNvSpPr>
          <p:nvPr>
            <p:ph type="title"/>
          </p:nvPr>
        </p:nvSpPr>
        <p:spPr>
          <a:xfrm>
            <a:off x="275516" y="687426"/>
            <a:ext cx="11404855" cy="575433"/>
          </a:xfrm>
        </p:spPr>
        <p:txBody>
          <a:bodyPr>
            <a:normAutofit fontScale="90000"/>
          </a:bodyPr>
          <a:lstStyle/>
          <a:p>
            <a:r>
              <a:rPr lang="en-US" b="1"/>
              <a:t>Working with BinaryWriter and BinaryReader</a:t>
            </a:r>
            <a:endParaRPr lang="en-US" dirty="0"/>
          </a:p>
        </p:txBody>
      </p:sp>
      <p:sp>
        <p:nvSpPr>
          <p:cNvPr id="9" name="TextBox 8">
            <a:extLst>
              <a:ext uri="{FF2B5EF4-FFF2-40B4-BE49-F238E27FC236}">
                <a16:creationId xmlns:a16="http://schemas.microsoft.com/office/drawing/2014/main" id="{7C2F8634-7E99-4A79-9C70-CA0173BE2484}"/>
              </a:ext>
            </a:extLst>
          </p:cNvPr>
          <p:cNvSpPr txBox="1"/>
          <p:nvPr/>
        </p:nvSpPr>
        <p:spPr>
          <a:xfrm>
            <a:off x="85015" y="1440908"/>
            <a:ext cx="11932814" cy="1218539"/>
          </a:xfrm>
          <a:prstGeom prst="rect">
            <a:avLst/>
          </a:prstGeom>
          <a:noFill/>
        </p:spPr>
        <p:txBody>
          <a:bodyPr wrap="square">
            <a:spAutoFit/>
          </a:bodyPr>
          <a:lstStyle/>
          <a:p>
            <a:pPr marL="342900" indent="-342900" algn="just">
              <a:lnSpc>
                <a:spcPct val="150000"/>
              </a:lnSpc>
              <a:spcBef>
                <a:spcPts val="600"/>
              </a:spcBef>
              <a:spcAft>
                <a:spcPts val="600"/>
              </a:spcAft>
              <a:buClr>
                <a:srgbClr val="973735"/>
              </a:buClr>
              <a:buSzPct val="50000"/>
              <a:buFont typeface="Wingdings" pitchFamily="2" charset="2"/>
              <a:buChar char="u"/>
              <a:tabLst>
                <a:tab pos="241300" algn="l"/>
              </a:tabLst>
              <a:defRPr/>
            </a:pPr>
            <a:r>
              <a:rPr lang="en-US" sz="2600" b="1">
                <a:latin typeface="+mj-lt"/>
              </a:rPr>
              <a:t>BinaryReader</a:t>
            </a:r>
            <a:r>
              <a:rPr lang="en-US" sz="2600">
                <a:latin typeface="+mj-lt"/>
              </a:rPr>
              <a:t> and </a:t>
            </a:r>
            <a:r>
              <a:rPr lang="en-US" sz="2600" b="1">
                <a:latin typeface="+mj-lt"/>
              </a:rPr>
              <a:t>BinaryWriter</a:t>
            </a:r>
            <a:r>
              <a:rPr lang="en-US" sz="2600">
                <a:latin typeface="+mj-lt"/>
              </a:rPr>
              <a:t> allow to read and write discrete data types to an underlying stream in a compact binary format</a:t>
            </a:r>
          </a:p>
        </p:txBody>
      </p:sp>
      <p:pic>
        <p:nvPicPr>
          <p:cNvPr id="3" name="Picture 2">
            <a:extLst>
              <a:ext uri="{FF2B5EF4-FFF2-40B4-BE49-F238E27FC236}">
                <a16:creationId xmlns:a16="http://schemas.microsoft.com/office/drawing/2014/main" id="{CB799B91-C0F4-4F68-8384-AEFDDAFF1C6D}"/>
              </a:ext>
            </a:extLst>
          </p:cNvPr>
          <p:cNvPicPr>
            <a:picLocks noChangeAspect="1"/>
          </p:cNvPicPr>
          <p:nvPr/>
        </p:nvPicPr>
        <p:blipFill>
          <a:blip r:embed="rId2"/>
          <a:stretch>
            <a:fillRect/>
          </a:stretch>
        </p:blipFill>
        <p:spPr>
          <a:xfrm>
            <a:off x="692934" y="3041837"/>
            <a:ext cx="10570017" cy="2730855"/>
          </a:xfrm>
          <a:prstGeom prst="rect">
            <a:avLst/>
          </a:prstGeom>
        </p:spPr>
      </p:pic>
    </p:spTree>
    <p:extLst>
      <p:ext uri="{BB962C8B-B14F-4D97-AF65-F5344CB8AC3E}">
        <p14:creationId xmlns:p14="http://schemas.microsoft.com/office/powerpoint/2010/main" val="764034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88D7A3-9F7E-4729-BDE8-DC2ADCC4A673}"/>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5C77A668-069B-48E2-A72C-52C022BB2737}"/>
              </a:ext>
            </a:extLst>
          </p:cNvPr>
          <p:cNvSpPr>
            <a:spLocks noGrp="1"/>
          </p:cNvSpPr>
          <p:nvPr>
            <p:ph type="sldNum" sz="quarter" idx="12"/>
          </p:nvPr>
        </p:nvSpPr>
        <p:spPr/>
        <p:txBody>
          <a:bodyPr/>
          <a:lstStyle/>
          <a:p>
            <a:fld id="{CC0149FD-98BB-4821-915B-09C9BFE4B727}" type="slidenum">
              <a:rPr lang="en-US" smtClean="0"/>
              <a:pPr/>
              <a:t>32</a:t>
            </a:fld>
            <a:endParaRPr lang="en-US" dirty="0"/>
          </a:p>
        </p:txBody>
      </p:sp>
      <p:sp>
        <p:nvSpPr>
          <p:cNvPr id="8" name="Title 1">
            <a:extLst>
              <a:ext uri="{FF2B5EF4-FFF2-40B4-BE49-F238E27FC236}">
                <a16:creationId xmlns:a16="http://schemas.microsoft.com/office/drawing/2014/main" id="{7E7ECB89-3DED-4245-BAE2-8A549E85A1D7}"/>
              </a:ext>
            </a:extLst>
          </p:cNvPr>
          <p:cNvSpPr>
            <a:spLocks noGrp="1"/>
          </p:cNvSpPr>
          <p:nvPr>
            <p:ph type="title"/>
          </p:nvPr>
        </p:nvSpPr>
        <p:spPr>
          <a:xfrm>
            <a:off x="275516" y="687426"/>
            <a:ext cx="11579411" cy="575433"/>
          </a:xfrm>
        </p:spPr>
        <p:txBody>
          <a:bodyPr>
            <a:normAutofit fontScale="90000"/>
          </a:bodyPr>
          <a:lstStyle/>
          <a:p>
            <a:r>
              <a:rPr lang="en-US" b="1"/>
              <a:t>BinaryWriter and BinaryReader Demonstration</a:t>
            </a:r>
            <a:endParaRPr lang="en-US" dirty="0"/>
          </a:p>
        </p:txBody>
      </p:sp>
      <p:pic>
        <p:nvPicPr>
          <p:cNvPr id="3" name="Picture 2">
            <a:extLst>
              <a:ext uri="{FF2B5EF4-FFF2-40B4-BE49-F238E27FC236}">
                <a16:creationId xmlns:a16="http://schemas.microsoft.com/office/drawing/2014/main" id="{02CA429F-F2E6-4037-8213-63D1E5024D7A}"/>
              </a:ext>
            </a:extLst>
          </p:cNvPr>
          <p:cNvPicPr>
            <a:picLocks noChangeAspect="1"/>
          </p:cNvPicPr>
          <p:nvPr/>
        </p:nvPicPr>
        <p:blipFill>
          <a:blip r:embed="rId2"/>
          <a:stretch>
            <a:fillRect/>
          </a:stretch>
        </p:blipFill>
        <p:spPr>
          <a:xfrm>
            <a:off x="-1" y="1346740"/>
            <a:ext cx="8326420" cy="5133960"/>
          </a:xfrm>
          <a:prstGeom prst="rect">
            <a:avLst/>
          </a:prstGeom>
        </p:spPr>
      </p:pic>
      <p:pic>
        <p:nvPicPr>
          <p:cNvPr id="7" name="Picture 6">
            <a:extLst>
              <a:ext uri="{FF2B5EF4-FFF2-40B4-BE49-F238E27FC236}">
                <a16:creationId xmlns:a16="http://schemas.microsoft.com/office/drawing/2014/main" id="{0DD298E2-A8DE-42C1-A514-46847EA238F3}"/>
              </a:ext>
            </a:extLst>
          </p:cNvPr>
          <p:cNvPicPr>
            <a:picLocks noChangeAspect="1"/>
          </p:cNvPicPr>
          <p:nvPr/>
        </p:nvPicPr>
        <p:blipFill>
          <a:blip r:embed="rId3"/>
          <a:stretch>
            <a:fillRect/>
          </a:stretch>
        </p:blipFill>
        <p:spPr>
          <a:xfrm>
            <a:off x="7166504" y="1559324"/>
            <a:ext cx="5025496" cy="2130550"/>
          </a:xfrm>
          <a:prstGeom prst="rect">
            <a:avLst/>
          </a:prstGeom>
        </p:spPr>
      </p:pic>
    </p:spTree>
    <p:extLst>
      <p:ext uri="{BB962C8B-B14F-4D97-AF65-F5344CB8AC3E}">
        <p14:creationId xmlns:p14="http://schemas.microsoft.com/office/powerpoint/2010/main" val="555466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258184" y="689375"/>
            <a:ext cx="10515600" cy="592642"/>
          </a:xfrm>
        </p:spPr>
        <p:txBody>
          <a:bodyPr>
            <a:noAutofit/>
          </a:bodyPr>
          <a:lstStyle/>
          <a:p>
            <a:r>
              <a:rPr lang="en-US" sz="4000" b="1" dirty="0"/>
              <a:t>Summary</a:t>
            </a:r>
          </a:p>
        </p:txBody>
      </p:sp>
      <p:sp>
        <p:nvSpPr>
          <p:cNvPr id="18435" name="Rectangle 3"/>
          <p:cNvSpPr>
            <a:spLocks noGrp="1"/>
          </p:cNvSpPr>
          <p:nvPr>
            <p:ph idx="1"/>
          </p:nvPr>
        </p:nvSpPr>
        <p:spPr>
          <a:xfrm>
            <a:off x="258184" y="1422401"/>
            <a:ext cx="11833411" cy="4866640"/>
          </a:xfrm>
        </p:spPr>
        <p:txBody>
          <a:bodyPr>
            <a:normAutofit lnSpcReduction="10000"/>
          </a:bodyPr>
          <a:lstStyle/>
          <a:p>
            <a:pPr marL="342900" indent="-342900">
              <a:lnSpc>
                <a:spcPct val="120000"/>
              </a:lnSpc>
              <a:buClr>
                <a:srgbClr val="973735"/>
              </a:buClr>
              <a:buSzPct val="50000"/>
              <a:buFont typeface="Wingdings" pitchFamily="2" charset="2"/>
              <a:buChar char="u"/>
              <a:defRPr/>
            </a:pPr>
            <a:r>
              <a:rPr lang="en-US" sz="3000" dirty="0"/>
              <a:t>Concepts were introduced:</a:t>
            </a:r>
          </a:p>
          <a:p>
            <a:pPr marL="514350" indent="-230188">
              <a:lnSpc>
                <a:spcPct val="120000"/>
              </a:lnSpc>
              <a:spcAft>
                <a:spcPts val="300"/>
              </a:spcAft>
              <a:buClr>
                <a:srgbClr val="973735"/>
              </a:buClr>
              <a:buSzPct val="70000"/>
              <a:buFont typeface="Wingdings" panose="05000000000000000000" pitchFamily="2" charset="2"/>
              <a:buChar char="§"/>
              <a:defRPr/>
            </a:pPr>
            <a:r>
              <a:rPr lang="en-US" sz="2300"/>
              <a:t>Overview about System.IO</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and Demo about FileStream class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File and FileInfo class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Explain about Directory and Directory Info class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about File and FileInfo class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about Directory and DirectoryInfo class</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create Text file using StreamReader and StreamWriter</a:t>
            </a:r>
          </a:p>
          <a:p>
            <a:pPr marL="514350" indent="-230188">
              <a:lnSpc>
                <a:spcPct val="110000"/>
              </a:lnSpc>
              <a:spcAft>
                <a:spcPts val="300"/>
              </a:spcAft>
              <a:buClr>
                <a:srgbClr val="973735"/>
              </a:buClr>
              <a:buSzPct val="70000"/>
              <a:buFont typeface="Wingdings" panose="05000000000000000000" pitchFamily="2" charset="2"/>
              <a:buChar char="§"/>
              <a:defRPr/>
            </a:pPr>
            <a:r>
              <a:rPr lang="en-US" sz="2300"/>
              <a:t>Demo create Binary file using BinaryWriter and BinaryReader</a:t>
            </a:r>
            <a:endParaRPr lang="en-US" sz="2300" dirty="0"/>
          </a:p>
        </p:txBody>
      </p:sp>
      <p:sp>
        <p:nvSpPr>
          <p:cNvPr id="4" name="Slide Number Placeholder 3"/>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AA67-B1BD-43EE-ACC0-7EE3211EEF8E}"/>
              </a:ext>
            </a:extLst>
          </p:cNvPr>
          <p:cNvSpPr>
            <a:spLocks noGrp="1"/>
          </p:cNvSpPr>
          <p:nvPr>
            <p:ph type="title"/>
          </p:nvPr>
        </p:nvSpPr>
        <p:spPr/>
        <p:txBody>
          <a:bodyPr>
            <a:noAutofit/>
          </a:bodyPr>
          <a:lstStyle/>
          <a:p>
            <a:r>
              <a:rPr lang="en-US" sz="3200"/>
              <a:t>Discuss - Overview about System.IO</a:t>
            </a:r>
          </a:p>
        </p:txBody>
      </p:sp>
      <p:sp>
        <p:nvSpPr>
          <p:cNvPr id="3" name="Content Placeholder 2">
            <a:extLst>
              <a:ext uri="{FF2B5EF4-FFF2-40B4-BE49-F238E27FC236}">
                <a16:creationId xmlns:a16="http://schemas.microsoft.com/office/drawing/2014/main" id="{43DF9A54-C63E-40B8-9F8E-AAD42BC6050C}"/>
              </a:ext>
            </a:extLst>
          </p:cNvPr>
          <p:cNvSpPr>
            <a:spLocks noGrp="1"/>
          </p:cNvSpPr>
          <p:nvPr>
            <p:ph idx="1"/>
          </p:nvPr>
        </p:nvSpPr>
        <p:spPr/>
        <p:txBody>
          <a:bodyPr>
            <a:normAutofit fontScale="85000" lnSpcReduction="20000"/>
          </a:bodyPr>
          <a:lstStyle/>
          <a:p>
            <a:r>
              <a:rPr lang="en-US"/>
              <a:t>What is System.IO?</a:t>
            </a:r>
          </a:p>
          <a:p>
            <a:pPr lvl="1"/>
            <a:r>
              <a:rPr lang="en-US"/>
              <a:t>Explain the overall purpose of the System.IO namespace in .NET. What kind of operations does it support?</a:t>
            </a:r>
          </a:p>
          <a:p>
            <a:r>
              <a:rPr lang="en-US"/>
              <a:t>Key Classes in System.IO</a:t>
            </a:r>
          </a:p>
          <a:p>
            <a:pPr lvl="1"/>
            <a:r>
              <a:rPr lang="en-US"/>
              <a:t>What are some of the main classes provided by System.IO? Provide a brief description of each.</a:t>
            </a:r>
          </a:p>
          <a:p>
            <a:r>
              <a:rPr lang="en-US"/>
              <a:t>Common Use Cases</a:t>
            </a:r>
          </a:p>
          <a:p>
            <a:pPr lvl="1"/>
            <a:r>
              <a:rPr lang="en-US"/>
              <a:t>What are some common use cases for System.IO in software development? Have you used System.IO in any of your projects?</a:t>
            </a:r>
          </a:p>
          <a:p>
            <a:r>
              <a:rPr lang="en-US"/>
              <a:t>Streams in System.IO</a:t>
            </a:r>
          </a:p>
          <a:p>
            <a:pPr lvl="1"/>
            <a:r>
              <a:rPr lang="en-US"/>
              <a:t>Compare and contrast the Stream and FileStream classes in System.IO. When would you use each one?</a:t>
            </a:r>
          </a:p>
          <a:p>
            <a:r>
              <a:rPr lang="en-US"/>
              <a:t>Synchronous vs. Asynchronous Operations</a:t>
            </a:r>
          </a:p>
          <a:p>
            <a:pPr lvl="1"/>
            <a:r>
              <a:rPr lang="en-US"/>
              <a:t>Discuss the differences between synchronous and asynchronous methods in System.IO. What are the benefits and drawbacks of each approach?</a:t>
            </a:r>
          </a:p>
        </p:txBody>
      </p:sp>
      <p:sp>
        <p:nvSpPr>
          <p:cNvPr id="4" name="Date Placeholder 3">
            <a:extLst>
              <a:ext uri="{FF2B5EF4-FFF2-40B4-BE49-F238E27FC236}">
                <a16:creationId xmlns:a16="http://schemas.microsoft.com/office/drawing/2014/main" id="{B440B32B-7DE0-4501-B3B9-D50B38CCE31E}"/>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1E8F5162-8B87-4102-9369-A1A48A74B18E}"/>
              </a:ext>
            </a:extLst>
          </p:cNvPr>
          <p:cNvSpPr>
            <a:spLocks noGrp="1"/>
          </p:cNvSpPr>
          <p:nvPr>
            <p:ph type="sldNum" sz="quarter" idx="12"/>
          </p:nvPr>
        </p:nvSpPr>
        <p:spPr/>
        <p:txBody>
          <a:bodyPr/>
          <a:lstStyle/>
          <a:p>
            <a:fld id="{CC0149FD-98BB-4821-915B-09C9BFE4B727}" type="slidenum">
              <a:rPr lang="en-US" smtClean="0"/>
              <a:pPr/>
              <a:t>34</a:t>
            </a:fld>
            <a:endParaRPr lang="en-US" dirty="0"/>
          </a:p>
        </p:txBody>
      </p:sp>
    </p:spTree>
    <p:extLst>
      <p:ext uri="{BB962C8B-B14F-4D97-AF65-F5344CB8AC3E}">
        <p14:creationId xmlns:p14="http://schemas.microsoft.com/office/powerpoint/2010/main" val="33944188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AA67-B1BD-43EE-ACC0-7EE3211EEF8E}"/>
              </a:ext>
            </a:extLst>
          </p:cNvPr>
          <p:cNvSpPr>
            <a:spLocks noGrp="1"/>
          </p:cNvSpPr>
          <p:nvPr>
            <p:ph type="title"/>
          </p:nvPr>
        </p:nvSpPr>
        <p:spPr>
          <a:xfrm>
            <a:off x="838200" y="654543"/>
            <a:ext cx="10515600" cy="575433"/>
          </a:xfrm>
        </p:spPr>
        <p:txBody>
          <a:bodyPr>
            <a:noAutofit/>
          </a:bodyPr>
          <a:lstStyle/>
          <a:p>
            <a:r>
              <a:rPr lang="en-US" sz="3200"/>
              <a:t>Discuss – FileStream class</a:t>
            </a:r>
          </a:p>
        </p:txBody>
      </p:sp>
      <p:sp>
        <p:nvSpPr>
          <p:cNvPr id="3" name="Content Placeholder 2">
            <a:extLst>
              <a:ext uri="{FF2B5EF4-FFF2-40B4-BE49-F238E27FC236}">
                <a16:creationId xmlns:a16="http://schemas.microsoft.com/office/drawing/2014/main" id="{43DF9A54-C63E-40B8-9F8E-AAD42BC6050C}"/>
              </a:ext>
            </a:extLst>
          </p:cNvPr>
          <p:cNvSpPr>
            <a:spLocks noGrp="1"/>
          </p:cNvSpPr>
          <p:nvPr>
            <p:ph idx="1"/>
          </p:nvPr>
        </p:nvSpPr>
        <p:spPr/>
        <p:txBody>
          <a:bodyPr>
            <a:normAutofit fontScale="85000" lnSpcReduction="20000"/>
          </a:bodyPr>
          <a:lstStyle/>
          <a:p>
            <a:r>
              <a:rPr lang="en-US"/>
              <a:t>Understanding FileStream</a:t>
            </a:r>
          </a:p>
          <a:p>
            <a:pPr lvl="1"/>
            <a:r>
              <a:rPr lang="en-US"/>
              <a:t>What is the FileStream class in C#? How does it differ from other classes in System.IO?</a:t>
            </a:r>
          </a:p>
          <a:p>
            <a:r>
              <a:rPr lang="en-US"/>
              <a:t>Reading from a File</a:t>
            </a:r>
          </a:p>
          <a:p>
            <a:pPr lvl="1"/>
            <a:r>
              <a:rPr lang="en-US"/>
              <a:t>Write a C# code snippet to read the contents of a text file using FileStream. Explain how the code works.</a:t>
            </a:r>
          </a:p>
          <a:p>
            <a:r>
              <a:rPr lang="en-US"/>
              <a:t>Writing to a File</a:t>
            </a:r>
          </a:p>
          <a:p>
            <a:pPr lvl="1"/>
            <a:r>
              <a:rPr lang="en-US"/>
              <a:t>Write a C# code snippet to write data to a binary file using FileStream. Explain how the code works.</a:t>
            </a:r>
          </a:p>
          <a:p>
            <a:r>
              <a:rPr lang="en-US"/>
              <a:t>Key Properties and Methods</a:t>
            </a:r>
          </a:p>
          <a:p>
            <a:pPr lvl="1"/>
            <a:r>
              <a:rPr lang="en-US"/>
              <a:t>Discuss the key properties and methods of FileStream such as Read, Write, Seek, and Flush.</a:t>
            </a:r>
          </a:p>
          <a:p>
            <a:r>
              <a:rPr lang="en-US"/>
              <a:t>When to Use FileStream</a:t>
            </a:r>
          </a:p>
          <a:p>
            <a:pPr lvl="1"/>
            <a:r>
              <a:rPr lang="en-US"/>
              <a:t>In what scenarios would you prefer using FileStream over other methods like File.ReadAllText or File.WriteAllText?</a:t>
            </a:r>
          </a:p>
        </p:txBody>
      </p:sp>
      <p:sp>
        <p:nvSpPr>
          <p:cNvPr id="4" name="Date Placeholder 3">
            <a:extLst>
              <a:ext uri="{FF2B5EF4-FFF2-40B4-BE49-F238E27FC236}">
                <a16:creationId xmlns:a16="http://schemas.microsoft.com/office/drawing/2014/main" id="{B440B32B-7DE0-4501-B3B9-D50B38CCE31E}"/>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1E8F5162-8B87-4102-9369-A1A48A74B18E}"/>
              </a:ext>
            </a:extLst>
          </p:cNvPr>
          <p:cNvSpPr>
            <a:spLocks noGrp="1"/>
          </p:cNvSpPr>
          <p:nvPr>
            <p:ph type="sldNum" sz="quarter" idx="12"/>
          </p:nvPr>
        </p:nvSpPr>
        <p:spPr/>
        <p:txBody>
          <a:bodyPr/>
          <a:lstStyle/>
          <a:p>
            <a:fld id="{CC0149FD-98BB-4821-915B-09C9BFE4B727}" type="slidenum">
              <a:rPr lang="en-US" smtClean="0"/>
              <a:pPr/>
              <a:t>35</a:t>
            </a:fld>
            <a:endParaRPr lang="en-US" dirty="0"/>
          </a:p>
        </p:txBody>
      </p:sp>
    </p:spTree>
    <p:extLst>
      <p:ext uri="{BB962C8B-B14F-4D97-AF65-F5344CB8AC3E}">
        <p14:creationId xmlns:p14="http://schemas.microsoft.com/office/powerpoint/2010/main" val="2317028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A98B-BD6C-4602-8BAE-EA18397EF42B}"/>
              </a:ext>
            </a:extLst>
          </p:cNvPr>
          <p:cNvSpPr>
            <a:spLocks noGrp="1"/>
          </p:cNvSpPr>
          <p:nvPr>
            <p:ph type="title"/>
          </p:nvPr>
        </p:nvSpPr>
        <p:spPr/>
        <p:txBody>
          <a:bodyPr>
            <a:noAutofit/>
          </a:bodyPr>
          <a:lstStyle/>
          <a:p>
            <a:r>
              <a:rPr lang="en-US" sz="3200"/>
              <a:t>Discuss - File and FileInfo class</a:t>
            </a:r>
          </a:p>
        </p:txBody>
      </p:sp>
      <p:sp>
        <p:nvSpPr>
          <p:cNvPr id="3" name="Content Placeholder 2">
            <a:extLst>
              <a:ext uri="{FF2B5EF4-FFF2-40B4-BE49-F238E27FC236}">
                <a16:creationId xmlns:a16="http://schemas.microsoft.com/office/drawing/2014/main" id="{FE7A5863-6162-40FC-AB3F-B42790EC5C0E}"/>
              </a:ext>
            </a:extLst>
          </p:cNvPr>
          <p:cNvSpPr>
            <a:spLocks noGrp="1"/>
          </p:cNvSpPr>
          <p:nvPr>
            <p:ph idx="1"/>
          </p:nvPr>
        </p:nvSpPr>
        <p:spPr/>
        <p:txBody>
          <a:bodyPr>
            <a:normAutofit fontScale="85000" lnSpcReduction="20000"/>
          </a:bodyPr>
          <a:lstStyle/>
          <a:p>
            <a:r>
              <a:rPr lang="en-US"/>
              <a:t>File vs. FileInfo</a:t>
            </a:r>
          </a:p>
          <a:p>
            <a:pPr lvl="1"/>
            <a:r>
              <a:rPr lang="en-US"/>
              <a:t>Explain the difference between the File and FileInfo classes in System.IO. When should you use File and when should you use FileInfo?</a:t>
            </a:r>
          </a:p>
          <a:p>
            <a:r>
              <a:rPr lang="en-US"/>
              <a:t>Using the File Class</a:t>
            </a:r>
          </a:p>
          <a:p>
            <a:pPr lvl="1"/>
            <a:r>
              <a:rPr lang="en-US"/>
              <a:t>Write a C# code snippet that uses the File class to check if a file exists and delete it if it does.</a:t>
            </a:r>
          </a:p>
          <a:p>
            <a:r>
              <a:rPr lang="en-US"/>
              <a:t>Using the FileInfo Class</a:t>
            </a:r>
          </a:p>
          <a:p>
            <a:pPr lvl="1"/>
            <a:r>
              <a:rPr lang="en-US"/>
              <a:t>Write a C# code snippet that uses the FileInfo class to create a new file and write a string to it.</a:t>
            </a:r>
          </a:p>
          <a:p>
            <a:r>
              <a:rPr lang="en-US"/>
              <a:t>Static Methods of File</a:t>
            </a:r>
          </a:p>
          <a:p>
            <a:pPr lvl="1"/>
            <a:r>
              <a:rPr lang="en-US"/>
              <a:t>Discuss the static methods of the File class such as File.Create, File.Delete, File.Copy, and File.Move. Provide examples of how to use each method.</a:t>
            </a:r>
          </a:p>
          <a:p>
            <a:r>
              <a:rPr lang="en-US"/>
              <a:t>Instance Methods of FileInfo</a:t>
            </a:r>
          </a:p>
          <a:p>
            <a:pPr lvl="1"/>
            <a:r>
              <a:rPr lang="en-US"/>
              <a:t>Discuss the instance methods of the FileInfo class such as Create, Delete, CopyTo, and MoveTo. Provide examples of how to use each method.</a:t>
            </a:r>
          </a:p>
        </p:txBody>
      </p:sp>
      <p:sp>
        <p:nvSpPr>
          <p:cNvPr id="4" name="Date Placeholder 3">
            <a:extLst>
              <a:ext uri="{FF2B5EF4-FFF2-40B4-BE49-F238E27FC236}">
                <a16:creationId xmlns:a16="http://schemas.microsoft.com/office/drawing/2014/main" id="{2213CCE1-45FD-4D0D-A3BC-7D925AF0A70B}"/>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DFF76701-E701-40CF-AA95-90C8388D69C9}"/>
              </a:ext>
            </a:extLst>
          </p:cNvPr>
          <p:cNvSpPr>
            <a:spLocks noGrp="1"/>
          </p:cNvSpPr>
          <p:nvPr>
            <p:ph type="sldNum" sz="quarter" idx="12"/>
          </p:nvPr>
        </p:nvSpPr>
        <p:spPr/>
        <p:txBody>
          <a:bodyPr/>
          <a:lstStyle/>
          <a:p>
            <a:fld id="{CC0149FD-98BB-4821-915B-09C9BFE4B727}" type="slidenum">
              <a:rPr lang="en-US" smtClean="0"/>
              <a:pPr/>
              <a:t>36</a:t>
            </a:fld>
            <a:endParaRPr lang="en-US" dirty="0"/>
          </a:p>
        </p:txBody>
      </p:sp>
    </p:spTree>
    <p:extLst>
      <p:ext uri="{BB962C8B-B14F-4D97-AF65-F5344CB8AC3E}">
        <p14:creationId xmlns:p14="http://schemas.microsoft.com/office/powerpoint/2010/main" val="78473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8A98B-BD6C-4602-8BAE-EA18397EF42B}"/>
              </a:ext>
            </a:extLst>
          </p:cNvPr>
          <p:cNvSpPr>
            <a:spLocks noGrp="1"/>
          </p:cNvSpPr>
          <p:nvPr>
            <p:ph type="title"/>
          </p:nvPr>
        </p:nvSpPr>
        <p:spPr/>
        <p:txBody>
          <a:bodyPr>
            <a:noAutofit/>
          </a:bodyPr>
          <a:lstStyle/>
          <a:p>
            <a:r>
              <a:rPr lang="en-US" sz="3200"/>
              <a:t>Discuss - Directory and DirectoryInfo class</a:t>
            </a:r>
          </a:p>
        </p:txBody>
      </p:sp>
      <p:sp>
        <p:nvSpPr>
          <p:cNvPr id="3" name="Content Placeholder 2">
            <a:extLst>
              <a:ext uri="{FF2B5EF4-FFF2-40B4-BE49-F238E27FC236}">
                <a16:creationId xmlns:a16="http://schemas.microsoft.com/office/drawing/2014/main" id="{FE7A5863-6162-40FC-AB3F-B42790EC5C0E}"/>
              </a:ext>
            </a:extLst>
          </p:cNvPr>
          <p:cNvSpPr>
            <a:spLocks noGrp="1"/>
          </p:cNvSpPr>
          <p:nvPr>
            <p:ph idx="1"/>
          </p:nvPr>
        </p:nvSpPr>
        <p:spPr/>
        <p:txBody>
          <a:bodyPr>
            <a:normAutofit fontScale="85000" lnSpcReduction="20000"/>
          </a:bodyPr>
          <a:lstStyle/>
          <a:p>
            <a:r>
              <a:rPr lang="en-US"/>
              <a:t>Directory vs. DirectoryInfo</a:t>
            </a:r>
          </a:p>
          <a:p>
            <a:pPr lvl="1"/>
            <a:r>
              <a:rPr lang="en-US"/>
              <a:t>Explain the difference between the Directory and DirectoryInfo classes in System.IO. When should you use Directory and when should you use DirectoryInfo?</a:t>
            </a:r>
          </a:p>
          <a:p>
            <a:r>
              <a:rPr lang="en-US"/>
              <a:t>Using the Directory Class</a:t>
            </a:r>
          </a:p>
          <a:p>
            <a:pPr lvl="1"/>
            <a:r>
              <a:rPr lang="en-US"/>
              <a:t>Write a C# code snippet that uses the Directory class to create a new directory and list all files within it.</a:t>
            </a:r>
          </a:p>
          <a:p>
            <a:r>
              <a:rPr lang="en-US"/>
              <a:t>Using the DirectoryInfo Class</a:t>
            </a:r>
          </a:p>
          <a:p>
            <a:pPr lvl="1"/>
            <a:r>
              <a:rPr lang="en-US"/>
              <a:t>Write a C# code snippet that uses the DirectoryInfo class to check if a directory exists and delete it if it does.</a:t>
            </a:r>
          </a:p>
          <a:p>
            <a:r>
              <a:rPr lang="en-US"/>
              <a:t>Static Methods of Directory</a:t>
            </a:r>
          </a:p>
          <a:p>
            <a:pPr lvl="1"/>
            <a:r>
              <a:rPr lang="en-US"/>
              <a:t>Discuss the static methods of the Directory class such as CreateDirectory, Delete, Exists, GetFiles, and GetDirectories. Provide examples of how to use each method.</a:t>
            </a:r>
          </a:p>
          <a:p>
            <a:r>
              <a:rPr lang="en-US"/>
              <a:t>Instance Methods of DirectoryInfo</a:t>
            </a:r>
          </a:p>
          <a:p>
            <a:pPr lvl="1"/>
            <a:r>
              <a:rPr lang="en-US"/>
              <a:t>Discuss the instance methods of the DirectoryInfo class such as Create, Delete, GetFiles, and GetDirectories. Provide examples of how to use each method.</a:t>
            </a:r>
          </a:p>
        </p:txBody>
      </p:sp>
      <p:sp>
        <p:nvSpPr>
          <p:cNvPr id="4" name="Date Placeholder 3">
            <a:extLst>
              <a:ext uri="{FF2B5EF4-FFF2-40B4-BE49-F238E27FC236}">
                <a16:creationId xmlns:a16="http://schemas.microsoft.com/office/drawing/2014/main" id="{2213CCE1-45FD-4D0D-A3BC-7D925AF0A70B}"/>
              </a:ext>
            </a:extLst>
          </p:cNvPr>
          <p:cNvSpPr>
            <a:spLocks noGrp="1"/>
          </p:cNvSpPr>
          <p:nvPr>
            <p:ph type="dt" sz="half" idx="10"/>
          </p:nvPr>
        </p:nvSpPr>
        <p:spPr/>
        <p:txBody>
          <a:bodyPr/>
          <a:lstStyle/>
          <a:p>
            <a:fld id="{5DCBE059-FAD7-45D8-8659-E6542D1E092D}" type="datetime1">
              <a:rPr lang="en-US" smtClean="0"/>
              <a:t>7/13/2024</a:t>
            </a:fld>
            <a:endParaRPr lang="en-US" dirty="0"/>
          </a:p>
        </p:txBody>
      </p:sp>
      <p:sp>
        <p:nvSpPr>
          <p:cNvPr id="5" name="Slide Number Placeholder 4">
            <a:extLst>
              <a:ext uri="{FF2B5EF4-FFF2-40B4-BE49-F238E27FC236}">
                <a16:creationId xmlns:a16="http://schemas.microsoft.com/office/drawing/2014/main" id="{DFF76701-E701-40CF-AA95-90C8388D69C9}"/>
              </a:ext>
            </a:extLst>
          </p:cNvPr>
          <p:cNvSpPr>
            <a:spLocks noGrp="1"/>
          </p:cNvSpPr>
          <p:nvPr>
            <p:ph type="sldNum" sz="quarter" idx="12"/>
          </p:nvPr>
        </p:nvSpPr>
        <p:spPr/>
        <p:txBody>
          <a:bodyPr/>
          <a:lstStyle/>
          <a:p>
            <a:fld id="{CC0149FD-98BB-4821-915B-09C9BFE4B727}" type="slidenum">
              <a:rPr lang="en-US" smtClean="0"/>
              <a:pPr/>
              <a:t>37</a:t>
            </a:fld>
            <a:endParaRPr lang="en-US" dirty="0"/>
          </a:p>
        </p:txBody>
      </p:sp>
    </p:spTree>
    <p:extLst>
      <p:ext uri="{BB962C8B-B14F-4D97-AF65-F5344CB8AC3E}">
        <p14:creationId xmlns:p14="http://schemas.microsoft.com/office/powerpoint/2010/main" val="119865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2098</TotalTime>
  <Words>2964</Words>
  <Application>Microsoft Office PowerPoint</Application>
  <PresentationFormat>Widescreen</PresentationFormat>
  <Paragraphs>413</Paragraphs>
  <Slides>37</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Wingdings</vt:lpstr>
      <vt:lpstr>Office Theme</vt:lpstr>
      <vt:lpstr>Working with Files and System.IO</vt:lpstr>
      <vt:lpstr>Objectives </vt:lpstr>
      <vt:lpstr>Understanding the Files</vt:lpstr>
      <vt:lpstr>PowerPoint Presentation</vt:lpstr>
      <vt:lpstr>Exploring the System.IO Namespace</vt:lpstr>
      <vt:lpstr>Exploring the System.IO Namespace</vt:lpstr>
      <vt:lpstr>Exploring the System.IO Namespace</vt:lpstr>
      <vt:lpstr>Working with Files and Directories</vt:lpstr>
      <vt:lpstr>Working with Files and Directories</vt:lpstr>
      <vt:lpstr>FileStream Class Demonstration</vt:lpstr>
      <vt:lpstr>FileStream Class Demonstration</vt:lpstr>
      <vt:lpstr>Working with File Class</vt:lpstr>
      <vt:lpstr>Working with File Class</vt:lpstr>
      <vt:lpstr>Working with File Class</vt:lpstr>
      <vt:lpstr>Working with File Class</vt:lpstr>
      <vt:lpstr>File Class Demonstration-01</vt:lpstr>
      <vt:lpstr>File Class Demonstration-02</vt:lpstr>
      <vt:lpstr>Working with FileInfo Class</vt:lpstr>
      <vt:lpstr>Working with FileInfo Class</vt:lpstr>
      <vt:lpstr>Working with FileInfo Class</vt:lpstr>
      <vt:lpstr>Working with FileInfo Class</vt:lpstr>
      <vt:lpstr>FileInfo Class Demonstration</vt:lpstr>
      <vt:lpstr>Working with Directory Class</vt:lpstr>
      <vt:lpstr>Working with Directory Class</vt:lpstr>
      <vt:lpstr>Directory Class Demonstration</vt:lpstr>
      <vt:lpstr>Working with DirectoryInfo Class </vt:lpstr>
      <vt:lpstr>Working with DirectoryInfo Class</vt:lpstr>
      <vt:lpstr>Working with DirectoryInfo Class Demonstration</vt:lpstr>
      <vt:lpstr>Working with StreamWriter and StreamReader</vt:lpstr>
      <vt:lpstr>StreamWriter and StreamReader Demonstration</vt:lpstr>
      <vt:lpstr>Working with BinaryWriter and BinaryReader</vt:lpstr>
      <vt:lpstr>BinaryWriter and BinaryReader Demonstration</vt:lpstr>
      <vt:lpstr>Summary</vt:lpstr>
      <vt:lpstr>Discuss - Overview about System.IO</vt:lpstr>
      <vt:lpstr>Discuss – FileStream class</vt:lpstr>
      <vt:lpstr>Discuss - File and FileInfo class</vt:lpstr>
      <vt:lpstr>Discuss - Directory and DirectoryInfo class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Quang Le Thien Nhat</cp:lastModifiedBy>
  <cp:revision>476</cp:revision>
  <dcterms:created xsi:type="dcterms:W3CDTF">2021-01-25T08:25:31Z</dcterms:created>
  <dcterms:modified xsi:type="dcterms:W3CDTF">2024-07-13T03:55:23Z</dcterms:modified>
</cp:coreProperties>
</file>