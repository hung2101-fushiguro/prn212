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78" r:id="rId3"/>
    <p:sldId id="439" r:id="rId4"/>
    <p:sldId id="471" r:id="rId5"/>
    <p:sldId id="487" r:id="rId6"/>
    <p:sldId id="492" r:id="rId7"/>
    <p:sldId id="462" r:id="rId8"/>
    <p:sldId id="500" r:id="rId9"/>
    <p:sldId id="470" r:id="rId10"/>
    <p:sldId id="472" r:id="rId11"/>
    <p:sldId id="473" r:id="rId12"/>
    <p:sldId id="478" r:id="rId13"/>
    <p:sldId id="474" r:id="rId14"/>
    <p:sldId id="501" r:id="rId15"/>
    <p:sldId id="483" r:id="rId16"/>
    <p:sldId id="502" r:id="rId17"/>
    <p:sldId id="475" r:id="rId18"/>
    <p:sldId id="476" r:id="rId19"/>
    <p:sldId id="484" r:id="rId20"/>
    <p:sldId id="440" r:id="rId21"/>
    <p:sldId id="486" r:id="rId22"/>
    <p:sldId id="489" r:id="rId23"/>
    <p:sldId id="488" r:id="rId24"/>
    <p:sldId id="494" r:id="rId25"/>
    <p:sldId id="493" r:id="rId26"/>
    <p:sldId id="485" r:id="rId27"/>
    <p:sldId id="495" r:id="rId28"/>
    <p:sldId id="496" r:id="rId29"/>
    <p:sldId id="499" r:id="rId30"/>
    <p:sldId id="497" r:id="rId31"/>
    <p:sldId id="491" r:id="rId32"/>
    <p:sldId id="482" r:id="rId33"/>
    <p:sldId id="26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87839" autoAdjust="0"/>
  </p:normalViewPr>
  <p:slideViewPr>
    <p:cSldViewPr snapToGrid="0">
      <p:cViewPr varScale="1">
        <p:scale>
          <a:sx n="96" d="100"/>
          <a:sy n="96" d="100"/>
        </p:scale>
        <p:origin x="10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5/19/2024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a:t>
            </a:fld>
            <a:endParaRPr lang="en-US"/>
          </a:p>
        </p:txBody>
      </p:sp>
    </p:spTree>
    <p:extLst>
      <p:ext uri="{BB962C8B-B14F-4D97-AF65-F5344CB8AC3E}">
        <p14:creationId xmlns:p14="http://schemas.microsoft.com/office/powerpoint/2010/main" val="2556872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a:t>
            </a:fld>
            <a:endParaRPr lang="en-US"/>
          </a:p>
        </p:txBody>
      </p:sp>
    </p:spTree>
    <p:extLst>
      <p:ext uri="{BB962C8B-B14F-4D97-AF65-F5344CB8AC3E}">
        <p14:creationId xmlns:p14="http://schemas.microsoft.com/office/powerpoint/2010/main" val="2500187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a:t>
            </a:fld>
            <a:endParaRPr lang="en-US"/>
          </a:p>
        </p:txBody>
      </p:sp>
    </p:spTree>
    <p:extLst>
      <p:ext uri="{BB962C8B-B14F-4D97-AF65-F5344CB8AC3E}">
        <p14:creationId xmlns:p14="http://schemas.microsoft.com/office/powerpoint/2010/main" val="516163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More Dynamic Method : https://docs.microsoft.com/en-us/dotnet/api/system.reflection.emit.dynamicmethod?view=net-5.0</a:t>
            </a:r>
          </a:p>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566225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3656202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2120387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1630446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3841466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2028264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4118260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42189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2891523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a:solidFill>
                  <a:srgbClr val="0D0D0D"/>
                </a:solidFill>
                <a:effectLst/>
                <a:latin typeface="Söhne"/>
              </a:rPr>
              <a:t>Điều này giúp tăng tính linh hoạt và khả năng tái sử dụng mã nguồn. Trong ngữ cảnh của các collection, điều này giúp xác định các hoạt động phổ biến mà các đối tượng trong collection có thể thực hiện.</a:t>
            </a:r>
            <a:endParaRPr lang="en-US" b="0" i="0">
              <a:solidFill>
                <a:srgbClr val="0D0D0D"/>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a:solidFill>
                  <a:srgbClr val="0D0D0D"/>
                </a:solidFill>
                <a:effectLst/>
                <a:latin typeface="Söhne"/>
              </a:rPr>
              <a:t>Sử dụng Generic Interfaces để Tránh Boxing và Unboxing</a:t>
            </a:r>
          </a:p>
          <a:p>
            <a:r>
              <a:rPr lang="vi-VN" b="0" i="0">
                <a:solidFill>
                  <a:srgbClr val="0D0D0D"/>
                </a:solidFill>
                <a:effectLst/>
                <a:latin typeface="Söhne"/>
              </a:rPr>
              <a:t>Việc sử dụng generic interfaces giúp tránh các thao tác boxing và unboxing. Chẳng hạn, sử dụng </a:t>
            </a:r>
            <a:r>
              <a:rPr lang="vi-VN"/>
              <a:t>IComparable&lt;T&gt;</a:t>
            </a:r>
            <a:r>
              <a:rPr lang="vi-VN" b="0" i="0">
                <a:solidFill>
                  <a:srgbClr val="0D0D0D"/>
                </a:solidFill>
                <a:effectLst/>
                <a:latin typeface="Söhne"/>
              </a:rPr>
              <a:t> thay vì </a:t>
            </a:r>
            <a:r>
              <a:rPr lang="vi-VN"/>
              <a:t>IComparable</a:t>
            </a:r>
            <a:r>
              <a:rPr lang="vi-VN" b="0" i="0">
                <a:solidFill>
                  <a:srgbClr val="0D0D0D"/>
                </a:solidFill>
                <a:effectLst/>
                <a:latin typeface="Söhne"/>
              </a:rPr>
              <a:t> cho phép làm việc trực tiếp với các kiểu dữ liệu nguyên thủy mà không cần chuyển đổi chúng thành đối tượng và ngược lại.</a:t>
            </a:r>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142457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782590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69455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3374834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9052582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270345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1527648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1081321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3803588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838200" y="620209"/>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5DCBE059-FAD7-45D8-8659-E6542D1E092D}" type="datetime1">
              <a:rPr lang="en-US" smtClean="0"/>
              <a:t>5/19/2024</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E1B290-3044-40C7-AA46-9B0CCEDB6684}" type="datetime1">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BA51A4-3D8F-4464-8762-2F11075995B0}" type="datetime1">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9A75F2-1863-4BCF-AC90-7D654EE5EB9B}" type="datetime1">
              <a:rPr lang="en-US" smtClean="0"/>
              <a:t>5/19/2024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B88147-667F-48AF-BB78-925C77FB1ED5}" type="datetime1">
              <a:rPr lang="en-US" smtClean="0"/>
              <a:t>5/19/2024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CF7447-14DD-4ED9-9DC3-53E53412F13F}" type="datetime1">
              <a:rPr lang="en-US" smtClean="0"/>
              <a:t>5/19/2024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989FD-A8A7-4EF7-934B-4294CDFB4341}" type="datetime1">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BA8CCC-DE58-4D83-99E0-7A1DE88915B5}" type="datetime1">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14C8F-3CFE-44B4-89F8-C659E998D398}" type="datetime1">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BAC03C-5900-4E12-A645-6AFB6C5C4596}" type="datetime1">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2FEAF-88BC-4AD8-A38B-DFC1FEA4C83E}" type="datetime1">
              <a:rPr lang="en-US" smtClean="0"/>
              <a:t>5/19/2024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pic>
        <p:nvPicPr>
          <p:cNvPr id="8" name="Picture 7">
            <a:extLst>
              <a:ext uri="{FF2B5EF4-FFF2-40B4-BE49-F238E27FC236}">
                <a16:creationId xmlns:a16="http://schemas.microsoft.com/office/drawing/2014/main" id="{D5A735D7-B92D-4CA7-A9FE-FB01AA1029B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8200" y="0"/>
            <a:ext cx="1238249" cy="681037"/>
          </a:xfrm>
          <a:prstGeom prst="rect">
            <a:avLst/>
          </a:prstGeom>
        </p:spPr>
      </p:pic>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microsoft.com/en-us/dotnet/csharp/language-reference/builtin-types/value-type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docs.microsoft.com/en-us/dotnet/csharp/language-reference/builtin-types/unmanaged-type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Collections and Generics</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359781" y="1676225"/>
            <a:ext cx="11685074" cy="4481100"/>
          </a:xfrm>
        </p:spPr>
        <p:txBody>
          <a:bodyPr>
            <a:noAutofit/>
          </a:bodyPr>
          <a:lstStyle/>
          <a:p>
            <a:pPr marL="342900" indent="-342900">
              <a:lnSpc>
                <a:spcPct val="100000"/>
              </a:lnSpc>
              <a:spcBef>
                <a:spcPts val="600"/>
              </a:spcBef>
              <a:spcAft>
                <a:spcPts val="600"/>
              </a:spcAft>
              <a:buClr>
                <a:srgbClr val="973735"/>
              </a:buClr>
              <a:buSzPct val="50000"/>
              <a:buFont typeface="Wingdings" pitchFamily="2" charset="2"/>
              <a:buChar char="u"/>
              <a:defRPr/>
            </a:pPr>
            <a:r>
              <a:rPr lang="en-US" sz="2300"/>
              <a:t>What is the Generics? Benefits of Generics</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300"/>
              <a:t>Demo Generics Classes , Generics Methods and Generics Intefaces</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300"/>
              <a:t>Explain the Constraints on Type Parameters</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300"/>
              <a:t>Explain the Default Values in Generics</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300"/>
              <a:t>Overview about Collections </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300"/>
              <a:t>Explain about collection generic : List&lt;T&gt; class, SortedSet&lt;T&gt; class, Dictionary&lt;TKey, TValue&gt;, LinkList&lt;T&gt;  class and IEnumerable&lt;T&gt; Interface </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300"/>
              <a:t>Demo using collection generic : List&lt;T&gt; class, SortedSet&lt;T&gt; class, and IEnumerable&lt;T&gt; Interface </a:t>
            </a:r>
          </a:p>
          <a:p>
            <a:pPr marL="342900" indent="-342900">
              <a:lnSpc>
                <a:spcPct val="100000"/>
              </a:lnSpc>
              <a:spcBef>
                <a:spcPts val="600"/>
              </a:spcBef>
              <a:spcAft>
                <a:spcPts val="600"/>
              </a:spcAft>
              <a:buClr>
                <a:srgbClr val="973735"/>
              </a:buClr>
              <a:buSzPct val="50000"/>
              <a:buFont typeface="Wingdings" pitchFamily="2" charset="2"/>
              <a:buChar char="u"/>
              <a:defRPr/>
            </a:pPr>
            <a:endParaRPr lang="en-US" sz="2300" dirty="0"/>
          </a:p>
        </p:txBody>
      </p:sp>
      <p:sp>
        <p:nvSpPr>
          <p:cNvPr id="7" name="Date Placeholder 3">
            <a:extLst>
              <a:ext uri="{FF2B5EF4-FFF2-40B4-BE49-F238E27FC236}">
                <a16:creationId xmlns:a16="http://schemas.microsoft.com/office/drawing/2014/main" id="{1753D172-1458-45E9-A4F8-A4845EE390FE}"/>
              </a:ext>
            </a:extLst>
          </p:cNvPr>
          <p:cNvSpPr>
            <a:spLocks noGrp="1"/>
          </p:cNvSpPr>
          <p:nvPr>
            <p:ph type="dt" sz="half" idx="10"/>
          </p:nvPr>
        </p:nvSpPr>
        <p:spPr>
          <a:xfrm>
            <a:off x="838200" y="6487317"/>
            <a:ext cx="2743200" cy="365125"/>
          </a:xfrm>
        </p:spPr>
        <p:txBody>
          <a:bodyPr/>
          <a:lstStyle>
            <a:lvl1pPr>
              <a:defRPr>
                <a:solidFill>
                  <a:schemeClr val="tx1"/>
                </a:solidFill>
              </a:defRPr>
            </a:lvl1pPr>
          </a:lstStyle>
          <a:p>
            <a:fld id="{5DCBE059-FAD7-45D8-8659-E6542D1E092D}" type="datetime1">
              <a:rPr lang="en-US" smtClean="0"/>
              <a:t>5/19/2024</a:t>
            </a:fld>
            <a:endParaRPr lang="en-US"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359781" y="700675"/>
            <a:ext cx="10806720" cy="748017"/>
          </a:xfrm>
        </p:spPr>
        <p:txBody>
          <a:bodyPr>
            <a:normAutofit/>
          </a:bodyPr>
          <a:lstStyle/>
          <a:p>
            <a:r>
              <a:rPr lang="en-US" sz="4000" b="1" dirty="0"/>
              <a:t>Objectives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Generics in C#</a:t>
            </a:r>
            <a:endParaRPr lang="en-US" sz="4400" dirty="0">
              <a:solidFill>
                <a:schemeClr val="accent2"/>
              </a:solidFill>
            </a:endParaRPr>
          </a:p>
        </p:txBody>
      </p:sp>
    </p:spTree>
    <p:extLst>
      <p:ext uri="{BB962C8B-B14F-4D97-AF65-F5344CB8AC3E}">
        <p14:creationId xmlns:p14="http://schemas.microsoft.com/office/powerpoint/2010/main" val="2553393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5/19/2024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5" y="730273"/>
            <a:ext cx="6661673" cy="575433"/>
          </a:xfrm>
        </p:spPr>
        <p:txBody>
          <a:bodyPr>
            <a:noAutofit/>
          </a:bodyPr>
          <a:lstStyle/>
          <a:p>
            <a:r>
              <a:rPr lang="en-US" sz="4000" b="1"/>
              <a:t>The Issue of Performance</a:t>
            </a:r>
            <a:endParaRPr lang="en-US" sz="4000" b="1" dirty="0"/>
          </a:p>
        </p:txBody>
      </p:sp>
      <p:sp>
        <p:nvSpPr>
          <p:cNvPr id="8" name="TextBox 7">
            <a:extLst>
              <a:ext uri="{FF2B5EF4-FFF2-40B4-BE49-F238E27FC236}">
                <a16:creationId xmlns:a16="http://schemas.microsoft.com/office/drawing/2014/main" id="{CC3DE3DA-5B6F-40DB-B8DF-A16894913EBC}"/>
              </a:ext>
            </a:extLst>
          </p:cNvPr>
          <p:cNvSpPr txBox="1"/>
          <p:nvPr/>
        </p:nvSpPr>
        <p:spPr>
          <a:xfrm>
            <a:off x="-44604" y="1494892"/>
            <a:ext cx="12236604" cy="4373248"/>
          </a:xfrm>
          <a:prstGeom prst="rect">
            <a:avLst/>
          </a:prstGeom>
          <a:noFill/>
        </p:spPr>
        <p:txBody>
          <a:bodyPr wrap="square">
            <a:spAutoFit/>
          </a:bodyPr>
          <a:lstStyle/>
          <a:p>
            <a:pPr marL="342900" marR="13335" indent="-342900" algn="just">
              <a:lnSpc>
                <a:spcPct val="150000"/>
              </a:lnSpc>
              <a:spcBef>
                <a:spcPts val="600"/>
              </a:spcBef>
              <a:spcAft>
                <a:spcPts val="600"/>
              </a:spcAft>
              <a:buClr>
                <a:srgbClr val="973735"/>
              </a:buClr>
              <a:buSzPct val="50000"/>
              <a:buFont typeface="Wingdings" pitchFamily="2" charset="2"/>
              <a:buChar char="u"/>
              <a:tabLst>
                <a:tab pos="285750" algn="l"/>
              </a:tabLst>
              <a:defRPr/>
            </a:pPr>
            <a:r>
              <a:rPr lang="en-US" sz="2600"/>
              <a:t>A primary limitation of collections is the absence of effective type checking. This means that we can put any object in a collection because all classes in the C# extend from the object base class and this compromises type safety in C# language</a:t>
            </a:r>
          </a:p>
          <a:p>
            <a:pPr marL="342900" marR="13335" indent="-342900" algn="just">
              <a:lnSpc>
                <a:spcPct val="150000"/>
              </a:lnSpc>
              <a:spcBef>
                <a:spcPts val="600"/>
              </a:spcBef>
              <a:spcAft>
                <a:spcPts val="600"/>
              </a:spcAft>
              <a:buClr>
                <a:srgbClr val="973735"/>
              </a:buClr>
              <a:buSzPct val="50000"/>
              <a:buFont typeface="Wingdings" pitchFamily="2" charset="2"/>
              <a:buChar char="u"/>
              <a:tabLst>
                <a:tab pos="285750" algn="l"/>
              </a:tabLst>
              <a:defRPr/>
            </a:pPr>
            <a:r>
              <a:rPr lang="en-US" sz="2600"/>
              <a:t>In addition, using collections involves a significant performance overhead in the form of implicit and explicit type casting (boxing and unboxing) that is required to add or retrieve objects from a collection</a:t>
            </a:r>
          </a:p>
        </p:txBody>
      </p:sp>
    </p:spTree>
    <p:extLst>
      <p:ext uri="{BB962C8B-B14F-4D97-AF65-F5344CB8AC3E}">
        <p14:creationId xmlns:p14="http://schemas.microsoft.com/office/powerpoint/2010/main" val="2569999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5/19/2024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5" y="730273"/>
            <a:ext cx="6661673" cy="575433"/>
          </a:xfrm>
        </p:spPr>
        <p:txBody>
          <a:bodyPr>
            <a:noAutofit/>
          </a:bodyPr>
          <a:lstStyle/>
          <a:p>
            <a:r>
              <a:rPr lang="en-US" sz="4000" b="1"/>
              <a:t>The Issue of Performance</a:t>
            </a:r>
            <a:endParaRPr lang="en-US" sz="4000" b="1" dirty="0"/>
          </a:p>
        </p:txBody>
      </p:sp>
      <p:pic>
        <p:nvPicPr>
          <p:cNvPr id="13" name="Picture 12">
            <a:extLst>
              <a:ext uri="{FF2B5EF4-FFF2-40B4-BE49-F238E27FC236}">
                <a16:creationId xmlns:a16="http://schemas.microsoft.com/office/drawing/2014/main" id="{2BF69399-C737-4267-8F7B-F847239B5030}"/>
              </a:ext>
            </a:extLst>
          </p:cNvPr>
          <p:cNvPicPr>
            <a:picLocks noChangeAspect="1"/>
          </p:cNvPicPr>
          <p:nvPr/>
        </p:nvPicPr>
        <p:blipFill>
          <a:blip r:embed="rId3"/>
          <a:stretch>
            <a:fillRect/>
          </a:stretch>
        </p:blipFill>
        <p:spPr>
          <a:xfrm>
            <a:off x="7415190" y="5504484"/>
            <a:ext cx="3851793" cy="886036"/>
          </a:xfrm>
          <a:prstGeom prst="rect">
            <a:avLst/>
          </a:prstGeom>
        </p:spPr>
      </p:pic>
      <p:grpSp>
        <p:nvGrpSpPr>
          <p:cNvPr id="18" name="Group 17">
            <a:extLst>
              <a:ext uri="{FF2B5EF4-FFF2-40B4-BE49-F238E27FC236}">
                <a16:creationId xmlns:a16="http://schemas.microsoft.com/office/drawing/2014/main" id="{B9393177-455A-4A2D-9617-F0AFB0BD6BAD}"/>
              </a:ext>
            </a:extLst>
          </p:cNvPr>
          <p:cNvGrpSpPr/>
          <p:nvPr/>
        </p:nvGrpSpPr>
        <p:grpSpPr>
          <a:xfrm>
            <a:off x="-7270" y="1600887"/>
            <a:ext cx="5449065" cy="2491611"/>
            <a:chOff x="0" y="1721288"/>
            <a:chExt cx="6015763" cy="2687334"/>
          </a:xfrm>
        </p:grpSpPr>
        <p:pic>
          <p:nvPicPr>
            <p:cNvPr id="5" name="Picture 4">
              <a:extLst>
                <a:ext uri="{FF2B5EF4-FFF2-40B4-BE49-F238E27FC236}">
                  <a16:creationId xmlns:a16="http://schemas.microsoft.com/office/drawing/2014/main" id="{58D66FE7-6F4B-46F7-A6BC-DA53BB2CF3DF}"/>
                </a:ext>
              </a:extLst>
            </p:cNvPr>
            <p:cNvPicPr>
              <a:picLocks noChangeAspect="1"/>
            </p:cNvPicPr>
            <p:nvPr/>
          </p:nvPicPr>
          <p:blipFill>
            <a:blip r:embed="rId4"/>
            <a:stretch>
              <a:fillRect/>
            </a:stretch>
          </p:blipFill>
          <p:spPr>
            <a:xfrm>
              <a:off x="0" y="1721288"/>
              <a:ext cx="6015763" cy="2687334"/>
            </a:xfrm>
            <a:prstGeom prst="rect">
              <a:avLst/>
            </a:prstGeom>
          </p:spPr>
        </p:pic>
        <p:sp>
          <p:nvSpPr>
            <p:cNvPr id="14" name="Rectangle 13">
              <a:extLst>
                <a:ext uri="{FF2B5EF4-FFF2-40B4-BE49-F238E27FC236}">
                  <a16:creationId xmlns:a16="http://schemas.microsoft.com/office/drawing/2014/main" id="{8E3603AD-272A-4FE0-BB93-3AB8B78F31D4}"/>
                </a:ext>
              </a:extLst>
            </p:cNvPr>
            <p:cNvSpPr/>
            <p:nvPr/>
          </p:nvSpPr>
          <p:spPr>
            <a:xfrm>
              <a:off x="462454" y="2787158"/>
              <a:ext cx="5469300" cy="27135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055F2EF-AC2A-43E7-B8FA-C48726B99CA7}"/>
                </a:ext>
              </a:extLst>
            </p:cNvPr>
            <p:cNvSpPr/>
            <p:nvPr/>
          </p:nvSpPr>
          <p:spPr>
            <a:xfrm>
              <a:off x="462454" y="3316091"/>
              <a:ext cx="4866291" cy="27135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F6276B76-464B-44C2-8F2E-F4854C7D978D}"/>
              </a:ext>
            </a:extLst>
          </p:cNvPr>
          <p:cNvGrpSpPr/>
          <p:nvPr/>
        </p:nvGrpSpPr>
        <p:grpSpPr>
          <a:xfrm>
            <a:off x="5609063" y="1600887"/>
            <a:ext cx="6553908" cy="3785152"/>
            <a:chOff x="5889714" y="1721288"/>
            <a:chExt cx="6302286" cy="3657917"/>
          </a:xfrm>
        </p:grpSpPr>
        <p:pic>
          <p:nvPicPr>
            <p:cNvPr id="11" name="Picture 10">
              <a:extLst>
                <a:ext uri="{FF2B5EF4-FFF2-40B4-BE49-F238E27FC236}">
                  <a16:creationId xmlns:a16="http://schemas.microsoft.com/office/drawing/2014/main" id="{2C511CF0-17C5-4EFD-AA36-C23A48BC2ABF}"/>
                </a:ext>
              </a:extLst>
            </p:cNvPr>
            <p:cNvPicPr>
              <a:picLocks noChangeAspect="1"/>
            </p:cNvPicPr>
            <p:nvPr/>
          </p:nvPicPr>
          <p:blipFill>
            <a:blip r:embed="rId5"/>
            <a:stretch>
              <a:fillRect/>
            </a:stretch>
          </p:blipFill>
          <p:spPr>
            <a:xfrm>
              <a:off x="5889714" y="1721288"/>
              <a:ext cx="6302286" cy="3657917"/>
            </a:xfrm>
            <a:prstGeom prst="rect">
              <a:avLst/>
            </a:prstGeom>
          </p:spPr>
        </p:pic>
        <p:sp>
          <p:nvSpPr>
            <p:cNvPr id="16" name="Rectangle 15">
              <a:extLst>
                <a:ext uri="{FF2B5EF4-FFF2-40B4-BE49-F238E27FC236}">
                  <a16:creationId xmlns:a16="http://schemas.microsoft.com/office/drawing/2014/main" id="{6A6CB4EC-4A77-4D3E-B665-F84B2CFFE66E}"/>
                </a:ext>
              </a:extLst>
            </p:cNvPr>
            <p:cNvSpPr/>
            <p:nvPr/>
          </p:nvSpPr>
          <p:spPr>
            <a:xfrm>
              <a:off x="6989376" y="3520966"/>
              <a:ext cx="3195146" cy="24173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77967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BE47F8F-B71D-4B5E-B9B4-6A52E037F2BC}"/>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71986D60-1440-4CBA-A62B-6FEE5D793EFC}"/>
              </a:ext>
            </a:extLst>
          </p:cNvPr>
          <p:cNvSpPr>
            <a:spLocks noGrp="1"/>
          </p:cNvSpPr>
          <p:nvPr>
            <p:ph type="sldNum" sz="quarter" idx="12"/>
          </p:nvPr>
        </p:nvSpPr>
        <p:spPr/>
        <p:txBody>
          <a:bodyPr/>
          <a:lstStyle/>
          <a:p>
            <a:fld id="{CC0149FD-98BB-4821-915B-09C9BFE4B727}" type="slidenum">
              <a:rPr lang="en-US" smtClean="0"/>
              <a:pPr/>
              <a:t>6</a:t>
            </a:fld>
            <a:endParaRPr lang="en-US" dirty="0"/>
          </a:p>
        </p:txBody>
      </p:sp>
      <p:sp>
        <p:nvSpPr>
          <p:cNvPr id="6" name="Title 1">
            <a:extLst>
              <a:ext uri="{FF2B5EF4-FFF2-40B4-BE49-F238E27FC236}">
                <a16:creationId xmlns:a16="http://schemas.microsoft.com/office/drawing/2014/main" id="{DBC05A43-55A3-47C2-AED9-254C1D85F67F}"/>
              </a:ext>
            </a:extLst>
          </p:cNvPr>
          <p:cNvSpPr>
            <a:spLocks noGrp="1"/>
          </p:cNvSpPr>
          <p:nvPr>
            <p:ph type="title"/>
          </p:nvPr>
        </p:nvSpPr>
        <p:spPr>
          <a:xfrm>
            <a:off x="275155" y="730273"/>
            <a:ext cx="6661673" cy="575433"/>
          </a:xfrm>
        </p:spPr>
        <p:txBody>
          <a:bodyPr>
            <a:noAutofit/>
          </a:bodyPr>
          <a:lstStyle/>
          <a:p>
            <a:r>
              <a:rPr lang="en-US" sz="4000" b="1"/>
              <a:t>The Issue of Performance</a:t>
            </a:r>
            <a:endParaRPr lang="en-US" sz="4000" b="1" dirty="0"/>
          </a:p>
        </p:txBody>
      </p:sp>
      <p:sp>
        <p:nvSpPr>
          <p:cNvPr id="8" name="TextBox 7">
            <a:extLst>
              <a:ext uri="{FF2B5EF4-FFF2-40B4-BE49-F238E27FC236}">
                <a16:creationId xmlns:a16="http://schemas.microsoft.com/office/drawing/2014/main" id="{E61CD0CC-24C3-42B0-A8C9-7D011CB97D61}"/>
              </a:ext>
            </a:extLst>
          </p:cNvPr>
          <p:cNvSpPr txBox="1"/>
          <p:nvPr/>
        </p:nvSpPr>
        <p:spPr>
          <a:xfrm>
            <a:off x="-44604" y="1421885"/>
            <a:ext cx="12192000" cy="4342471"/>
          </a:xfrm>
          <a:prstGeom prst="rect">
            <a:avLst/>
          </a:prstGeom>
          <a:noFill/>
        </p:spPr>
        <p:txBody>
          <a:bodyPr wrap="square">
            <a:spAutoFit/>
          </a:bodyPr>
          <a:lstStyle/>
          <a:p>
            <a:pPr marL="342900" marR="13335" indent="-342900" algn="just">
              <a:lnSpc>
                <a:spcPct val="150000"/>
              </a:lnSpc>
              <a:spcBef>
                <a:spcPts val="600"/>
              </a:spcBef>
              <a:spcAft>
                <a:spcPts val="600"/>
              </a:spcAft>
              <a:buClr>
                <a:srgbClr val="973735"/>
              </a:buClr>
              <a:buSzPct val="50000"/>
              <a:buFont typeface="Wingdings" pitchFamily="2" charset="2"/>
              <a:buChar char="u"/>
              <a:tabLst>
                <a:tab pos="285750" algn="l"/>
              </a:tabLst>
              <a:defRPr/>
            </a:pPr>
            <a:r>
              <a:rPr lang="en-US" sz="2800"/>
              <a:t>Problem with Boxing and UnBoxing Operations</a:t>
            </a:r>
          </a:p>
          <a:p>
            <a:pPr marL="860425" indent="-514350" algn="just">
              <a:lnSpc>
                <a:spcPct val="150000"/>
              </a:lnSpc>
              <a:buClr>
                <a:srgbClr val="C00000"/>
              </a:buClr>
              <a:buFont typeface="+mj-lt"/>
              <a:buAutoNum type="arabicParenR"/>
            </a:pPr>
            <a:r>
              <a:rPr lang="en-US" sz="2600"/>
              <a:t>A new object must be allocated on the managed heap</a:t>
            </a:r>
          </a:p>
          <a:p>
            <a:pPr marL="860425" indent="-514350" algn="just">
              <a:lnSpc>
                <a:spcPct val="150000"/>
              </a:lnSpc>
              <a:buClr>
                <a:srgbClr val="C00000"/>
              </a:buClr>
              <a:buFont typeface="+mj-lt"/>
              <a:buAutoNum type="arabicParenR"/>
            </a:pPr>
            <a:r>
              <a:rPr lang="en-US" sz="2600"/>
              <a:t>The value of the stack-based data must be transferred into that memory location</a:t>
            </a:r>
          </a:p>
          <a:p>
            <a:pPr marL="860425" indent="-514350" algn="just">
              <a:lnSpc>
                <a:spcPct val="150000"/>
              </a:lnSpc>
              <a:buClr>
                <a:srgbClr val="C00000"/>
              </a:buClr>
              <a:buFont typeface="+mj-lt"/>
              <a:buAutoNum type="arabicParenR"/>
            </a:pPr>
            <a:r>
              <a:rPr lang="en-US" sz="2600"/>
              <a:t>When unboxed, the value stored on the heap-based object must be transferred back to the stack</a:t>
            </a:r>
          </a:p>
          <a:p>
            <a:pPr marL="860425" indent="-514350" algn="just">
              <a:lnSpc>
                <a:spcPct val="150000"/>
              </a:lnSpc>
              <a:buClr>
                <a:srgbClr val="C00000"/>
              </a:buClr>
              <a:buFont typeface="+mj-lt"/>
              <a:buAutoNum type="arabicParenR"/>
            </a:pPr>
            <a:r>
              <a:rPr lang="en-US" sz="2600"/>
              <a:t>The now unused object on the heap will (eventually) be garbage collected</a:t>
            </a:r>
          </a:p>
        </p:txBody>
      </p:sp>
    </p:spTree>
    <p:extLst>
      <p:ext uri="{BB962C8B-B14F-4D97-AF65-F5344CB8AC3E}">
        <p14:creationId xmlns:p14="http://schemas.microsoft.com/office/powerpoint/2010/main" val="3852103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5/19/2024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664394"/>
            <a:ext cx="11154104" cy="575433"/>
          </a:xfrm>
        </p:spPr>
        <p:txBody>
          <a:bodyPr>
            <a:noAutofit/>
          </a:bodyPr>
          <a:lstStyle/>
          <a:p>
            <a:r>
              <a:rPr lang="en-US" sz="4000" b="1"/>
              <a:t>What is the Generics?</a:t>
            </a:r>
            <a:endParaRPr lang="en-US" sz="4000" b="1" dirty="0"/>
          </a:p>
        </p:txBody>
      </p:sp>
      <p:sp>
        <p:nvSpPr>
          <p:cNvPr id="8" name="TextBox 7">
            <a:extLst>
              <a:ext uri="{FF2B5EF4-FFF2-40B4-BE49-F238E27FC236}">
                <a16:creationId xmlns:a16="http://schemas.microsoft.com/office/drawing/2014/main" id="{CC3DE3DA-5B6F-40DB-B8DF-A16894913EBC}"/>
              </a:ext>
            </a:extLst>
          </p:cNvPr>
          <p:cNvSpPr txBox="1"/>
          <p:nvPr/>
        </p:nvSpPr>
        <p:spPr>
          <a:xfrm>
            <a:off x="-78060" y="1484625"/>
            <a:ext cx="12270059" cy="4708981"/>
          </a:xfrm>
          <a:prstGeom prst="rect">
            <a:avLst/>
          </a:prstGeom>
          <a:noFill/>
        </p:spPr>
        <p:txBody>
          <a:bodyPr wrap="square">
            <a:spAutoFit/>
          </a:bodyPr>
          <a:lstStyle/>
          <a:p>
            <a:pPr marL="342900" marR="13335" indent="-342900" algn="just">
              <a:spcBef>
                <a:spcPts val="600"/>
              </a:spcBef>
              <a:spcAft>
                <a:spcPts val="600"/>
              </a:spcAft>
              <a:buClr>
                <a:srgbClr val="973735"/>
              </a:buClr>
              <a:buSzPct val="50000"/>
              <a:buFont typeface="Wingdings" pitchFamily="2" charset="2"/>
              <a:buChar char="u"/>
              <a:tabLst>
                <a:tab pos="285750" algn="l"/>
              </a:tabLst>
              <a:defRPr/>
            </a:pPr>
            <a:r>
              <a:rPr lang="en-US" sz="2800" dirty="0"/>
              <a:t>Generics introduce the concept of </a:t>
            </a:r>
            <a:r>
              <a:rPr lang="en-US" sz="2800" dirty="0">
                <a:solidFill>
                  <a:srgbClr val="FF0000"/>
                </a:solidFill>
              </a:rPr>
              <a:t>type parameters </a:t>
            </a:r>
            <a:r>
              <a:rPr lang="en-US" sz="2800" dirty="0"/>
              <a:t>to .NET, which make it possible to design classes and methods that defer the specification of one or more types until the class or method is declared and instantiated by client code</a:t>
            </a:r>
          </a:p>
          <a:p>
            <a:pPr marL="342900" marR="13335" indent="-342900" algn="just">
              <a:spcBef>
                <a:spcPts val="600"/>
              </a:spcBef>
              <a:spcAft>
                <a:spcPts val="600"/>
              </a:spcAft>
              <a:buClr>
                <a:srgbClr val="973735"/>
              </a:buClr>
              <a:buSzPct val="50000"/>
              <a:buFont typeface="Wingdings" pitchFamily="2" charset="2"/>
              <a:buChar char="u"/>
              <a:tabLst>
                <a:tab pos="285750" algn="l"/>
              </a:tabLst>
              <a:defRPr/>
            </a:pPr>
            <a:r>
              <a:rPr lang="en-US" sz="2800" dirty="0"/>
              <a:t>Generic allows type (Integer, String, </a:t>
            </a:r>
            <a:r>
              <a:rPr lang="en-US" sz="2800" dirty="0" err="1"/>
              <a:t>etc</a:t>
            </a:r>
            <a:r>
              <a:rPr lang="en-US" sz="2800" dirty="0"/>
              <a:t> and user-defined types) to be a parameter to methods, classes, and interfaces</a:t>
            </a:r>
          </a:p>
          <a:p>
            <a:pPr marL="342900" marR="13335" indent="-342900" algn="just">
              <a:spcBef>
                <a:spcPts val="600"/>
              </a:spcBef>
              <a:spcAft>
                <a:spcPts val="600"/>
              </a:spcAft>
              <a:buClr>
                <a:srgbClr val="973735"/>
              </a:buClr>
              <a:buSzPct val="50000"/>
              <a:buFont typeface="Wingdings" pitchFamily="2" charset="2"/>
              <a:buChar char="u"/>
              <a:tabLst>
                <a:tab pos="285750" algn="l"/>
              </a:tabLst>
              <a:defRPr/>
            </a:pPr>
            <a:r>
              <a:rPr lang="en-US" sz="2800" dirty="0"/>
              <a:t>Generics are commonly used to create type-safe collections for both reference and value types. The .NET provides an extensive set of interfaces and classes in the </a:t>
            </a:r>
            <a:r>
              <a:rPr lang="en-US" sz="2800" dirty="0" err="1"/>
              <a:t>System.Collections.Generic</a:t>
            </a:r>
            <a:r>
              <a:rPr lang="en-US" sz="2800" dirty="0"/>
              <a:t> namespace for implementing generic collections</a:t>
            </a:r>
          </a:p>
        </p:txBody>
      </p:sp>
    </p:spTree>
    <p:extLst>
      <p:ext uri="{BB962C8B-B14F-4D97-AF65-F5344CB8AC3E}">
        <p14:creationId xmlns:p14="http://schemas.microsoft.com/office/powerpoint/2010/main" val="1170922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98293-873B-450C-8B77-3CF484A618C2}"/>
              </a:ext>
            </a:extLst>
          </p:cNvPr>
          <p:cNvSpPr>
            <a:spLocks noGrp="1"/>
          </p:cNvSpPr>
          <p:nvPr>
            <p:ph type="title"/>
          </p:nvPr>
        </p:nvSpPr>
        <p:spPr>
          <a:xfrm>
            <a:off x="270643" y="730987"/>
            <a:ext cx="8043040" cy="498723"/>
          </a:xfrm>
        </p:spPr>
        <p:txBody>
          <a:bodyPr>
            <a:noAutofit/>
          </a:bodyPr>
          <a:lstStyle/>
          <a:p>
            <a:pPr>
              <a:lnSpc>
                <a:spcPct val="80000"/>
              </a:lnSpc>
            </a:pPr>
            <a:r>
              <a:rPr lang="en-US" sz="4000" b="1"/>
              <a:t>Benefits of Generics</a:t>
            </a:r>
            <a:endParaRPr lang="en-US" sz="4000" b="1" dirty="0"/>
          </a:p>
        </p:txBody>
      </p:sp>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8</a:t>
            </a:fld>
            <a:endParaRPr lang="en-US" dirty="0"/>
          </a:p>
        </p:txBody>
      </p:sp>
      <p:sp>
        <p:nvSpPr>
          <p:cNvPr id="9" name="object 3">
            <a:extLst>
              <a:ext uri="{FF2B5EF4-FFF2-40B4-BE49-F238E27FC236}">
                <a16:creationId xmlns:a16="http://schemas.microsoft.com/office/drawing/2014/main" id="{4A592FAE-E698-4822-A27E-22BD49321AF8}"/>
              </a:ext>
            </a:extLst>
          </p:cNvPr>
          <p:cNvSpPr txBox="1"/>
          <p:nvPr/>
        </p:nvSpPr>
        <p:spPr>
          <a:xfrm>
            <a:off x="45886" y="1464070"/>
            <a:ext cx="12108942" cy="4998804"/>
          </a:xfrm>
          <a:prstGeom prst="rect">
            <a:avLst/>
          </a:prstGeom>
        </p:spPr>
        <p:txBody>
          <a:bodyPr vert="horz" wrap="square" lIns="0" tIns="12700" rIns="0" bIns="0" rtlCol="0">
            <a:spAutoFit/>
          </a:bodyPr>
          <a:lstStyle/>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Ensure type-safety at compile-time (ensure strongly-typed programming model)</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Allow to reuse the code in a safe manner without casting or boxing:</a:t>
            </a:r>
          </a:p>
          <a:p>
            <a:pPr marL="800100" marR="13335" lvl="1" indent="-342900" algn="just">
              <a:spcBef>
                <a:spcPts val="300"/>
              </a:spcBef>
              <a:spcAft>
                <a:spcPts val="300"/>
              </a:spcAft>
              <a:buClr>
                <a:srgbClr val="C00000"/>
              </a:buClr>
              <a:buSzPct val="70000"/>
              <a:buFont typeface="Wingdings" panose="05000000000000000000" pitchFamily="2" charset="2"/>
              <a:buChar char="§"/>
              <a:tabLst>
                <a:tab pos="652780" algn="l"/>
                <a:tab pos="653415" algn="l"/>
              </a:tabLst>
              <a:defRPr/>
            </a:pPr>
            <a:r>
              <a:rPr lang="en-US" sz="2300" dirty="0"/>
              <a:t>Reduce run-time errors</a:t>
            </a:r>
          </a:p>
          <a:p>
            <a:pPr marL="800100" marR="13335" lvl="1" indent="-342900" algn="just">
              <a:spcBef>
                <a:spcPts val="300"/>
              </a:spcBef>
              <a:spcAft>
                <a:spcPts val="300"/>
              </a:spcAft>
              <a:buClr>
                <a:srgbClr val="C00000"/>
              </a:buClr>
              <a:buSzPct val="70000"/>
              <a:buFont typeface="Wingdings" panose="05000000000000000000" pitchFamily="2" charset="2"/>
              <a:buChar char="§"/>
              <a:tabLst>
                <a:tab pos="652780" algn="l"/>
                <a:tab pos="653415" algn="l"/>
              </a:tabLst>
              <a:defRPr/>
            </a:pPr>
            <a:r>
              <a:rPr lang="en-US" sz="2300" dirty="0"/>
              <a:t>Improve performance because of low memory usage as no casting or boxing operation is required</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Can be reusable with different types but can accept values of a single type at a time</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Generic </a:t>
            </a:r>
            <a:r>
              <a:rPr lang="en-US" sz="2600" dirty="0">
                <a:solidFill>
                  <a:srgbClr val="FF0000"/>
                </a:solidFill>
              </a:rPr>
              <a:t>delegates</a:t>
            </a:r>
            <a:r>
              <a:rPr lang="en-US" sz="2600" dirty="0"/>
              <a:t> enable type-safe callbacks without the need to create multiple delegate classes</a:t>
            </a:r>
          </a:p>
          <a:p>
            <a:pPr marL="800100" marR="13335" lvl="1" indent="-342900" algn="just">
              <a:spcBef>
                <a:spcPts val="300"/>
              </a:spcBef>
              <a:spcAft>
                <a:spcPts val="300"/>
              </a:spcAft>
              <a:buClr>
                <a:srgbClr val="C00000"/>
              </a:buClr>
              <a:buSzPct val="70000"/>
              <a:buFont typeface="Wingdings" panose="05000000000000000000" pitchFamily="2" charset="2"/>
              <a:buChar char="§"/>
              <a:tabLst>
                <a:tab pos="652780" algn="l"/>
                <a:tab pos="653415" algn="l"/>
              </a:tabLst>
              <a:defRPr/>
            </a:pPr>
            <a:r>
              <a:rPr lang="en-US" sz="2300" dirty="0"/>
              <a:t>The Predicate&lt;T&gt; generic delegate allows us to create a method that implements our search criteria for a particular type and to use our method with methods of the Array type such as Find, </a:t>
            </a:r>
            <a:r>
              <a:rPr lang="en-US" sz="2300" dirty="0" err="1"/>
              <a:t>FindLast</a:t>
            </a:r>
            <a:r>
              <a:rPr lang="en-US" sz="2300" dirty="0"/>
              <a:t>, and </a:t>
            </a:r>
            <a:r>
              <a:rPr lang="en-US" sz="2300" dirty="0" err="1"/>
              <a:t>FindAll</a:t>
            </a:r>
            <a:endParaRPr sz="2300" dirty="0"/>
          </a:p>
        </p:txBody>
      </p:sp>
    </p:spTree>
    <p:extLst>
      <p:ext uri="{BB962C8B-B14F-4D97-AF65-F5344CB8AC3E}">
        <p14:creationId xmlns:p14="http://schemas.microsoft.com/office/powerpoint/2010/main" val="2120889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9</a:t>
            </a:fld>
            <a:endParaRPr lang="en-US" dirty="0"/>
          </a:p>
        </p:txBody>
      </p:sp>
      <p:sp>
        <p:nvSpPr>
          <p:cNvPr id="9" name="object 3">
            <a:extLst>
              <a:ext uri="{FF2B5EF4-FFF2-40B4-BE49-F238E27FC236}">
                <a16:creationId xmlns:a16="http://schemas.microsoft.com/office/drawing/2014/main" id="{4A592FAE-E698-4822-A27E-22BD49321AF8}"/>
              </a:ext>
            </a:extLst>
          </p:cNvPr>
          <p:cNvSpPr txBox="1"/>
          <p:nvPr/>
        </p:nvSpPr>
        <p:spPr>
          <a:xfrm>
            <a:off x="31530" y="1543033"/>
            <a:ext cx="12107917" cy="4624343"/>
          </a:xfrm>
          <a:prstGeom prst="rect">
            <a:avLst/>
          </a:prstGeom>
        </p:spPr>
        <p:txBody>
          <a:bodyPr vert="horz" wrap="square" lIns="0" tIns="12700" rIns="0" bIns="0" rtlCol="0">
            <a:spAutoFit/>
          </a:bodyPr>
          <a:lstStyle/>
          <a:p>
            <a:pPr marL="342900" marR="13335" indent="-342900" algn="just">
              <a:spcBef>
                <a:spcPts val="1000"/>
              </a:spcBef>
              <a:buClr>
                <a:srgbClr val="973735"/>
              </a:buClr>
              <a:buSzPct val="50000"/>
              <a:buFont typeface="Wingdings" pitchFamily="2" charset="2"/>
              <a:buChar char="u"/>
              <a:tabLst>
                <a:tab pos="285750" algn="l"/>
              </a:tabLst>
              <a:defRPr/>
            </a:pPr>
            <a:r>
              <a:rPr lang="en-US" sz="2600"/>
              <a:t>Generic classes encapsulate operations that are not specific to a particular data type</a:t>
            </a:r>
          </a:p>
          <a:p>
            <a:pPr marL="342900" marR="13335" indent="-342900" algn="just">
              <a:spcBef>
                <a:spcPts val="1000"/>
              </a:spcBef>
              <a:buClr>
                <a:srgbClr val="973735"/>
              </a:buClr>
              <a:buSzPct val="50000"/>
              <a:buFont typeface="Wingdings" pitchFamily="2" charset="2"/>
              <a:buChar char="u"/>
              <a:tabLst>
                <a:tab pos="285750" algn="l"/>
              </a:tabLst>
              <a:defRPr/>
            </a:pPr>
            <a:r>
              <a:rPr lang="en-US" sz="2600"/>
              <a:t>The most common use for generic classes is with collections like linked lists, hash tables, stacks, queues, trees, and so on</a:t>
            </a:r>
          </a:p>
          <a:p>
            <a:pPr marL="342900" marR="13335" indent="-342900" algn="just">
              <a:spcBef>
                <a:spcPts val="1000"/>
              </a:spcBef>
              <a:buClr>
                <a:srgbClr val="973735"/>
              </a:buClr>
              <a:buSzPct val="50000"/>
              <a:buFont typeface="Wingdings" pitchFamily="2" charset="2"/>
              <a:buChar char="u"/>
              <a:tabLst>
                <a:tab pos="285750" algn="l"/>
              </a:tabLst>
              <a:defRPr/>
            </a:pPr>
            <a:r>
              <a:rPr lang="en-US" sz="2600"/>
              <a:t>When creating our generic classes, important considerations include the following:</a:t>
            </a:r>
          </a:p>
          <a:p>
            <a:pPr marL="800100" marR="13335" lvl="1" indent="-342900" algn="just">
              <a:spcBef>
                <a:spcPts val="600"/>
              </a:spcBef>
              <a:spcAft>
                <a:spcPts val="600"/>
              </a:spcAft>
              <a:buClr>
                <a:srgbClr val="C00000"/>
              </a:buClr>
              <a:buSzPct val="70000"/>
              <a:buFont typeface="Wingdings" panose="05000000000000000000" pitchFamily="2" charset="2"/>
              <a:buChar char="§"/>
              <a:tabLst>
                <a:tab pos="652780" algn="l"/>
                <a:tab pos="653415" algn="l"/>
              </a:tabLst>
              <a:defRPr/>
            </a:pPr>
            <a:r>
              <a:rPr lang="en-US" sz="2300"/>
              <a:t>Which types to generalize into type parameters</a:t>
            </a:r>
          </a:p>
          <a:p>
            <a:pPr marL="800100" marR="13335" lvl="1" indent="-342900" algn="just">
              <a:spcBef>
                <a:spcPts val="600"/>
              </a:spcBef>
              <a:spcAft>
                <a:spcPts val="600"/>
              </a:spcAft>
              <a:buClr>
                <a:srgbClr val="C00000"/>
              </a:buClr>
              <a:buSzPct val="70000"/>
              <a:buFont typeface="Wingdings" panose="05000000000000000000" pitchFamily="2" charset="2"/>
              <a:buChar char="§"/>
              <a:tabLst>
                <a:tab pos="652780" algn="l"/>
                <a:tab pos="653415" algn="l"/>
              </a:tabLst>
              <a:defRPr/>
            </a:pPr>
            <a:r>
              <a:rPr lang="en-US" sz="2300"/>
              <a:t>What constraints, if any, to apply to the type parameters</a:t>
            </a:r>
          </a:p>
          <a:p>
            <a:pPr marL="800100" marR="13335" lvl="1" indent="-342900" algn="just">
              <a:spcBef>
                <a:spcPts val="600"/>
              </a:spcBef>
              <a:spcAft>
                <a:spcPts val="600"/>
              </a:spcAft>
              <a:buClr>
                <a:srgbClr val="C00000"/>
              </a:buClr>
              <a:buSzPct val="70000"/>
              <a:buFont typeface="Wingdings" panose="05000000000000000000" pitchFamily="2" charset="2"/>
              <a:buChar char="§"/>
              <a:tabLst>
                <a:tab pos="652780" algn="l"/>
                <a:tab pos="653415" algn="l"/>
              </a:tabLst>
              <a:defRPr/>
            </a:pPr>
            <a:r>
              <a:rPr lang="en-US" sz="2300"/>
              <a:t>Whether to factor generic behavior into base classes and subclasses</a:t>
            </a:r>
          </a:p>
          <a:p>
            <a:pPr marL="800100" marR="13335" lvl="1" indent="-342900" algn="just">
              <a:spcBef>
                <a:spcPts val="600"/>
              </a:spcBef>
              <a:spcAft>
                <a:spcPts val="600"/>
              </a:spcAft>
              <a:buClr>
                <a:srgbClr val="C00000"/>
              </a:buClr>
              <a:buSzPct val="70000"/>
              <a:buFont typeface="Wingdings" panose="05000000000000000000" pitchFamily="2" charset="2"/>
              <a:buChar char="§"/>
              <a:tabLst>
                <a:tab pos="652780" algn="l"/>
                <a:tab pos="653415" algn="l"/>
              </a:tabLst>
              <a:defRPr/>
            </a:pPr>
            <a:r>
              <a:rPr lang="en-US" sz="2300"/>
              <a:t>Whether to implement one or more generic interfaces</a:t>
            </a:r>
            <a:endParaRPr sz="2300"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8043040" cy="498723"/>
          </a:xfrm>
        </p:spPr>
        <p:txBody>
          <a:bodyPr>
            <a:noAutofit/>
          </a:bodyPr>
          <a:lstStyle/>
          <a:p>
            <a:pPr>
              <a:lnSpc>
                <a:spcPct val="80000"/>
              </a:lnSpc>
            </a:pPr>
            <a:r>
              <a:rPr lang="en-US" sz="4000" b="1" dirty="0"/>
              <a:t>Generic Classes</a:t>
            </a:r>
          </a:p>
        </p:txBody>
      </p:sp>
    </p:spTree>
    <p:extLst>
      <p:ext uri="{BB962C8B-B14F-4D97-AF65-F5344CB8AC3E}">
        <p14:creationId xmlns:p14="http://schemas.microsoft.com/office/powerpoint/2010/main" val="4179032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10</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8043040" cy="498723"/>
          </a:xfrm>
        </p:spPr>
        <p:txBody>
          <a:bodyPr>
            <a:noAutofit/>
          </a:bodyPr>
          <a:lstStyle/>
          <a:p>
            <a:pPr>
              <a:lnSpc>
                <a:spcPct val="80000"/>
              </a:lnSpc>
            </a:pPr>
            <a:r>
              <a:rPr lang="en-US" sz="4000" b="1"/>
              <a:t>Generic Classes</a:t>
            </a:r>
            <a:endParaRPr lang="en-US" sz="4000" b="1" dirty="0"/>
          </a:p>
        </p:txBody>
      </p:sp>
      <p:pic>
        <p:nvPicPr>
          <p:cNvPr id="7" name="Picture 6">
            <a:extLst>
              <a:ext uri="{FF2B5EF4-FFF2-40B4-BE49-F238E27FC236}">
                <a16:creationId xmlns:a16="http://schemas.microsoft.com/office/drawing/2014/main" id="{3E24C229-CB13-4D8F-B32D-A5693F905756}"/>
              </a:ext>
            </a:extLst>
          </p:cNvPr>
          <p:cNvPicPr>
            <a:picLocks noChangeAspect="1"/>
          </p:cNvPicPr>
          <p:nvPr/>
        </p:nvPicPr>
        <p:blipFill>
          <a:blip r:embed="rId3"/>
          <a:stretch>
            <a:fillRect/>
          </a:stretch>
        </p:blipFill>
        <p:spPr>
          <a:xfrm>
            <a:off x="31531" y="1568133"/>
            <a:ext cx="5349160" cy="1944501"/>
          </a:xfrm>
          <a:prstGeom prst="rect">
            <a:avLst/>
          </a:prstGeom>
          <a:ln>
            <a:noFill/>
          </a:ln>
        </p:spPr>
      </p:pic>
      <p:pic>
        <p:nvPicPr>
          <p:cNvPr id="11" name="Picture 10">
            <a:extLst>
              <a:ext uri="{FF2B5EF4-FFF2-40B4-BE49-F238E27FC236}">
                <a16:creationId xmlns:a16="http://schemas.microsoft.com/office/drawing/2014/main" id="{714FE569-0C0A-480C-B140-0DFC89A8EF99}"/>
              </a:ext>
            </a:extLst>
          </p:cNvPr>
          <p:cNvPicPr>
            <a:picLocks noChangeAspect="1"/>
          </p:cNvPicPr>
          <p:nvPr/>
        </p:nvPicPr>
        <p:blipFill>
          <a:blip r:embed="rId4"/>
          <a:stretch>
            <a:fillRect/>
          </a:stretch>
        </p:blipFill>
        <p:spPr>
          <a:xfrm>
            <a:off x="5450627" y="1784193"/>
            <a:ext cx="6709842" cy="3372713"/>
          </a:xfrm>
          <a:prstGeom prst="rect">
            <a:avLst/>
          </a:prstGeom>
          <a:ln>
            <a:noFill/>
          </a:ln>
        </p:spPr>
      </p:pic>
      <p:pic>
        <p:nvPicPr>
          <p:cNvPr id="13" name="Picture 12">
            <a:extLst>
              <a:ext uri="{FF2B5EF4-FFF2-40B4-BE49-F238E27FC236}">
                <a16:creationId xmlns:a16="http://schemas.microsoft.com/office/drawing/2014/main" id="{0FE9DD20-724E-430E-ACA0-C58E9A508D28}"/>
              </a:ext>
            </a:extLst>
          </p:cNvPr>
          <p:cNvPicPr>
            <a:picLocks noChangeAspect="1"/>
          </p:cNvPicPr>
          <p:nvPr/>
        </p:nvPicPr>
        <p:blipFill>
          <a:blip r:embed="rId5"/>
          <a:stretch>
            <a:fillRect/>
          </a:stretch>
        </p:blipFill>
        <p:spPr>
          <a:xfrm>
            <a:off x="7551706" y="5217508"/>
            <a:ext cx="3545008" cy="1113382"/>
          </a:xfrm>
          <a:prstGeom prst="rect">
            <a:avLst/>
          </a:prstGeom>
        </p:spPr>
      </p:pic>
    </p:spTree>
    <p:extLst>
      <p:ext uri="{BB962C8B-B14F-4D97-AF65-F5344CB8AC3E}">
        <p14:creationId xmlns:p14="http://schemas.microsoft.com/office/powerpoint/2010/main" val="430810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11</a:t>
            </a:fld>
            <a:endParaRPr lang="en-US" dirty="0"/>
          </a:p>
        </p:txBody>
      </p:sp>
      <p:sp>
        <p:nvSpPr>
          <p:cNvPr id="9" name="object 3">
            <a:extLst>
              <a:ext uri="{FF2B5EF4-FFF2-40B4-BE49-F238E27FC236}">
                <a16:creationId xmlns:a16="http://schemas.microsoft.com/office/drawing/2014/main" id="{4A592FAE-E698-4822-A27E-22BD49321AF8}"/>
              </a:ext>
            </a:extLst>
          </p:cNvPr>
          <p:cNvSpPr txBox="1"/>
          <p:nvPr/>
        </p:nvSpPr>
        <p:spPr>
          <a:xfrm>
            <a:off x="52550" y="1242642"/>
            <a:ext cx="11979616" cy="538865"/>
          </a:xfrm>
          <a:prstGeom prst="rect">
            <a:avLst/>
          </a:prstGeom>
        </p:spPr>
        <p:txBody>
          <a:bodyPr vert="horz" wrap="square" lIns="0" tIns="12700" rIns="0" bIns="0" rtlCol="0">
            <a:spAutoFit/>
          </a:bodyPr>
          <a:lstStyle/>
          <a:p>
            <a:pPr marL="342900" marR="13335" indent="-342900" algn="just">
              <a:lnSpc>
                <a:spcPct val="150000"/>
              </a:lnSpc>
              <a:spcBef>
                <a:spcPts val="1000"/>
              </a:spcBef>
              <a:buClr>
                <a:srgbClr val="973735"/>
              </a:buClr>
              <a:buSzPct val="50000"/>
              <a:buFont typeface="Wingdings" pitchFamily="2" charset="2"/>
              <a:buChar char="u"/>
              <a:tabLst>
                <a:tab pos="285750" algn="l"/>
              </a:tabLst>
              <a:defRPr/>
            </a:pPr>
            <a:r>
              <a:rPr lang="en-US" sz="2600"/>
              <a:t>With a generic method, the generic type is defined with the method declaration</a:t>
            </a:r>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8043040" cy="498723"/>
          </a:xfrm>
        </p:spPr>
        <p:txBody>
          <a:bodyPr>
            <a:noAutofit/>
          </a:bodyPr>
          <a:lstStyle/>
          <a:p>
            <a:pPr>
              <a:lnSpc>
                <a:spcPct val="80000"/>
              </a:lnSpc>
            </a:pPr>
            <a:r>
              <a:rPr lang="en-US" sz="4000" b="1"/>
              <a:t>Generic Methods </a:t>
            </a:r>
            <a:endParaRPr lang="en-US" sz="4000" b="1" dirty="0"/>
          </a:p>
        </p:txBody>
      </p:sp>
      <p:pic>
        <p:nvPicPr>
          <p:cNvPr id="3" name="Picture 2">
            <a:extLst>
              <a:ext uri="{FF2B5EF4-FFF2-40B4-BE49-F238E27FC236}">
                <a16:creationId xmlns:a16="http://schemas.microsoft.com/office/drawing/2014/main" id="{572A1FE4-9F69-4A40-A248-F6CF07BA682D}"/>
              </a:ext>
            </a:extLst>
          </p:cNvPr>
          <p:cNvPicPr>
            <a:picLocks noChangeAspect="1"/>
          </p:cNvPicPr>
          <p:nvPr/>
        </p:nvPicPr>
        <p:blipFill>
          <a:blip r:embed="rId3"/>
          <a:stretch>
            <a:fillRect/>
          </a:stretch>
        </p:blipFill>
        <p:spPr>
          <a:xfrm>
            <a:off x="1674541" y="2245455"/>
            <a:ext cx="5395333" cy="4171733"/>
          </a:xfrm>
          <a:prstGeom prst="rect">
            <a:avLst/>
          </a:prstGeom>
        </p:spPr>
      </p:pic>
      <p:pic>
        <p:nvPicPr>
          <p:cNvPr id="11" name="Picture 10">
            <a:extLst>
              <a:ext uri="{FF2B5EF4-FFF2-40B4-BE49-F238E27FC236}">
                <a16:creationId xmlns:a16="http://schemas.microsoft.com/office/drawing/2014/main" id="{EB3691F5-1B50-4446-825C-9784B10DC4D2}"/>
              </a:ext>
            </a:extLst>
          </p:cNvPr>
          <p:cNvPicPr>
            <a:picLocks noChangeAspect="1"/>
          </p:cNvPicPr>
          <p:nvPr/>
        </p:nvPicPr>
        <p:blipFill>
          <a:blip r:embed="rId4"/>
          <a:stretch>
            <a:fillRect/>
          </a:stretch>
        </p:blipFill>
        <p:spPr>
          <a:xfrm>
            <a:off x="7983024" y="3707532"/>
            <a:ext cx="2894382" cy="1247579"/>
          </a:xfrm>
          <a:prstGeom prst="rect">
            <a:avLst/>
          </a:prstGeom>
        </p:spPr>
      </p:pic>
      <p:sp>
        <p:nvSpPr>
          <p:cNvPr id="8" name="object 3">
            <a:extLst>
              <a:ext uri="{FF2B5EF4-FFF2-40B4-BE49-F238E27FC236}">
                <a16:creationId xmlns:a16="http://schemas.microsoft.com/office/drawing/2014/main" id="{F62579DA-E402-4D01-8FC8-A3D12A22E914}"/>
              </a:ext>
            </a:extLst>
          </p:cNvPr>
          <p:cNvSpPr txBox="1"/>
          <p:nvPr/>
        </p:nvSpPr>
        <p:spPr>
          <a:xfrm>
            <a:off x="52550" y="1706590"/>
            <a:ext cx="11622777" cy="538865"/>
          </a:xfrm>
          <a:prstGeom prst="rect">
            <a:avLst/>
          </a:prstGeom>
        </p:spPr>
        <p:txBody>
          <a:bodyPr vert="horz" wrap="square" lIns="0" tIns="12700" rIns="0" bIns="0" rtlCol="0">
            <a:spAutoFit/>
          </a:bodyPr>
          <a:lstStyle/>
          <a:p>
            <a:pPr marL="342900" marR="13335" indent="-342900" algn="just">
              <a:lnSpc>
                <a:spcPct val="150000"/>
              </a:lnSpc>
              <a:spcBef>
                <a:spcPts val="1000"/>
              </a:spcBef>
              <a:buClr>
                <a:srgbClr val="973735"/>
              </a:buClr>
              <a:buSzPct val="50000"/>
              <a:buFont typeface="Wingdings" pitchFamily="2" charset="2"/>
              <a:buChar char="u"/>
              <a:tabLst>
                <a:tab pos="285750" algn="l"/>
              </a:tabLst>
              <a:defRPr/>
            </a:pPr>
            <a:r>
              <a:rPr lang="en-US" sz="2600"/>
              <a:t>Generic methods can be defined within non-generic classes</a:t>
            </a:r>
            <a:endParaRPr sz="2600" dirty="0"/>
          </a:p>
        </p:txBody>
      </p:sp>
    </p:spTree>
    <p:extLst>
      <p:ext uri="{BB962C8B-B14F-4D97-AF65-F5344CB8AC3E}">
        <p14:creationId xmlns:p14="http://schemas.microsoft.com/office/powerpoint/2010/main" val="4252458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12</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2" y="730987"/>
            <a:ext cx="8415417" cy="498723"/>
          </a:xfrm>
        </p:spPr>
        <p:txBody>
          <a:bodyPr>
            <a:noAutofit/>
          </a:bodyPr>
          <a:lstStyle/>
          <a:p>
            <a:pPr>
              <a:lnSpc>
                <a:spcPct val="80000"/>
              </a:lnSpc>
            </a:pPr>
            <a:r>
              <a:rPr lang="en-US" sz="4000" b="1"/>
              <a:t>Constraints on Type Parameters</a:t>
            </a:r>
            <a:endParaRPr lang="en-US" sz="4000" b="1" dirty="0"/>
          </a:p>
        </p:txBody>
      </p:sp>
      <p:sp>
        <p:nvSpPr>
          <p:cNvPr id="6" name="TextBox 5">
            <a:extLst>
              <a:ext uri="{FF2B5EF4-FFF2-40B4-BE49-F238E27FC236}">
                <a16:creationId xmlns:a16="http://schemas.microsoft.com/office/drawing/2014/main" id="{EBF6A4CC-9826-4ADD-B3E4-4419D62DD592}"/>
              </a:ext>
            </a:extLst>
          </p:cNvPr>
          <p:cNvSpPr txBox="1"/>
          <p:nvPr/>
        </p:nvSpPr>
        <p:spPr>
          <a:xfrm>
            <a:off x="-44604" y="1380311"/>
            <a:ext cx="12118428" cy="4767652"/>
          </a:xfrm>
          <a:prstGeom prst="rect">
            <a:avLst/>
          </a:prstGeom>
          <a:noFill/>
        </p:spPr>
        <p:txBody>
          <a:bodyPr wrap="square">
            <a:spAutoFit/>
          </a:bodyPr>
          <a:lstStyle/>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800" dirty="0"/>
              <a:t>Constraints inform the compiler about the capabilities a type argument must have</a:t>
            </a:r>
          </a:p>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800" dirty="0"/>
              <a:t>Without any constraints, the type argument could be any type. The compiler can only assume the members of </a:t>
            </a:r>
            <a:r>
              <a:rPr lang="en-US" sz="2800" dirty="0" err="1"/>
              <a:t>System.Object</a:t>
            </a:r>
            <a:r>
              <a:rPr lang="en-US" sz="2800" dirty="0"/>
              <a:t>, which is the ultimate base class for any .NET type</a:t>
            </a:r>
          </a:p>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800" dirty="0"/>
              <a:t>Constraints are specified by using the </a:t>
            </a:r>
            <a:r>
              <a:rPr lang="en-US" sz="2800" dirty="0">
                <a:solidFill>
                  <a:srgbClr val="0070C0"/>
                </a:solidFill>
              </a:rPr>
              <a:t>where</a:t>
            </a:r>
            <a:r>
              <a:rPr lang="en-US" sz="2800" dirty="0"/>
              <a:t> contextual keyword</a:t>
            </a:r>
          </a:p>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800" dirty="0"/>
              <a:t>The following table lists the various types of constraints:</a:t>
            </a:r>
          </a:p>
        </p:txBody>
      </p:sp>
    </p:spTree>
    <p:extLst>
      <p:ext uri="{BB962C8B-B14F-4D97-AF65-F5344CB8AC3E}">
        <p14:creationId xmlns:p14="http://schemas.microsoft.com/office/powerpoint/2010/main" val="3393595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13</a:t>
            </a:fld>
            <a:endParaRPr lang="en-US" dirty="0"/>
          </a:p>
        </p:txBody>
      </p:sp>
      <p:graphicFrame>
        <p:nvGraphicFramePr>
          <p:cNvPr id="11" name="Table 10">
            <a:extLst>
              <a:ext uri="{FF2B5EF4-FFF2-40B4-BE49-F238E27FC236}">
                <a16:creationId xmlns:a16="http://schemas.microsoft.com/office/drawing/2014/main" id="{2A0DAD3A-5C54-4FA1-BF09-0C4FEC4443DB}"/>
              </a:ext>
            </a:extLst>
          </p:cNvPr>
          <p:cNvGraphicFramePr>
            <a:graphicFrameLocks noGrp="1"/>
          </p:cNvGraphicFramePr>
          <p:nvPr>
            <p:extLst>
              <p:ext uri="{D42A27DB-BD31-4B8C-83A1-F6EECF244321}">
                <p14:modId xmlns:p14="http://schemas.microsoft.com/office/powerpoint/2010/main" val="307092110"/>
              </p:ext>
            </p:extLst>
          </p:nvPr>
        </p:nvGraphicFramePr>
        <p:xfrm>
          <a:off x="115614" y="1663527"/>
          <a:ext cx="11960771" cy="4663701"/>
        </p:xfrm>
        <a:graphic>
          <a:graphicData uri="http://schemas.openxmlformats.org/drawingml/2006/table">
            <a:tbl>
              <a:tblPr firstRow="1" firstCol="1" bandRow="1"/>
              <a:tblGrid>
                <a:gridCol w="2785241">
                  <a:extLst>
                    <a:ext uri="{9D8B030D-6E8A-4147-A177-3AD203B41FA5}">
                      <a16:colId xmlns:a16="http://schemas.microsoft.com/office/drawing/2014/main" val="697101626"/>
                    </a:ext>
                  </a:extLst>
                </a:gridCol>
                <a:gridCol w="9175530">
                  <a:extLst>
                    <a:ext uri="{9D8B030D-6E8A-4147-A177-3AD203B41FA5}">
                      <a16:colId xmlns:a16="http://schemas.microsoft.com/office/drawing/2014/main" val="2938972651"/>
                    </a:ext>
                  </a:extLst>
                </a:gridCol>
              </a:tblGrid>
              <a:tr h="320595">
                <a:tc>
                  <a:txBody>
                    <a:bodyPr/>
                    <a:lstStyle/>
                    <a:p>
                      <a:pPr marL="0" marR="0" algn="l">
                        <a:lnSpc>
                          <a:spcPct val="107000"/>
                        </a:lnSpc>
                        <a:spcBef>
                          <a:spcPts val="0"/>
                        </a:spcBef>
                        <a:spcAft>
                          <a:spcPts val="0"/>
                        </a:spcAft>
                      </a:pPr>
                      <a:r>
                        <a:rPr lang="en-US" sz="1800" b="1">
                          <a:solidFill>
                            <a:srgbClr val="171717"/>
                          </a:solidFill>
                          <a:effectLst/>
                          <a:latin typeface="+mj-lt"/>
                          <a:ea typeface="Times New Roman" panose="02020603050405020304" pitchFamily="18" charset="0"/>
                          <a:cs typeface="Times New Roman" panose="02020603050405020304" pitchFamily="18" charset="0"/>
                        </a:rPr>
                        <a:t>Constraint</a:t>
                      </a:r>
                      <a:endParaRPr lang="en-US" sz="18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C5E0B3"/>
                    </a:solidFill>
                  </a:tcPr>
                </a:tc>
                <a:tc>
                  <a:txBody>
                    <a:bodyPr/>
                    <a:lstStyle/>
                    <a:p>
                      <a:pPr marL="0" marR="0" algn="l">
                        <a:lnSpc>
                          <a:spcPct val="107000"/>
                        </a:lnSpc>
                        <a:spcBef>
                          <a:spcPts val="0"/>
                        </a:spcBef>
                        <a:spcAft>
                          <a:spcPts val="0"/>
                        </a:spcAft>
                      </a:pPr>
                      <a:r>
                        <a:rPr lang="en-US" sz="1800" b="1">
                          <a:solidFill>
                            <a:srgbClr val="171717"/>
                          </a:solidFill>
                          <a:effectLst/>
                          <a:latin typeface="+mj-lt"/>
                          <a:ea typeface="Times New Roman" panose="02020603050405020304" pitchFamily="18" charset="0"/>
                          <a:cs typeface="Times New Roman" panose="02020603050405020304" pitchFamily="18" charset="0"/>
                        </a:rPr>
                        <a:t>Description</a:t>
                      </a:r>
                      <a:endParaRPr lang="en-US" sz="18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extLst>
                  <a:ext uri="{0D108BD9-81ED-4DB2-BD59-A6C34878D82A}">
                    <a16:rowId xmlns:a16="http://schemas.microsoft.com/office/drawing/2014/main" val="1437495248"/>
                  </a:ext>
                </a:extLst>
              </a:tr>
              <a:tr h="666243">
                <a:tc>
                  <a:txBody>
                    <a:bodyPr/>
                    <a:lstStyle/>
                    <a:p>
                      <a:pPr marL="0" marR="0" algn="l">
                        <a:lnSpc>
                          <a:spcPct val="107000"/>
                        </a:lnSpc>
                        <a:spcBef>
                          <a:spcPts val="0"/>
                        </a:spcBef>
                        <a:spcAft>
                          <a:spcPts val="0"/>
                        </a:spcAft>
                      </a:pPr>
                      <a:r>
                        <a:rPr lang="en-US" sz="1800" dirty="0">
                          <a:solidFill>
                            <a:srgbClr val="171717"/>
                          </a:solidFill>
                          <a:effectLst/>
                          <a:latin typeface="+mj-lt"/>
                          <a:ea typeface="Times New Roman" panose="02020603050405020304" pitchFamily="18" charset="0"/>
                          <a:cs typeface="Times New Roman" panose="02020603050405020304" pitchFamily="18" charset="0"/>
                        </a:rPr>
                        <a:t>where T : struct</a:t>
                      </a:r>
                      <a:endParaRPr lang="en-US" sz="18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a non-nullable </a:t>
                      </a:r>
                      <a:r>
                        <a:rPr lang="en-US" sz="1800" u="sng">
                          <a:solidFill>
                            <a:srgbClr val="0000FF"/>
                          </a:solidFill>
                          <a:effectLst/>
                          <a:latin typeface="+mj-lt"/>
                          <a:ea typeface="Times New Roman" panose="02020603050405020304" pitchFamily="18" charset="0"/>
                          <a:cs typeface="Times New Roman" panose="02020603050405020304" pitchFamily="18" charset="0"/>
                          <a:hlinkClick r:id="rId3"/>
                        </a:rPr>
                        <a:t>value type</a:t>
                      </a:r>
                      <a:r>
                        <a:rPr lang="en-US" sz="1800">
                          <a:solidFill>
                            <a:srgbClr val="171717"/>
                          </a:solidFill>
                          <a:effectLst/>
                          <a:latin typeface="+mj-lt"/>
                          <a:ea typeface="Times New Roman" panose="02020603050405020304" pitchFamily="18" charset="0"/>
                          <a:cs typeface="Times New Roman" panose="02020603050405020304" pitchFamily="18" charset="0"/>
                        </a:rPr>
                        <a:t>. The struct constraint implies the new() constraint and can't be combined with the new() constraint</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748474295"/>
                  </a:ext>
                </a:extLst>
              </a:tr>
              <a:tr h="666243">
                <a:tc>
                  <a:txBody>
                    <a:bodyPr/>
                    <a:lstStyle/>
                    <a:p>
                      <a:pPr marL="0" marR="0" algn="l">
                        <a:lnSpc>
                          <a:spcPct val="107000"/>
                        </a:lnSpc>
                        <a:spcBef>
                          <a:spcPts val="0"/>
                        </a:spcBef>
                        <a:spcAft>
                          <a:spcPts val="0"/>
                        </a:spcAft>
                      </a:pPr>
                      <a:r>
                        <a:rPr lang="en-US" sz="1800" dirty="0">
                          <a:solidFill>
                            <a:srgbClr val="171717"/>
                          </a:solidFill>
                          <a:effectLst/>
                          <a:latin typeface="+mj-lt"/>
                          <a:ea typeface="Times New Roman" panose="02020603050405020304" pitchFamily="18" charset="0"/>
                          <a:cs typeface="Times New Roman" panose="02020603050405020304" pitchFamily="18" charset="0"/>
                        </a:rPr>
                        <a:t>where T : class</a:t>
                      </a:r>
                      <a:endParaRPr lang="en-US" sz="18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a reference type. This constraint applies also to any class, interface, delegate, or array type. T must be a non-nullable reference type</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3262103"/>
                  </a:ext>
                </a:extLst>
              </a:tr>
              <a:tr h="666243">
                <a:tc>
                  <a:txBody>
                    <a:bodyPr/>
                    <a:lstStyle/>
                    <a:p>
                      <a:pPr marL="0" marR="0" algn="l">
                        <a:lnSpc>
                          <a:spcPct val="107000"/>
                        </a:lnSpc>
                        <a:spcBef>
                          <a:spcPts val="0"/>
                        </a:spcBef>
                        <a:spcAft>
                          <a:spcPts val="0"/>
                        </a:spcAft>
                      </a:pPr>
                      <a:r>
                        <a:rPr lang="en-US" sz="1800" dirty="0">
                          <a:solidFill>
                            <a:srgbClr val="171717"/>
                          </a:solidFill>
                          <a:effectLst/>
                          <a:latin typeface="+mj-lt"/>
                          <a:ea typeface="Times New Roman" panose="02020603050405020304" pitchFamily="18" charset="0"/>
                          <a:cs typeface="Times New Roman" panose="02020603050405020304" pitchFamily="18" charset="0"/>
                        </a:rPr>
                        <a:t>where T : class?</a:t>
                      </a:r>
                      <a:endParaRPr lang="en-US" sz="18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a reference type, either nullable or non-nullable. This constraint applies also to any class, interface, delegate, or array type</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541887838"/>
                  </a:ext>
                </a:extLst>
              </a:tr>
              <a:tr h="666243">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where T : notnull</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a non-nullable type. The argument can be a non-nullable reference type or a non-nullable value type</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4802211"/>
                  </a:ext>
                </a:extLst>
              </a:tr>
              <a:tr h="1011891">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where T : unmanaged</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a non-nullable </a:t>
                      </a:r>
                      <a:r>
                        <a:rPr lang="en-US" sz="1800" u="sng">
                          <a:solidFill>
                            <a:srgbClr val="0000FF"/>
                          </a:solidFill>
                          <a:effectLst/>
                          <a:latin typeface="+mj-lt"/>
                          <a:ea typeface="Times New Roman" panose="02020603050405020304" pitchFamily="18" charset="0"/>
                          <a:cs typeface="Times New Roman" panose="02020603050405020304" pitchFamily="18" charset="0"/>
                          <a:hlinkClick r:id="rId4"/>
                        </a:rPr>
                        <a:t>unmanaged type</a:t>
                      </a:r>
                      <a:r>
                        <a:rPr lang="en-US" sz="1800">
                          <a:solidFill>
                            <a:srgbClr val="171717"/>
                          </a:solidFill>
                          <a:effectLst/>
                          <a:latin typeface="+mj-lt"/>
                          <a:ea typeface="Times New Roman" panose="02020603050405020304" pitchFamily="18" charset="0"/>
                          <a:cs typeface="Times New Roman" panose="02020603050405020304" pitchFamily="18" charset="0"/>
                        </a:rPr>
                        <a:t>. The unmanaged constraint implies the struct constraint and can't be combined with either the struct or new() constraints</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157500704"/>
                  </a:ext>
                </a:extLst>
              </a:tr>
              <a:tr h="666243">
                <a:tc>
                  <a:txBody>
                    <a:bodyPr/>
                    <a:lstStyle/>
                    <a:p>
                      <a:pPr marL="0" marR="0" algn="l">
                        <a:lnSpc>
                          <a:spcPct val="107000"/>
                        </a:lnSpc>
                        <a:spcBef>
                          <a:spcPts val="0"/>
                        </a:spcBef>
                        <a:spcAft>
                          <a:spcPts val="0"/>
                        </a:spcAft>
                      </a:pPr>
                      <a:r>
                        <a:rPr lang="en-US" sz="1800" dirty="0">
                          <a:solidFill>
                            <a:srgbClr val="171717"/>
                          </a:solidFill>
                          <a:effectLst/>
                          <a:latin typeface="+mj-lt"/>
                          <a:ea typeface="Times New Roman" panose="02020603050405020304" pitchFamily="18" charset="0"/>
                          <a:cs typeface="Times New Roman" panose="02020603050405020304" pitchFamily="18" charset="0"/>
                        </a:rPr>
                        <a:t>where T : new()</a:t>
                      </a:r>
                      <a:endParaRPr lang="en-US" sz="18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dirty="0">
                          <a:solidFill>
                            <a:srgbClr val="171717"/>
                          </a:solidFill>
                          <a:effectLst/>
                          <a:latin typeface="+mj-lt"/>
                          <a:ea typeface="Times New Roman" panose="02020603050405020304" pitchFamily="18" charset="0"/>
                          <a:cs typeface="Times New Roman" panose="02020603050405020304" pitchFamily="18" charset="0"/>
                        </a:rPr>
                        <a:t>The type argument must have a public </a:t>
                      </a:r>
                      <a:r>
                        <a:rPr lang="en-US" sz="1800" dirty="0" err="1">
                          <a:solidFill>
                            <a:srgbClr val="171717"/>
                          </a:solidFill>
                          <a:effectLst/>
                          <a:latin typeface="+mj-lt"/>
                          <a:ea typeface="Times New Roman" panose="02020603050405020304" pitchFamily="18" charset="0"/>
                          <a:cs typeface="Times New Roman" panose="02020603050405020304" pitchFamily="18" charset="0"/>
                        </a:rPr>
                        <a:t>parameterless</a:t>
                      </a:r>
                      <a:r>
                        <a:rPr lang="en-US" sz="1800" dirty="0">
                          <a:solidFill>
                            <a:srgbClr val="171717"/>
                          </a:solidFill>
                          <a:effectLst/>
                          <a:latin typeface="+mj-lt"/>
                          <a:ea typeface="Times New Roman" panose="02020603050405020304" pitchFamily="18" charset="0"/>
                          <a:cs typeface="Times New Roman" panose="02020603050405020304" pitchFamily="18" charset="0"/>
                        </a:rPr>
                        <a:t> constructor. When used together with other constraints, the new() constraint must be specified last</a:t>
                      </a:r>
                      <a:endParaRPr lang="en-US" sz="18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5390960"/>
                  </a:ext>
                </a:extLst>
              </a:tr>
            </a:tbl>
          </a:graphicData>
        </a:graphic>
      </p:graphicFrame>
      <p:sp>
        <p:nvSpPr>
          <p:cNvPr id="12" name="Oval 11">
            <a:extLst>
              <a:ext uri="{FF2B5EF4-FFF2-40B4-BE49-F238E27FC236}">
                <a16:creationId xmlns:a16="http://schemas.microsoft.com/office/drawing/2014/main" id="{7A4DA6A8-0E23-4916-B750-C1E8EEB9F0CC}"/>
              </a:ext>
            </a:extLst>
          </p:cNvPr>
          <p:cNvSpPr/>
          <p:nvPr/>
        </p:nvSpPr>
        <p:spPr>
          <a:xfrm>
            <a:off x="8885757" y="840344"/>
            <a:ext cx="2343806" cy="66971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Read by yourself</a:t>
            </a:r>
          </a:p>
        </p:txBody>
      </p:sp>
      <p:sp>
        <p:nvSpPr>
          <p:cNvPr id="7" name="Title 1">
            <a:extLst>
              <a:ext uri="{FF2B5EF4-FFF2-40B4-BE49-F238E27FC236}">
                <a16:creationId xmlns:a16="http://schemas.microsoft.com/office/drawing/2014/main" id="{022897B4-1044-4641-B292-730A86CE8810}"/>
              </a:ext>
            </a:extLst>
          </p:cNvPr>
          <p:cNvSpPr>
            <a:spLocks noGrp="1"/>
          </p:cNvSpPr>
          <p:nvPr>
            <p:ph type="title"/>
          </p:nvPr>
        </p:nvSpPr>
        <p:spPr>
          <a:xfrm>
            <a:off x="270642" y="730987"/>
            <a:ext cx="8415417" cy="498723"/>
          </a:xfrm>
        </p:spPr>
        <p:txBody>
          <a:bodyPr>
            <a:noAutofit/>
          </a:bodyPr>
          <a:lstStyle/>
          <a:p>
            <a:pPr>
              <a:lnSpc>
                <a:spcPct val="80000"/>
              </a:lnSpc>
            </a:pPr>
            <a:r>
              <a:rPr lang="en-US" sz="4000" b="1"/>
              <a:t>Constraints on Type Parameters</a:t>
            </a:r>
            <a:endParaRPr lang="en-US" sz="4000" b="1" dirty="0"/>
          </a:p>
        </p:txBody>
      </p:sp>
    </p:spTree>
    <p:extLst>
      <p:ext uri="{BB962C8B-B14F-4D97-AF65-F5344CB8AC3E}">
        <p14:creationId xmlns:p14="http://schemas.microsoft.com/office/powerpoint/2010/main" val="3499909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14</a:t>
            </a:fld>
            <a:endParaRPr lang="en-US" dirty="0"/>
          </a:p>
        </p:txBody>
      </p:sp>
      <p:graphicFrame>
        <p:nvGraphicFramePr>
          <p:cNvPr id="11" name="Table 10">
            <a:extLst>
              <a:ext uri="{FF2B5EF4-FFF2-40B4-BE49-F238E27FC236}">
                <a16:creationId xmlns:a16="http://schemas.microsoft.com/office/drawing/2014/main" id="{2A0DAD3A-5C54-4FA1-BF09-0C4FEC4443DB}"/>
              </a:ext>
            </a:extLst>
          </p:cNvPr>
          <p:cNvGraphicFramePr>
            <a:graphicFrameLocks noGrp="1"/>
          </p:cNvGraphicFramePr>
          <p:nvPr>
            <p:extLst>
              <p:ext uri="{D42A27DB-BD31-4B8C-83A1-F6EECF244321}">
                <p14:modId xmlns:p14="http://schemas.microsoft.com/office/powerpoint/2010/main" val="1867170228"/>
              </p:ext>
            </p:extLst>
          </p:nvPr>
        </p:nvGraphicFramePr>
        <p:xfrm>
          <a:off x="115614" y="1642505"/>
          <a:ext cx="11960771" cy="4737273"/>
        </p:xfrm>
        <a:graphic>
          <a:graphicData uri="http://schemas.openxmlformats.org/drawingml/2006/table">
            <a:tbl>
              <a:tblPr firstRow="1" firstCol="1" bandRow="1"/>
              <a:tblGrid>
                <a:gridCol w="3457903">
                  <a:extLst>
                    <a:ext uri="{9D8B030D-6E8A-4147-A177-3AD203B41FA5}">
                      <a16:colId xmlns:a16="http://schemas.microsoft.com/office/drawing/2014/main" val="697101626"/>
                    </a:ext>
                  </a:extLst>
                </a:gridCol>
                <a:gridCol w="8502868">
                  <a:extLst>
                    <a:ext uri="{9D8B030D-6E8A-4147-A177-3AD203B41FA5}">
                      <a16:colId xmlns:a16="http://schemas.microsoft.com/office/drawing/2014/main" val="2938972651"/>
                    </a:ext>
                  </a:extLst>
                </a:gridCol>
              </a:tblGrid>
              <a:tr h="341477">
                <a:tc>
                  <a:txBody>
                    <a:bodyPr/>
                    <a:lstStyle/>
                    <a:p>
                      <a:pPr marL="0" marR="0" algn="l">
                        <a:lnSpc>
                          <a:spcPct val="107000"/>
                        </a:lnSpc>
                        <a:spcBef>
                          <a:spcPts val="0"/>
                        </a:spcBef>
                        <a:spcAft>
                          <a:spcPts val="0"/>
                        </a:spcAft>
                      </a:pPr>
                      <a:r>
                        <a:rPr lang="en-US" sz="1800" b="1">
                          <a:solidFill>
                            <a:srgbClr val="171717"/>
                          </a:solidFill>
                          <a:effectLst/>
                          <a:latin typeface="+mj-lt"/>
                          <a:ea typeface="Times New Roman" panose="02020603050405020304" pitchFamily="18" charset="0"/>
                          <a:cs typeface="Times New Roman" panose="02020603050405020304" pitchFamily="18" charset="0"/>
                        </a:rPr>
                        <a:t>Constraint</a:t>
                      </a:r>
                      <a:endParaRPr lang="en-US" sz="18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C5E0B3"/>
                    </a:solidFill>
                  </a:tcPr>
                </a:tc>
                <a:tc>
                  <a:txBody>
                    <a:bodyPr/>
                    <a:lstStyle/>
                    <a:p>
                      <a:pPr marL="0" marR="0" algn="l">
                        <a:lnSpc>
                          <a:spcPct val="107000"/>
                        </a:lnSpc>
                        <a:spcBef>
                          <a:spcPts val="0"/>
                        </a:spcBef>
                        <a:spcAft>
                          <a:spcPts val="0"/>
                        </a:spcAft>
                      </a:pPr>
                      <a:r>
                        <a:rPr lang="en-US" sz="1800" b="1">
                          <a:solidFill>
                            <a:srgbClr val="171717"/>
                          </a:solidFill>
                          <a:effectLst/>
                          <a:latin typeface="+mj-lt"/>
                          <a:ea typeface="Times New Roman" panose="02020603050405020304" pitchFamily="18" charset="0"/>
                          <a:cs typeface="Times New Roman" panose="02020603050405020304" pitchFamily="18" charset="0"/>
                        </a:rPr>
                        <a:t>Description</a:t>
                      </a:r>
                      <a:endParaRPr lang="en-US" sz="18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extLst>
                  <a:ext uri="{0D108BD9-81ED-4DB2-BD59-A6C34878D82A}">
                    <a16:rowId xmlns:a16="http://schemas.microsoft.com/office/drawing/2014/main" val="1437495248"/>
                  </a:ext>
                </a:extLst>
              </a:tr>
              <a:tr h="709638">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where T : </a:t>
                      </a:r>
                      <a:r>
                        <a:rPr lang="en-US" sz="1800" i="1">
                          <a:solidFill>
                            <a:srgbClr val="171717"/>
                          </a:solidFill>
                          <a:effectLst/>
                          <a:latin typeface="+mj-lt"/>
                          <a:ea typeface="Times New Roman" panose="02020603050405020304" pitchFamily="18" charset="0"/>
                          <a:cs typeface="Times New Roman" panose="02020603050405020304" pitchFamily="18" charset="0"/>
                        </a:rPr>
                        <a:t>&lt;base class name&gt;</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or derive from the specified base class</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3093501416"/>
                  </a:ext>
                </a:extLst>
              </a:tr>
              <a:tr h="709638">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where T : </a:t>
                      </a:r>
                      <a:r>
                        <a:rPr lang="en-US" sz="1800" i="1">
                          <a:solidFill>
                            <a:srgbClr val="171717"/>
                          </a:solidFill>
                          <a:effectLst/>
                          <a:latin typeface="+mj-lt"/>
                          <a:ea typeface="Times New Roman" panose="02020603050405020304" pitchFamily="18" charset="0"/>
                          <a:cs typeface="Times New Roman" panose="02020603050405020304" pitchFamily="18" charset="0"/>
                        </a:rPr>
                        <a:t>&lt;base class name&gt;?</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or derive from the specified base class. T may be either a nullable or non-nullable type derived from the specified base class</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0424143"/>
                  </a:ext>
                </a:extLst>
              </a:tr>
              <a:tr h="709638">
                <a:tc>
                  <a:txBody>
                    <a:bodyPr/>
                    <a:lstStyle/>
                    <a:p>
                      <a:pPr marL="0" marR="0" algn="l">
                        <a:lnSpc>
                          <a:spcPct val="107000"/>
                        </a:lnSpc>
                        <a:spcBef>
                          <a:spcPts val="0"/>
                        </a:spcBef>
                        <a:spcAft>
                          <a:spcPts val="0"/>
                        </a:spcAft>
                      </a:pPr>
                      <a:r>
                        <a:rPr lang="en-US" sz="1800" dirty="0">
                          <a:solidFill>
                            <a:srgbClr val="171717"/>
                          </a:solidFill>
                          <a:effectLst/>
                          <a:latin typeface="+mj-lt"/>
                          <a:ea typeface="Times New Roman" panose="02020603050405020304" pitchFamily="18" charset="0"/>
                          <a:cs typeface="Times New Roman" panose="02020603050405020304" pitchFamily="18" charset="0"/>
                        </a:rPr>
                        <a:t>where T : </a:t>
                      </a:r>
                      <a:r>
                        <a:rPr lang="en-US" sz="1800" i="1" dirty="0">
                          <a:solidFill>
                            <a:srgbClr val="171717"/>
                          </a:solidFill>
                          <a:effectLst/>
                          <a:latin typeface="+mj-lt"/>
                          <a:ea typeface="Times New Roman" panose="02020603050405020304" pitchFamily="18" charset="0"/>
                          <a:cs typeface="Times New Roman" panose="02020603050405020304" pitchFamily="18" charset="0"/>
                        </a:rPr>
                        <a:t>&lt;interface name&gt;</a:t>
                      </a:r>
                      <a:endParaRPr lang="en-US" sz="18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or implement the specified interface</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704459085"/>
                  </a:ext>
                </a:extLst>
              </a:tr>
              <a:tr h="1077799">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where T : </a:t>
                      </a:r>
                      <a:r>
                        <a:rPr lang="en-US" sz="1800" i="1">
                          <a:solidFill>
                            <a:srgbClr val="171717"/>
                          </a:solidFill>
                          <a:effectLst/>
                          <a:latin typeface="+mj-lt"/>
                          <a:ea typeface="Times New Roman" panose="02020603050405020304" pitchFamily="18" charset="0"/>
                          <a:cs typeface="Times New Roman" panose="02020603050405020304" pitchFamily="18" charset="0"/>
                        </a:rPr>
                        <a:t>&lt;interface name&gt;?</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The type argument must be or implement the specified interface. T may be a nullable reference type, a non-nullable reference type, or a value type. T may not be a nullable value type</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2314051"/>
                  </a:ext>
                </a:extLst>
              </a:tr>
              <a:tr h="1189083">
                <a:tc>
                  <a:txBody>
                    <a:bodyPr/>
                    <a:lstStyle/>
                    <a:p>
                      <a:pPr marL="0" marR="0" algn="l">
                        <a:lnSpc>
                          <a:spcPct val="107000"/>
                        </a:lnSpc>
                        <a:spcBef>
                          <a:spcPts val="0"/>
                        </a:spcBef>
                        <a:spcAft>
                          <a:spcPts val="0"/>
                        </a:spcAft>
                      </a:pPr>
                      <a:r>
                        <a:rPr lang="en-US" sz="1800">
                          <a:solidFill>
                            <a:srgbClr val="171717"/>
                          </a:solidFill>
                          <a:effectLst/>
                          <a:latin typeface="+mj-lt"/>
                          <a:ea typeface="Times New Roman" panose="02020603050405020304" pitchFamily="18" charset="0"/>
                          <a:cs typeface="Times New Roman" panose="02020603050405020304" pitchFamily="18" charset="0"/>
                        </a:rPr>
                        <a:t>where T : U</a:t>
                      </a:r>
                      <a:endParaRPr lang="en-US" sz="18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l">
                        <a:lnSpc>
                          <a:spcPct val="107000"/>
                        </a:lnSpc>
                        <a:spcBef>
                          <a:spcPts val="0"/>
                        </a:spcBef>
                        <a:spcAft>
                          <a:spcPts val="0"/>
                        </a:spcAft>
                      </a:pPr>
                      <a:r>
                        <a:rPr lang="en-US" sz="1800" dirty="0">
                          <a:solidFill>
                            <a:srgbClr val="171717"/>
                          </a:solidFill>
                          <a:effectLst/>
                          <a:latin typeface="+mj-lt"/>
                          <a:ea typeface="Times New Roman" panose="02020603050405020304" pitchFamily="18" charset="0"/>
                          <a:cs typeface="Times New Roman" panose="02020603050405020304" pitchFamily="18" charset="0"/>
                        </a:rPr>
                        <a:t>The type argument supplied for T must be or derive from the argument supplied for U. In a </a:t>
                      </a:r>
                      <a:r>
                        <a:rPr lang="en-US" sz="1800" dirty="0" err="1">
                          <a:solidFill>
                            <a:srgbClr val="171717"/>
                          </a:solidFill>
                          <a:effectLst/>
                          <a:latin typeface="+mj-lt"/>
                          <a:ea typeface="Times New Roman" panose="02020603050405020304" pitchFamily="18" charset="0"/>
                          <a:cs typeface="Times New Roman" panose="02020603050405020304" pitchFamily="18" charset="0"/>
                        </a:rPr>
                        <a:t>nullable</a:t>
                      </a:r>
                      <a:r>
                        <a:rPr lang="en-US" sz="1800" dirty="0">
                          <a:solidFill>
                            <a:srgbClr val="171717"/>
                          </a:solidFill>
                          <a:effectLst/>
                          <a:latin typeface="+mj-lt"/>
                          <a:ea typeface="Times New Roman" panose="02020603050405020304" pitchFamily="18" charset="0"/>
                          <a:cs typeface="Times New Roman" panose="02020603050405020304" pitchFamily="18" charset="0"/>
                        </a:rPr>
                        <a:t> context, if U is a non-</a:t>
                      </a:r>
                      <a:r>
                        <a:rPr lang="en-US" sz="1800" dirty="0" err="1">
                          <a:solidFill>
                            <a:srgbClr val="171717"/>
                          </a:solidFill>
                          <a:effectLst/>
                          <a:latin typeface="+mj-lt"/>
                          <a:ea typeface="Times New Roman" panose="02020603050405020304" pitchFamily="18" charset="0"/>
                          <a:cs typeface="Times New Roman" panose="02020603050405020304" pitchFamily="18" charset="0"/>
                        </a:rPr>
                        <a:t>nullable</a:t>
                      </a:r>
                      <a:r>
                        <a:rPr lang="en-US" sz="1800" dirty="0">
                          <a:solidFill>
                            <a:srgbClr val="171717"/>
                          </a:solidFill>
                          <a:effectLst/>
                          <a:latin typeface="+mj-lt"/>
                          <a:ea typeface="Times New Roman" panose="02020603050405020304" pitchFamily="18" charset="0"/>
                          <a:cs typeface="Times New Roman" panose="02020603050405020304" pitchFamily="18" charset="0"/>
                        </a:rPr>
                        <a:t> reference type, T must be non-</a:t>
                      </a:r>
                      <a:r>
                        <a:rPr lang="en-US" sz="1800" dirty="0" err="1">
                          <a:solidFill>
                            <a:srgbClr val="171717"/>
                          </a:solidFill>
                          <a:effectLst/>
                          <a:latin typeface="+mj-lt"/>
                          <a:ea typeface="Times New Roman" panose="02020603050405020304" pitchFamily="18" charset="0"/>
                          <a:cs typeface="Times New Roman" panose="02020603050405020304" pitchFamily="18" charset="0"/>
                        </a:rPr>
                        <a:t>nullable</a:t>
                      </a:r>
                      <a:r>
                        <a:rPr lang="en-US" sz="1800" dirty="0">
                          <a:solidFill>
                            <a:srgbClr val="171717"/>
                          </a:solidFill>
                          <a:effectLst/>
                          <a:latin typeface="+mj-lt"/>
                          <a:ea typeface="Times New Roman" panose="02020603050405020304" pitchFamily="18" charset="0"/>
                          <a:cs typeface="Times New Roman" panose="02020603050405020304" pitchFamily="18" charset="0"/>
                        </a:rPr>
                        <a:t> reference type. If U is a </a:t>
                      </a:r>
                      <a:r>
                        <a:rPr lang="en-US" sz="1800" dirty="0" err="1">
                          <a:solidFill>
                            <a:srgbClr val="171717"/>
                          </a:solidFill>
                          <a:effectLst/>
                          <a:latin typeface="+mj-lt"/>
                          <a:ea typeface="Times New Roman" panose="02020603050405020304" pitchFamily="18" charset="0"/>
                          <a:cs typeface="Times New Roman" panose="02020603050405020304" pitchFamily="18" charset="0"/>
                        </a:rPr>
                        <a:t>nullable</a:t>
                      </a:r>
                      <a:r>
                        <a:rPr lang="en-US" sz="1800" dirty="0">
                          <a:solidFill>
                            <a:srgbClr val="171717"/>
                          </a:solidFill>
                          <a:effectLst/>
                          <a:latin typeface="+mj-lt"/>
                          <a:ea typeface="Times New Roman" panose="02020603050405020304" pitchFamily="18" charset="0"/>
                          <a:cs typeface="Times New Roman" panose="02020603050405020304" pitchFamily="18" charset="0"/>
                        </a:rPr>
                        <a:t> reference type, T may be either </a:t>
                      </a:r>
                      <a:r>
                        <a:rPr lang="en-US" sz="1800" dirty="0" err="1">
                          <a:solidFill>
                            <a:srgbClr val="171717"/>
                          </a:solidFill>
                          <a:effectLst/>
                          <a:latin typeface="+mj-lt"/>
                          <a:ea typeface="Times New Roman" panose="02020603050405020304" pitchFamily="18" charset="0"/>
                          <a:cs typeface="Times New Roman" panose="02020603050405020304" pitchFamily="18" charset="0"/>
                        </a:rPr>
                        <a:t>nullable</a:t>
                      </a:r>
                      <a:r>
                        <a:rPr lang="en-US" sz="1800" dirty="0">
                          <a:solidFill>
                            <a:srgbClr val="171717"/>
                          </a:solidFill>
                          <a:effectLst/>
                          <a:latin typeface="+mj-lt"/>
                          <a:ea typeface="Times New Roman" panose="02020603050405020304" pitchFamily="18" charset="0"/>
                          <a:cs typeface="Times New Roman" panose="02020603050405020304" pitchFamily="18" charset="0"/>
                        </a:rPr>
                        <a:t> or non-</a:t>
                      </a:r>
                      <a:r>
                        <a:rPr lang="en-US" sz="1800" dirty="0" err="1">
                          <a:solidFill>
                            <a:srgbClr val="171717"/>
                          </a:solidFill>
                          <a:effectLst/>
                          <a:latin typeface="+mj-lt"/>
                          <a:ea typeface="Times New Roman" panose="02020603050405020304" pitchFamily="18" charset="0"/>
                          <a:cs typeface="Times New Roman" panose="02020603050405020304" pitchFamily="18" charset="0"/>
                        </a:rPr>
                        <a:t>nullable</a:t>
                      </a:r>
                      <a:endParaRPr lang="en-US" sz="18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2345739871"/>
                  </a:ext>
                </a:extLst>
              </a:tr>
            </a:tbl>
          </a:graphicData>
        </a:graphic>
      </p:graphicFrame>
      <p:sp>
        <p:nvSpPr>
          <p:cNvPr id="12" name="Oval 11">
            <a:extLst>
              <a:ext uri="{FF2B5EF4-FFF2-40B4-BE49-F238E27FC236}">
                <a16:creationId xmlns:a16="http://schemas.microsoft.com/office/drawing/2014/main" id="{7A4DA6A8-0E23-4916-B750-C1E8EEB9F0CC}"/>
              </a:ext>
            </a:extLst>
          </p:cNvPr>
          <p:cNvSpPr/>
          <p:nvPr/>
        </p:nvSpPr>
        <p:spPr>
          <a:xfrm>
            <a:off x="9085454" y="766397"/>
            <a:ext cx="2343806" cy="66971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Read by yourself</a:t>
            </a:r>
          </a:p>
        </p:txBody>
      </p:sp>
      <p:sp>
        <p:nvSpPr>
          <p:cNvPr id="7" name="Title 1">
            <a:extLst>
              <a:ext uri="{FF2B5EF4-FFF2-40B4-BE49-F238E27FC236}">
                <a16:creationId xmlns:a16="http://schemas.microsoft.com/office/drawing/2014/main" id="{15784C9E-D176-4616-ABD7-4DE49397FC44}"/>
              </a:ext>
            </a:extLst>
          </p:cNvPr>
          <p:cNvSpPr>
            <a:spLocks noGrp="1"/>
          </p:cNvSpPr>
          <p:nvPr>
            <p:ph type="title"/>
          </p:nvPr>
        </p:nvSpPr>
        <p:spPr>
          <a:xfrm>
            <a:off x="270642" y="730987"/>
            <a:ext cx="8415417" cy="498723"/>
          </a:xfrm>
        </p:spPr>
        <p:txBody>
          <a:bodyPr>
            <a:noAutofit/>
          </a:bodyPr>
          <a:lstStyle/>
          <a:p>
            <a:pPr>
              <a:lnSpc>
                <a:spcPct val="80000"/>
              </a:lnSpc>
            </a:pPr>
            <a:r>
              <a:rPr lang="en-US" sz="4000" b="1"/>
              <a:t>Constraints on Type Parameters</a:t>
            </a:r>
            <a:endParaRPr lang="en-US" sz="4000" b="1" dirty="0"/>
          </a:p>
        </p:txBody>
      </p:sp>
    </p:spTree>
    <p:extLst>
      <p:ext uri="{BB962C8B-B14F-4D97-AF65-F5344CB8AC3E}">
        <p14:creationId xmlns:p14="http://schemas.microsoft.com/office/powerpoint/2010/main" val="4105205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15</a:t>
            </a:fld>
            <a:endParaRPr lang="en-US" dirty="0"/>
          </a:p>
        </p:txBody>
      </p:sp>
      <p:sp>
        <p:nvSpPr>
          <p:cNvPr id="7" name="Title 1">
            <a:extLst>
              <a:ext uri="{FF2B5EF4-FFF2-40B4-BE49-F238E27FC236}">
                <a16:creationId xmlns:a16="http://schemas.microsoft.com/office/drawing/2014/main" id="{92421E6A-6398-4B11-9C0B-2215F68507FB}"/>
              </a:ext>
            </a:extLst>
          </p:cNvPr>
          <p:cNvSpPr>
            <a:spLocks noGrp="1"/>
          </p:cNvSpPr>
          <p:nvPr>
            <p:ph type="title"/>
          </p:nvPr>
        </p:nvSpPr>
        <p:spPr>
          <a:xfrm>
            <a:off x="270642" y="730987"/>
            <a:ext cx="8415417" cy="498723"/>
          </a:xfrm>
        </p:spPr>
        <p:txBody>
          <a:bodyPr>
            <a:noAutofit/>
          </a:bodyPr>
          <a:lstStyle/>
          <a:p>
            <a:pPr>
              <a:lnSpc>
                <a:spcPct val="80000"/>
              </a:lnSpc>
            </a:pPr>
            <a:r>
              <a:rPr lang="en-US" sz="4000" b="1" dirty="0"/>
              <a:t>Constraints on Type Parameters</a:t>
            </a:r>
          </a:p>
        </p:txBody>
      </p:sp>
      <p:sp>
        <p:nvSpPr>
          <p:cNvPr id="9" name="TextBox 8">
            <a:extLst>
              <a:ext uri="{FF2B5EF4-FFF2-40B4-BE49-F238E27FC236}">
                <a16:creationId xmlns:a16="http://schemas.microsoft.com/office/drawing/2014/main" id="{D16DAFA6-3D14-48F2-BD93-1074876B1F3C}"/>
              </a:ext>
            </a:extLst>
          </p:cNvPr>
          <p:cNvSpPr txBox="1"/>
          <p:nvPr/>
        </p:nvSpPr>
        <p:spPr>
          <a:xfrm>
            <a:off x="-76200" y="1372390"/>
            <a:ext cx="12142075" cy="892552"/>
          </a:xfrm>
          <a:prstGeom prst="rect">
            <a:avLst/>
          </a:prstGeom>
          <a:noFill/>
        </p:spPr>
        <p:txBody>
          <a:bodyPr wrap="square">
            <a:spAutoFit/>
          </a:bodyPr>
          <a:lstStyle/>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a:t>Multiple constraints can be applied to the same type parameter, and the constraints themselves can be generic types, as follows:</a:t>
            </a:r>
          </a:p>
        </p:txBody>
      </p:sp>
      <p:pic>
        <p:nvPicPr>
          <p:cNvPr id="6" name="Picture 5">
            <a:extLst>
              <a:ext uri="{FF2B5EF4-FFF2-40B4-BE49-F238E27FC236}">
                <a16:creationId xmlns:a16="http://schemas.microsoft.com/office/drawing/2014/main" id="{99C6696D-0402-443B-B913-0DF2CF8C26A3}"/>
              </a:ext>
            </a:extLst>
          </p:cNvPr>
          <p:cNvPicPr>
            <a:picLocks noChangeAspect="1"/>
          </p:cNvPicPr>
          <p:nvPr/>
        </p:nvPicPr>
        <p:blipFill>
          <a:blip r:embed="rId3"/>
          <a:stretch>
            <a:fillRect/>
          </a:stretch>
        </p:blipFill>
        <p:spPr>
          <a:xfrm>
            <a:off x="386031" y="2331626"/>
            <a:ext cx="11349089" cy="1302530"/>
          </a:xfrm>
          <a:prstGeom prst="rect">
            <a:avLst/>
          </a:prstGeom>
        </p:spPr>
      </p:pic>
      <p:sp>
        <p:nvSpPr>
          <p:cNvPr id="13" name="TextBox 12">
            <a:extLst>
              <a:ext uri="{FF2B5EF4-FFF2-40B4-BE49-F238E27FC236}">
                <a16:creationId xmlns:a16="http://schemas.microsoft.com/office/drawing/2014/main" id="{7EA26702-BE0A-4EA3-9F54-1CCAD56D6DCE}"/>
              </a:ext>
            </a:extLst>
          </p:cNvPr>
          <p:cNvSpPr txBox="1"/>
          <p:nvPr/>
        </p:nvSpPr>
        <p:spPr>
          <a:xfrm>
            <a:off x="0" y="3634156"/>
            <a:ext cx="6159062" cy="492443"/>
          </a:xfrm>
          <a:prstGeom prst="rect">
            <a:avLst/>
          </a:prstGeom>
          <a:noFill/>
        </p:spPr>
        <p:txBody>
          <a:bodyPr wrap="square">
            <a:spAutoFit/>
          </a:bodyPr>
          <a:lstStyle/>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a:t>Constraining multiple parameters</a:t>
            </a:r>
          </a:p>
        </p:txBody>
      </p:sp>
      <p:pic>
        <p:nvPicPr>
          <p:cNvPr id="14" name="Picture 13">
            <a:extLst>
              <a:ext uri="{FF2B5EF4-FFF2-40B4-BE49-F238E27FC236}">
                <a16:creationId xmlns:a16="http://schemas.microsoft.com/office/drawing/2014/main" id="{314B558F-ED7F-46E8-8E0E-E69BCD95DE02}"/>
              </a:ext>
            </a:extLst>
          </p:cNvPr>
          <p:cNvPicPr>
            <a:picLocks noChangeAspect="1"/>
          </p:cNvPicPr>
          <p:nvPr/>
        </p:nvPicPr>
        <p:blipFill>
          <a:blip r:embed="rId4"/>
          <a:stretch>
            <a:fillRect/>
          </a:stretch>
        </p:blipFill>
        <p:spPr>
          <a:xfrm>
            <a:off x="386030" y="4196983"/>
            <a:ext cx="7403401" cy="2182796"/>
          </a:xfrm>
          <a:prstGeom prst="rect">
            <a:avLst/>
          </a:prstGeom>
        </p:spPr>
      </p:pic>
      <p:sp>
        <p:nvSpPr>
          <p:cNvPr id="10" name="Rectangle 9">
            <a:extLst>
              <a:ext uri="{FF2B5EF4-FFF2-40B4-BE49-F238E27FC236}">
                <a16:creationId xmlns:a16="http://schemas.microsoft.com/office/drawing/2014/main" id="{1CFCF61D-DA37-4253-8C80-45BF9ECDDF38}"/>
              </a:ext>
            </a:extLst>
          </p:cNvPr>
          <p:cNvSpPr/>
          <p:nvPr/>
        </p:nvSpPr>
        <p:spPr>
          <a:xfrm>
            <a:off x="6987667" y="5061860"/>
            <a:ext cx="801764" cy="4530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76816BB-9580-42DC-A301-C4AEA6A95F23}"/>
              </a:ext>
            </a:extLst>
          </p:cNvPr>
          <p:cNvSpPr/>
          <p:nvPr/>
        </p:nvSpPr>
        <p:spPr>
          <a:xfrm>
            <a:off x="10893600" y="2264942"/>
            <a:ext cx="801764" cy="4530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8863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16</a:t>
            </a:fld>
            <a:endParaRPr lang="en-US" dirty="0"/>
          </a:p>
        </p:txBody>
      </p:sp>
      <p:sp>
        <p:nvSpPr>
          <p:cNvPr id="9" name="object 3">
            <a:extLst>
              <a:ext uri="{FF2B5EF4-FFF2-40B4-BE49-F238E27FC236}">
                <a16:creationId xmlns:a16="http://schemas.microsoft.com/office/drawing/2014/main" id="{4A592FAE-E698-4822-A27E-22BD49321AF8}"/>
              </a:ext>
            </a:extLst>
          </p:cNvPr>
          <p:cNvSpPr txBox="1"/>
          <p:nvPr/>
        </p:nvSpPr>
        <p:spPr>
          <a:xfrm>
            <a:off x="52550" y="1242642"/>
            <a:ext cx="11979616" cy="538865"/>
          </a:xfrm>
          <a:prstGeom prst="rect">
            <a:avLst/>
          </a:prstGeom>
        </p:spPr>
        <p:txBody>
          <a:bodyPr vert="horz" wrap="square" lIns="0" tIns="12700" rIns="0" bIns="0" rtlCol="0">
            <a:spAutoFit/>
          </a:bodyPr>
          <a:lstStyle/>
          <a:p>
            <a:pPr marL="342900" marR="13335" indent="-342900" algn="just">
              <a:lnSpc>
                <a:spcPct val="150000"/>
              </a:lnSpc>
              <a:spcBef>
                <a:spcPts val="1000"/>
              </a:spcBef>
              <a:buClr>
                <a:srgbClr val="973735"/>
              </a:buClr>
              <a:buSzPct val="50000"/>
              <a:buFont typeface="Wingdings" pitchFamily="2" charset="2"/>
              <a:buChar char="u"/>
              <a:tabLst>
                <a:tab pos="285750" algn="l"/>
              </a:tabLst>
              <a:defRPr/>
            </a:pPr>
            <a:r>
              <a:rPr lang="en-US" sz="2600" dirty="0"/>
              <a:t>With a generic method, the generic type is defined with the method declaration</a:t>
            </a:r>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8043040" cy="498723"/>
          </a:xfrm>
        </p:spPr>
        <p:txBody>
          <a:bodyPr>
            <a:noAutofit/>
          </a:bodyPr>
          <a:lstStyle/>
          <a:p>
            <a:pPr>
              <a:lnSpc>
                <a:spcPct val="80000"/>
              </a:lnSpc>
            </a:pPr>
            <a:r>
              <a:rPr lang="en-US" sz="4000" b="1" dirty="0"/>
              <a:t>Constraints on Type Parameters</a:t>
            </a:r>
          </a:p>
        </p:txBody>
      </p:sp>
      <p:sp>
        <p:nvSpPr>
          <p:cNvPr id="8" name="object 3">
            <a:extLst>
              <a:ext uri="{FF2B5EF4-FFF2-40B4-BE49-F238E27FC236}">
                <a16:creationId xmlns:a16="http://schemas.microsoft.com/office/drawing/2014/main" id="{F62579DA-E402-4D01-8FC8-A3D12A22E914}"/>
              </a:ext>
            </a:extLst>
          </p:cNvPr>
          <p:cNvSpPr txBox="1"/>
          <p:nvPr/>
        </p:nvSpPr>
        <p:spPr>
          <a:xfrm>
            <a:off x="52550" y="1706590"/>
            <a:ext cx="11622777" cy="4213974"/>
          </a:xfrm>
          <a:prstGeom prst="rect">
            <a:avLst/>
          </a:prstGeom>
        </p:spPr>
        <p:txBody>
          <a:bodyPr vert="horz" wrap="square" lIns="0" tIns="12700" rIns="0" bIns="0" rtlCol="0">
            <a:spAutoFit/>
          </a:bodyPr>
          <a:lstStyle/>
          <a:p>
            <a:pPr marL="342900" marR="13335" indent="-342900" algn="just">
              <a:lnSpc>
                <a:spcPct val="150000"/>
              </a:lnSpc>
              <a:spcBef>
                <a:spcPts val="1000"/>
              </a:spcBef>
              <a:buClr>
                <a:srgbClr val="973735"/>
              </a:buClr>
              <a:buSzPct val="50000"/>
              <a:buFont typeface="Wingdings" pitchFamily="2" charset="2"/>
              <a:buChar char="u"/>
              <a:tabLst>
                <a:tab pos="285750" algn="l"/>
              </a:tabLst>
              <a:defRPr/>
            </a:pPr>
            <a:r>
              <a:rPr lang="en-US" sz="2600" dirty="0"/>
              <a:t>Generic methods can be defined within non-generic classes</a:t>
            </a:r>
          </a:p>
          <a:p>
            <a:pPr marL="342900" marR="13335" indent="-342900" algn="just">
              <a:buClr>
                <a:srgbClr val="973735"/>
              </a:buClr>
              <a:buSzPct val="50000"/>
              <a:buFont typeface="Wingdings" pitchFamily="2" charset="2"/>
              <a:buChar char="u"/>
              <a:tabLst>
                <a:tab pos="285750" algn="l"/>
              </a:tabLst>
              <a:defRPr/>
            </a:pPr>
            <a:endParaRPr lang="en-US" sz="2600" dirty="0"/>
          </a:p>
          <a:p>
            <a:pPr marL="342900" marR="13335" indent="-342900" algn="just">
              <a:buClr>
                <a:srgbClr val="973735"/>
              </a:buClr>
              <a:buSzPct val="50000"/>
              <a:buFont typeface="Wingdings" pitchFamily="2" charset="2"/>
              <a:buChar char="u"/>
              <a:tabLst>
                <a:tab pos="285750" algn="l"/>
              </a:tabLst>
              <a:defRPr/>
            </a:pPr>
            <a:endParaRPr lang="en-US" sz="2600" dirty="0"/>
          </a:p>
          <a:p>
            <a:pPr marL="342900" marR="13335" indent="-342900" algn="just">
              <a:buClr>
                <a:srgbClr val="973735"/>
              </a:buClr>
              <a:buSzPct val="50000"/>
              <a:buFont typeface="Wingdings" pitchFamily="2" charset="2"/>
              <a:buChar char="u"/>
              <a:tabLst>
                <a:tab pos="285750" algn="l"/>
              </a:tabLst>
              <a:defRPr/>
            </a:pPr>
            <a:endParaRPr lang="en-US" sz="2600" dirty="0"/>
          </a:p>
          <a:p>
            <a:pPr marL="342900" marR="13335" indent="-342900" algn="just">
              <a:buClr>
                <a:srgbClr val="973735"/>
              </a:buClr>
              <a:buSzPct val="50000"/>
              <a:buFont typeface="Wingdings" pitchFamily="2" charset="2"/>
              <a:buChar char="u"/>
              <a:tabLst>
                <a:tab pos="285750" algn="l"/>
              </a:tabLst>
              <a:defRPr/>
            </a:pPr>
            <a:endParaRPr lang="en-US" sz="2600" dirty="0"/>
          </a:p>
          <a:p>
            <a:pPr marL="342900" marR="13335" indent="-342900" algn="just">
              <a:buClr>
                <a:srgbClr val="973735"/>
              </a:buClr>
              <a:buSzPct val="50000"/>
              <a:buFont typeface="Wingdings" pitchFamily="2" charset="2"/>
              <a:buChar char="u"/>
              <a:tabLst>
                <a:tab pos="285750" algn="l"/>
              </a:tabLst>
              <a:defRPr/>
            </a:pPr>
            <a:endParaRPr lang="en-US" sz="2600" dirty="0"/>
          </a:p>
          <a:p>
            <a:pPr marL="342900" marR="13335" indent="-342900" algn="just">
              <a:buClr>
                <a:srgbClr val="973735"/>
              </a:buClr>
              <a:buSzPct val="50000"/>
              <a:buFont typeface="Wingdings" pitchFamily="2" charset="2"/>
              <a:buChar char="u"/>
              <a:tabLst>
                <a:tab pos="285750" algn="l"/>
              </a:tabLst>
              <a:defRPr/>
            </a:pPr>
            <a:endParaRPr lang="en-US" sz="2600" dirty="0"/>
          </a:p>
          <a:p>
            <a:pPr marL="342900" marR="13335" indent="-342900" algn="just">
              <a:buClr>
                <a:srgbClr val="973735"/>
              </a:buClr>
              <a:buSzPct val="50000"/>
              <a:buFont typeface="Wingdings" pitchFamily="2" charset="2"/>
              <a:buChar char="u"/>
              <a:tabLst>
                <a:tab pos="285750" algn="l"/>
              </a:tabLst>
              <a:defRPr/>
            </a:pPr>
            <a:r>
              <a:rPr lang="en-US" sz="2600" dirty="0"/>
              <a:t>The </a:t>
            </a:r>
            <a:r>
              <a:rPr lang="en-US" sz="2600" i="1" dirty="0"/>
              <a:t>where T : </a:t>
            </a:r>
            <a:r>
              <a:rPr lang="en-US" sz="2600" i="1" dirty="0" err="1"/>
              <a:t>IComparable</a:t>
            </a:r>
            <a:r>
              <a:rPr lang="en-US" sz="2600" i="1" dirty="0"/>
              <a:t>&lt;T&gt; </a:t>
            </a:r>
            <a:r>
              <a:rPr lang="en-US" sz="2600" dirty="0"/>
              <a:t>constraint specifies that the type parameter T must implement the </a:t>
            </a:r>
            <a:r>
              <a:rPr lang="en-US" sz="2600" dirty="0" err="1"/>
              <a:t>IComparable</a:t>
            </a:r>
            <a:r>
              <a:rPr lang="en-US" sz="2600" dirty="0"/>
              <a:t>&lt;T&gt; interface. This allows the </a:t>
            </a:r>
            <a:r>
              <a:rPr lang="en-US" sz="2600" dirty="0" err="1"/>
              <a:t>CompareTo</a:t>
            </a:r>
            <a:r>
              <a:rPr lang="en-US" sz="2600" dirty="0"/>
              <a:t> method to be defined within the class.</a:t>
            </a:r>
          </a:p>
        </p:txBody>
      </p:sp>
      <p:pic>
        <p:nvPicPr>
          <p:cNvPr id="2" name="Picture 1"/>
          <p:cNvPicPr>
            <a:picLocks noChangeAspect="1"/>
          </p:cNvPicPr>
          <p:nvPr/>
        </p:nvPicPr>
        <p:blipFill>
          <a:blip r:embed="rId3"/>
          <a:stretch>
            <a:fillRect/>
          </a:stretch>
        </p:blipFill>
        <p:spPr>
          <a:xfrm>
            <a:off x="2781708" y="2448295"/>
            <a:ext cx="5656642" cy="2010583"/>
          </a:xfrm>
          <a:prstGeom prst="rect">
            <a:avLst/>
          </a:prstGeom>
        </p:spPr>
      </p:pic>
    </p:spTree>
    <p:extLst>
      <p:ext uri="{BB962C8B-B14F-4D97-AF65-F5344CB8AC3E}">
        <p14:creationId xmlns:p14="http://schemas.microsoft.com/office/powerpoint/2010/main" val="845491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17</a:t>
            </a:fld>
            <a:endParaRPr lang="en-US" dirty="0"/>
          </a:p>
        </p:txBody>
      </p:sp>
      <p:sp>
        <p:nvSpPr>
          <p:cNvPr id="9" name="object 3">
            <a:extLst>
              <a:ext uri="{FF2B5EF4-FFF2-40B4-BE49-F238E27FC236}">
                <a16:creationId xmlns:a16="http://schemas.microsoft.com/office/drawing/2014/main" id="{4A592FAE-E698-4822-A27E-22BD49321AF8}"/>
              </a:ext>
            </a:extLst>
          </p:cNvPr>
          <p:cNvSpPr txBox="1"/>
          <p:nvPr/>
        </p:nvSpPr>
        <p:spPr>
          <a:xfrm>
            <a:off x="30890" y="1466453"/>
            <a:ext cx="12107917" cy="4737194"/>
          </a:xfrm>
          <a:prstGeom prst="rect">
            <a:avLst/>
          </a:prstGeom>
        </p:spPr>
        <p:txBody>
          <a:bodyPr vert="horz" wrap="square" lIns="0" tIns="12700" rIns="0" bIns="0" rtlCol="0">
            <a:spAutoFit/>
          </a:bodyPr>
          <a:lstStyle/>
          <a:p>
            <a:pPr marL="342900" marR="13335" indent="-342900" algn="just">
              <a:spcBef>
                <a:spcPts val="1100"/>
              </a:spcBef>
              <a:spcAft>
                <a:spcPts val="1100"/>
              </a:spcAft>
              <a:buClr>
                <a:srgbClr val="973735"/>
              </a:buClr>
              <a:buSzPct val="50000"/>
              <a:buFont typeface="Wingdings" pitchFamily="2" charset="2"/>
              <a:buChar char="u"/>
              <a:tabLst>
                <a:tab pos="285750" algn="l"/>
              </a:tabLst>
              <a:defRPr/>
            </a:pPr>
            <a:r>
              <a:rPr lang="en-US" sz="2800" dirty="0"/>
              <a:t>It is often useful to define interfaces either for generic collection classes, or for the generic classes that represent items in the collection</a:t>
            </a:r>
          </a:p>
          <a:p>
            <a:pPr marL="342900" marR="13335" indent="-342900" algn="just">
              <a:spcBef>
                <a:spcPts val="1100"/>
              </a:spcBef>
              <a:spcAft>
                <a:spcPts val="1100"/>
              </a:spcAft>
              <a:buClr>
                <a:srgbClr val="973735"/>
              </a:buClr>
              <a:buSzPct val="50000"/>
              <a:buFont typeface="Wingdings" pitchFamily="2" charset="2"/>
              <a:buChar char="u"/>
              <a:tabLst>
                <a:tab pos="285750" algn="l"/>
              </a:tabLst>
              <a:defRPr/>
            </a:pPr>
            <a:r>
              <a:rPr lang="en-US" sz="2800" dirty="0"/>
              <a:t>The preference for generic classes is to use generic interfaces, such as </a:t>
            </a:r>
            <a:r>
              <a:rPr lang="en-US" sz="2800" dirty="0" err="1"/>
              <a:t>IComparable</a:t>
            </a:r>
            <a:r>
              <a:rPr lang="en-US" sz="2800" dirty="0"/>
              <a:t>&lt;T&gt; rather than </a:t>
            </a:r>
            <a:r>
              <a:rPr lang="en-US" sz="2800" dirty="0" err="1"/>
              <a:t>IComparable</a:t>
            </a:r>
            <a:r>
              <a:rPr lang="en-US" sz="2800" dirty="0"/>
              <a:t>, in order to avoid boxing and unboxing operations on value types</a:t>
            </a:r>
          </a:p>
          <a:p>
            <a:pPr marL="342900" marR="13335" indent="-342900" algn="just">
              <a:spcBef>
                <a:spcPts val="1100"/>
              </a:spcBef>
              <a:spcAft>
                <a:spcPts val="1100"/>
              </a:spcAft>
              <a:buClr>
                <a:srgbClr val="973735"/>
              </a:buClr>
              <a:buSzPct val="50000"/>
              <a:buFont typeface="Wingdings" pitchFamily="2" charset="2"/>
              <a:buChar char="u"/>
              <a:tabLst>
                <a:tab pos="285750" algn="l"/>
              </a:tabLst>
              <a:defRPr/>
            </a:pPr>
            <a:r>
              <a:rPr lang="en-US" sz="2800" dirty="0"/>
              <a:t>The .NET class library defines several generic interfaces for use with the collection classes in the </a:t>
            </a:r>
            <a:r>
              <a:rPr lang="en-US" sz="2800" dirty="0" err="1"/>
              <a:t>System.Collections.Generic</a:t>
            </a:r>
            <a:r>
              <a:rPr lang="en-US" sz="2800" dirty="0"/>
              <a:t> namespace</a:t>
            </a:r>
          </a:p>
          <a:p>
            <a:pPr marL="342900" marR="13335" indent="-342900" algn="just">
              <a:spcBef>
                <a:spcPts val="1100"/>
              </a:spcBef>
              <a:spcAft>
                <a:spcPts val="1100"/>
              </a:spcAft>
              <a:buClr>
                <a:srgbClr val="973735"/>
              </a:buClr>
              <a:buSzPct val="50000"/>
              <a:buFont typeface="Wingdings" pitchFamily="2" charset="2"/>
              <a:buChar char="u"/>
              <a:tabLst>
                <a:tab pos="285750" algn="l"/>
              </a:tabLst>
              <a:defRPr/>
            </a:pPr>
            <a:r>
              <a:rPr lang="en-US" sz="2800" dirty="0"/>
              <a:t>When an interface is specified as a constraint on a type parameter, only types that implement the interface can be used</a:t>
            </a:r>
            <a:endParaRPr sz="2800"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8043040" cy="498723"/>
          </a:xfrm>
        </p:spPr>
        <p:txBody>
          <a:bodyPr>
            <a:noAutofit/>
          </a:bodyPr>
          <a:lstStyle/>
          <a:p>
            <a:pPr>
              <a:lnSpc>
                <a:spcPct val="80000"/>
              </a:lnSpc>
            </a:pPr>
            <a:r>
              <a:rPr lang="en-US" sz="4000" b="1"/>
              <a:t>Generic Interfaces </a:t>
            </a:r>
            <a:endParaRPr lang="en-US" sz="4000" b="1" dirty="0"/>
          </a:p>
        </p:txBody>
      </p:sp>
    </p:spTree>
    <p:extLst>
      <p:ext uri="{BB962C8B-B14F-4D97-AF65-F5344CB8AC3E}">
        <p14:creationId xmlns:p14="http://schemas.microsoft.com/office/powerpoint/2010/main" val="1448745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18</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8043040" cy="498723"/>
          </a:xfrm>
        </p:spPr>
        <p:txBody>
          <a:bodyPr>
            <a:noAutofit/>
          </a:bodyPr>
          <a:lstStyle/>
          <a:p>
            <a:pPr>
              <a:lnSpc>
                <a:spcPct val="80000"/>
              </a:lnSpc>
            </a:pPr>
            <a:r>
              <a:rPr lang="en-US" sz="4000" b="1"/>
              <a:t>Generic Interfaces </a:t>
            </a:r>
            <a:endParaRPr lang="en-US" sz="4000" b="1" dirty="0"/>
          </a:p>
        </p:txBody>
      </p:sp>
      <p:pic>
        <p:nvPicPr>
          <p:cNvPr id="12" name="Picture 11">
            <a:extLst>
              <a:ext uri="{FF2B5EF4-FFF2-40B4-BE49-F238E27FC236}">
                <a16:creationId xmlns:a16="http://schemas.microsoft.com/office/drawing/2014/main" id="{FF027ED9-E09C-451A-83C5-EFDD3F4DADA9}"/>
              </a:ext>
            </a:extLst>
          </p:cNvPr>
          <p:cNvPicPr>
            <a:picLocks noChangeAspect="1"/>
          </p:cNvPicPr>
          <p:nvPr/>
        </p:nvPicPr>
        <p:blipFill>
          <a:blip r:embed="rId3"/>
          <a:stretch>
            <a:fillRect/>
          </a:stretch>
        </p:blipFill>
        <p:spPr>
          <a:xfrm>
            <a:off x="1" y="1643556"/>
            <a:ext cx="6096000" cy="3595688"/>
          </a:xfrm>
          <a:prstGeom prst="rect">
            <a:avLst/>
          </a:prstGeom>
        </p:spPr>
      </p:pic>
      <p:pic>
        <p:nvPicPr>
          <p:cNvPr id="14" name="Picture 13">
            <a:extLst>
              <a:ext uri="{FF2B5EF4-FFF2-40B4-BE49-F238E27FC236}">
                <a16:creationId xmlns:a16="http://schemas.microsoft.com/office/drawing/2014/main" id="{E88DC889-BD63-4D10-B3F7-D84F4E4D5288}"/>
              </a:ext>
            </a:extLst>
          </p:cNvPr>
          <p:cNvPicPr>
            <a:picLocks noChangeAspect="1"/>
          </p:cNvPicPr>
          <p:nvPr/>
        </p:nvPicPr>
        <p:blipFill>
          <a:blip r:embed="rId4"/>
          <a:stretch>
            <a:fillRect/>
          </a:stretch>
        </p:blipFill>
        <p:spPr>
          <a:xfrm>
            <a:off x="6124898" y="1923390"/>
            <a:ext cx="6067101" cy="3273439"/>
          </a:xfrm>
          <a:prstGeom prst="rect">
            <a:avLst/>
          </a:prstGeom>
        </p:spPr>
      </p:pic>
      <p:pic>
        <p:nvPicPr>
          <p:cNvPr id="16" name="Picture 15">
            <a:extLst>
              <a:ext uri="{FF2B5EF4-FFF2-40B4-BE49-F238E27FC236}">
                <a16:creationId xmlns:a16="http://schemas.microsoft.com/office/drawing/2014/main" id="{E51CCEB8-260A-4FB9-9347-15F23DA68500}"/>
              </a:ext>
            </a:extLst>
          </p:cNvPr>
          <p:cNvPicPr>
            <a:picLocks noChangeAspect="1"/>
          </p:cNvPicPr>
          <p:nvPr/>
        </p:nvPicPr>
        <p:blipFill>
          <a:blip r:embed="rId5"/>
          <a:stretch>
            <a:fillRect/>
          </a:stretch>
        </p:blipFill>
        <p:spPr>
          <a:xfrm>
            <a:off x="6931887" y="5377148"/>
            <a:ext cx="4329088" cy="1046024"/>
          </a:xfrm>
          <a:prstGeom prst="rect">
            <a:avLst/>
          </a:prstGeom>
        </p:spPr>
      </p:pic>
    </p:spTree>
    <p:extLst>
      <p:ext uri="{BB962C8B-B14F-4D97-AF65-F5344CB8AC3E}">
        <p14:creationId xmlns:p14="http://schemas.microsoft.com/office/powerpoint/2010/main" val="1282870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ABFEBAB-D98A-4152-8E7D-7971667D91D5}"/>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B449172B-3800-4236-802E-B1C87CBADD25}"/>
              </a:ext>
            </a:extLst>
          </p:cNvPr>
          <p:cNvSpPr>
            <a:spLocks noGrp="1"/>
          </p:cNvSpPr>
          <p:nvPr>
            <p:ph type="sldNum" sz="quarter" idx="12"/>
          </p:nvPr>
        </p:nvSpPr>
        <p:spPr/>
        <p:txBody>
          <a:bodyPr/>
          <a:lstStyle/>
          <a:p>
            <a:fld id="{CC0149FD-98BB-4821-915B-09C9BFE4B727}" type="slidenum">
              <a:rPr lang="en-US" smtClean="0"/>
              <a:pPr/>
              <a:t>19</a:t>
            </a:fld>
            <a:endParaRPr lang="en-US" dirty="0"/>
          </a:p>
        </p:txBody>
      </p:sp>
      <p:sp>
        <p:nvSpPr>
          <p:cNvPr id="8" name="Title 1">
            <a:extLst>
              <a:ext uri="{FF2B5EF4-FFF2-40B4-BE49-F238E27FC236}">
                <a16:creationId xmlns:a16="http://schemas.microsoft.com/office/drawing/2014/main" id="{96D51581-2E0D-4AE7-A63D-345DA91600B0}"/>
              </a:ext>
            </a:extLst>
          </p:cNvPr>
          <p:cNvSpPr>
            <a:spLocks noGrp="1"/>
          </p:cNvSpPr>
          <p:nvPr>
            <p:ph type="title"/>
          </p:nvPr>
        </p:nvSpPr>
        <p:spPr>
          <a:xfrm>
            <a:off x="270643" y="730987"/>
            <a:ext cx="8043040" cy="498723"/>
          </a:xfrm>
        </p:spPr>
        <p:txBody>
          <a:bodyPr>
            <a:noAutofit/>
          </a:bodyPr>
          <a:lstStyle/>
          <a:p>
            <a:pPr>
              <a:lnSpc>
                <a:spcPct val="80000"/>
              </a:lnSpc>
            </a:pPr>
            <a:r>
              <a:rPr lang="en-US" sz="4000" b="1"/>
              <a:t>Default Values in Generics</a:t>
            </a:r>
          </a:p>
        </p:txBody>
      </p:sp>
      <p:sp>
        <p:nvSpPr>
          <p:cNvPr id="10" name="TextBox 9">
            <a:extLst>
              <a:ext uri="{FF2B5EF4-FFF2-40B4-BE49-F238E27FC236}">
                <a16:creationId xmlns:a16="http://schemas.microsoft.com/office/drawing/2014/main" id="{4AE05B59-1C36-4892-B633-09C775DC8CE9}"/>
              </a:ext>
            </a:extLst>
          </p:cNvPr>
          <p:cNvSpPr txBox="1"/>
          <p:nvPr/>
        </p:nvSpPr>
        <p:spPr>
          <a:xfrm>
            <a:off x="-83187" y="1297386"/>
            <a:ext cx="12159958" cy="1305165"/>
          </a:xfrm>
          <a:prstGeom prst="rect">
            <a:avLst/>
          </a:prstGeom>
          <a:noFill/>
        </p:spPr>
        <p:txBody>
          <a:bodyPr wrap="square">
            <a:spAutoFit/>
          </a:bodyPr>
          <a:lstStyle/>
          <a:p>
            <a:pPr marL="342900" marR="13335" indent="-342900" algn="just">
              <a:lnSpc>
                <a:spcPct val="150000"/>
              </a:lnSpc>
              <a:spcBef>
                <a:spcPts val="600"/>
              </a:spcBef>
              <a:spcAft>
                <a:spcPts val="600"/>
              </a:spcAft>
              <a:buClr>
                <a:srgbClr val="973735"/>
              </a:buClr>
              <a:buSzPct val="50000"/>
              <a:buFont typeface="Wingdings" pitchFamily="2" charset="2"/>
              <a:buChar char="u"/>
              <a:tabLst>
                <a:tab pos="285750" algn="l"/>
              </a:tabLst>
              <a:defRPr/>
            </a:pPr>
            <a:r>
              <a:rPr lang="en-US" sz="2800"/>
              <a:t>With the </a:t>
            </a:r>
            <a:r>
              <a:rPr lang="en-US" sz="2800">
                <a:solidFill>
                  <a:srgbClr val="0070C0"/>
                </a:solidFill>
              </a:rPr>
              <a:t>default</a:t>
            </a:r>
            <a:r>
              <a:rPr lang="en-US" sz="2800"/>
              <a:t> keyword, </a:t>
            </a:r>
            <a:r>
              <a:rPr lang="en-US" sz="2800" b="1"/>
              <a:t>null</a:t>
            </a:r>
            <a:r>
              <a:rPr lang="en-US" sz="2800"/>
              <a:t> is assigned to reference types and </a:t>
            </a:r>
            <a:r>
              <a:rPr lang="en-US" sz="2800" b="1"/>
              <a:t>0</a:t>
            </a:r>
            <a:r>
              <a:rPr lang="en-US" sz="2800"/>
              <a:t> is assigned to value types</a:t>
            </a:r>
          </a:p>
        </p:txBody>
      </p:sp>
      <p:pic>
        <p:nvPicPr>
          <p:cNvPr id="12" name="Picture 11">
            <a:extLst>
              <a:ext uri="{FF2B5EF4-FFF2-40B4-BE49-F238E27FC236}">
                <a16:creationId xmlns:a16="http://schemas.microsoft.com/office/drawing/2014/main" id="{4A7D44A1-F394-4E86-B8EC-0228B8B0A9B3}"/>
              </a:ext>
            </a:extLst>
          </p:cNvPr>
          <p:cNvPicPr>
            <a:picLocks noChangeAspect="1"/>
          </p:cNvPicPr>
          <p:nvPr/>
        </p:nvPicPr>
        <p:blipFill>
          <a:blip r:embed="rId2"/>
          <a:stretch>
            <a:fillRect/>
          </a:stretch>
        </p:blipFill>
        <p:spPr>
          <a:xfrm>
            <a:off x="2299753" y="3008275"/>
            <a:ext cx="7993842" cy="2319586"/>
          </a:xfrm>
          <a:prstGeom prst="rect">
            <a:avLst/>
          </a:prstGeom>
        </p:spPr>
      </p:pic>
    </p:spTree>
    <p:extLst>
      <p:ext uri="{BB962C8B-B14F-4D97-AF65-F5344CB8AC3E}">
        <p14:creationId xmlns:p14="http://schemas.microsoft.com/office/powerpoint/2010/main" val="1608894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Collections in C#</a:t>
            </a:r>
            <a:endParaRPr lang="en-US" sz="4400" dirty="0">
              <a:solidFill>
                <a:schemeClr val="accent2"/>
              </a:solidFill>
            </a:endParaRPr>
          </a:p>
        </p:txBody>
      </p:sp>
    </p:spTree>
    <p:extLst>
      <p:ext uri="{BB962C8B-B14F-4D97-AF65-F5344CB8AC3E}">
        <p14:creationId xmlns:p14="http://schemas.microsoft.com/office/powerpoint/2010/main" val="1566113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21</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64649" y="773028"/>
            <a:ext cx="11154101" cy="498723"/>
          </a:xfrm>
        </p:spPr>
        <p:txBody>
          <a:bodyPr>
            <a:noAutofit/>
          </a:bodyPr>
          <a:lstStyle/>
          <a:p>
            <a:pPr>
              <a:lnSpc>
                <a:spcPct val="80000"/>
              </a:lnSpc>
            </a:pPr>
            <a:r>
              <a:rPr lang="en-US" sz="4000" b="1"/>
              <a:t>Collection Interfaces and Types</a:t>
            </a:r>
            <a:endParaRPr lang="en-US" sz="4000" b="1" dirty="0"/>
          </a:p>
        </p:txBody>
      </p:sp>
      <p:sp>
        <p:nvSpPr>
          <p:cNvPr id="9" name="TextBox 8">
            <a:extLst>
              <a:ext uri="{FF2B5EF4-FFF2-40B4-BE49-F238E27FC236}">
                <a16:creationId xmlns:a16="http://schemas.microsoft.com/office/drawing/2014/main" id="{B4B1143B-D2E1-40E3-95A2-8355B08CD5BE}"/>
              </a:ext>
            </a:extLst>
          </p:cNvPr>
          <p:cNvSpPr txBox="1"/>
          <p:nvPr/>
        </p:nvSpPr>
        <p:spPr>
          <a:xfrm>
            <a:off x="-39757" y="1520927"/>
            <a:ext cx="12125739" cy="4708981"/>
          </a:xfrm>
          <a:prstGeom prst="rect">
            <a:avLst/>
          </a:prstGeom>
          <a:noFill/>
        </p:spPr>
        <p:txBody>
          <a:bodyPr wrap="square">
            <a:spAutoFit/>
          </a:bodyPr>
          <a:lstStyle/>
          <a:p>
            <a:pPr marL="342900" marR="13335" indent="-342900" algn="just">
              <a:spcBef>
                <a:spcPts val="600"/>
              </a:spcBef>
              <a:spcAft>
                <a:spcPts val="600"/>
              </a:spcAft>
              <a:buClr>
                <a:srgbClr val="973735"/>
              </a:buClr>
              <a:buSzPct val="50000"/>
              <a:buFont typeface="Wingdings" pitchFamily="2" charset="2"/>
              <a:buChar char="u"/>
              <a:tabLst>
                <a:tab pos="285750" algn="l"/>
              </a:tabLst>
              <a:defRPr/>
            </a:pPr>
            <a:r>
              <a:rPr lang="en-US" sz="2600" dirty="0"/>
              <a:t>Most collection classes are in the </a:t>
            </a:r>
            <a:r>
              <a:rPr lang="en-US" sz="2600" dirty="0" err="1"/>
              <a:t>System.Collections</a:t>
            </a:r>
            <a:r>
              <a:rPr lang="en-US" sz="2600" dirty="0"/>
              <a:t> and </a:t>
            </a:r>
            <a:r>
              <a:rPr lang="en-US" sz="2600" dirty="0" err="1"/>
              <a:t>System.Collections.Generic</a:t>
            </a:r>
            <a:r>
              <a:rPr lang="en-US" sz="2600" dirty="0"/>
              <a:t> namespaces</a:t>
            </a:r>
          </a:p>
          <a:p>
            <a:pPr marL="342900" marR="13335" indent="-342900" algn="just">
              <a:spcBef>
                <a:spcPts val="600"/>
              </a:spcBef>
              <a:spcAft>
                <a:spcPts val="600"/>
              </a:spcAft>
              <a:buClr>
                <a:srgbClr val="973735"/>
              </a:buClr>
              <a:buSzPct val="50000"/>
              <a:buFont typeface="Wingdings" pitchFamily="2" charset="2"/>
              <a:buChar char="u"/>
              <a:tabLst>
                <a:tab pos="285750" algn="l"/>
              </a:tabLst>
              <a:defRPr/>
            </a:pPr>
            <a:r>
              <a:rPr lang="en-US" sz="2600" dirty="0"/>
              <a:t>Generic collection classes are located in the </a:t>
            </a:r>
            <a:r>
              <a:rPr lang="en-US" sz="2600" dirty="0" err="1"/>
              <a:t>System.Collections.Generic</a:t>
            </a:r>
            <a:r>
              <a:rPr lang="en-US" sz="2600" dirty="0"/>
              <a:t> namespace</a:t>
            </a:r>
          </a:p>
          <a:p>
            <a:pPr marL="342900" marR="13335" indent="-342900" algn="just">
              <a:spcBef>
                <a:spcPts val="600"/>
              </a:spcBef>
              <a:spcAft>
                <a:spcPts val="600"/>
              </a:spcAft>
              <a:buClr>
                <a:srgbClr val="973735"/>
              </a:buClr>
              <a:buSzPct val="50000"/>
              <a:buFont typeface="Wingdings" pitchFamily="2" charset="2"/>
              <a:buChar char="u"/>
              <a:tabLst>
                <a:tab pos="285750" algn="l"/>
              </a:tabLst>
              <a:defRPr/>
            </a:pPr>
            <a:r>
              <a:rPr lang="en-US" sz="2600" dirty="0"/>
              <a:t>Collection classes that are specialized for a specific type are located in the </a:t>
            </a:r>
            <a:r>
              <a:rPr lang="en-US" sz="2600" dirty="0" err="1"/>
              <a:t>System.Collections.Specialized</a:t>
            </a:r>
            <a:r>
              <a:rPr lang="en-US" sz="2600" dirty="0"/>
              <a:t> namespace</a:t>
            </a:r>
          </a:p>
          <a:p>
            <a:pPr marL="342900" marR="13335" indent="-342900" algn="just">
              <a:spcBef>
                <a:spcPts val="600"/>
              </a:spcBef>
              <a:spcAft>
                <a:spcPts val="600"/>
              </a:spcAft>
              <a:buClr>
                <a:srgbClr val="973735"/>
              </a:buClr>
              <a:buSzPct val="50000"/>
              <a:buFont typeface="Wingdings" pitchFamily="2" charset="2"/>
              <a:buChar char="u"/>
              <a:tabLst>
                <a:tab pos="285750" algn="l"/>
              </a:tabLst>
              <a:defRPr/>
            </a:pPr>
            <a:r>
              <a:rPr lang="en-US" sz="2600" dirty="0"/>
              <a:t>Thread-safe collection classes are in the </a:t>
            </a:r>
            <a:r>
              <a:rPr lang="en-US" sz="2600" dirty="0" err="1"/>
              <a:t>System.Collections.Concurrent</a:t>
            </a:r>
            <a:r>
              <a:rPr lang="en-US" sz="2600" dirty="0"/>
              <a:t> namespace</a:t>
            </a:r>
          </a:p>
          <a:p>
            <a:pPr marL="342900" marR="13335" indent="-342900" algn="just">
              <a:spcBef>
                <a:spcPts val="600"/>
              </a:spcBef>
              <a:spcAft>
                <a:spcPts val="600"/>
              </a:spcAft>
              <a:buClr>
                <a:srgbClr val="973735"/>
              </a:buClr>
              <a:buSzPct val="50000"/>
              <a:buFont typeface="Wingdings" pitchFamily="2" charset="2"/>
              <a:buChar char="u"/>
              <a:tabLst>
                <a:tab pos="285750" algn="l"/>
              </a:tabLst>
              <a:defRPr/>
            </a:pPr>
            <a:r>
              <a:rPr lang="en-US" sz="2600" dirty="0"/>
              <a:t>The following table describes the most important interfaces implemented by collections and lists </a:t>
            </a:r>
          </a:p>
        </p:txBody>
      </p:sp>
    </p:spTree>
    <p:extLst>
      <p:ext uri="{BB962C8B-B14F-4D97-AF65-F5344CB8AC3E}">
        <p14:creationId xmlns:p14="http://schemas.microsoft.com/office/powerpoint/2010/main" val="1015352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564626-F388-41B1-9645-DD9E615E0BDA}"/>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4A5A61EC-A464-46E4-BCFC-B17B12B7AC16}"/>
              </a:ext>
            </a:extLst>
          </p:cNvPr>
          <p:cNvSpPr>
            <a:spLocks noGrp="1"/>
          </p:cNvSpPr>
          <p:nvPr>
            <p:ph type="sldNum" sz="quarter" idx="12"/>
          </p:nvPr>
        </p:nvSpPr>
        <p:spPr/>
        <p:txBody>
          <a:bodyPr/>
          <a:lstStyle/>
          <a:p>
            <a:fld id="{CC0149FD-98BB-4821-915B-09C9BFE4B727}" type="slidenum">
              <a:rPr lang="en-US" smtClean="0"/>
              <a:pPr/>
              <a:t>22</a:t>
            </a:fld>
            <a:endParaRPr lang="en-US" dirty="0"/>
          </a:p>
        </p:txBody>
      </p:sp>
      <p:sp>
        <p:nvSpPr>
          <p:cNvPr id="6" name="Title 1">
            <a:extLst>
              <a:ext uri="{FF2B5EF4-FFF2-40B4-BE49-F238E27FC236}">
                <a16:creationId xmlns:a16="http://schemas.microsoft.com/office/drawing/2014/main" id="{113ECD55-AA3C-411C-8989-4C82C8D88A90}"/>
              </a:ext>
            </a:extLst>
          </p:cNvPr>
          <p:cNvSpPr>
            <a:spLocks noGrp="1"/>
          </p:cNvSpPr>
          <p:nvPr>
            <p:ph type="title"/>
          </p:nvPr>
        </p:nvSpPr>
        <p:spPr>
          <a:xfrm>
            <a:off x="-19419" y="1622686"/>
            <a:ext cx="11054992" cy="312131"/>
          </a:xfrm>
        </p:spPr>
        <p:txBody>
          <a:bodyPr>
            <a:noAutofit/>
          </a:bodyPr>
          <a:lstStyle/>
          <a:p>
            <a:pPr marL="342900" marR="13335" indent="-342900" algn="just">
              <a:lnSpc>
                <a:spcPct val="100000"/>
              </a:lnSpc>
              <a:spcBef>
                <a:spcPts val="0"/>
              </a:spcBef>
              <a:buClr>
                <a:srgbClr val="973735"/>
              </a:buClr>
              <a:buSzPct val="50000"/>
              <a:buFont typeface="Wingdings" pitchFamily="2" charset="2"/>
              <a:buChar char="u"/>
              <a:tabLst>
                <a:tab pos="285750" algn="l"/>
              </a:tabLst>
              <a:defRPr/>
            </a:pPr>
            <a:r>
              <a:rPr lang="en-US" sz="2600">
                <a:latin typeface="+mn-lt"/>
                <a:ea typeface="+mn-ea"/>
                <a:cs typeface="+mn-cs"/>
              </a:rPr>
              <a:t>Key Interfaces Supported by Classes of System.Collections.Generic</a:t>
            </a:r>
            <a:endParaRPr lang="en-US" sz="2600" dirty="0">
              <a:latin typeface="+mn-lt"/>
              <a:ea typeface="+mn-ea"/>
              <a:cs typeface="+mn-cs"/>
            </a:endParaRPr>
          </a:p>
        </p:txBody>
      </p:sp>
      <p:graphicFrame>
        <p:nvGraphicFramePr>
          <p:cNvPr id="7" name="Table 6">
            <a:extLst>
              <a:ext uri="{FF2B5EF4-FFF2-40B4-BE49-F238E27FC236}">
                <a16:creationId xmlns:a16="http://schemas.microsoft.com/office/drawing/2014/main" id="{8A4B7D96-B9C1-416D-94C9-2FDEBB0C3949}"/>
              </a:ext>
            </a:extLst>
          </p:cNvPr>
          <p:cNvGraphicFramePr>
            <a:graphicFrameLocks noGrp="1"/>
          </p:cNvGraphicFramePr>
          <p:nvPr>
            <p:extLst>
              <p:ext uri="{D42A27DB-BD31-4B8C-83A1-F6EECF244321}">
                <p14:modId xmlns:p14="http://schemas.microsoft.com/office/powerpoint/2010/main" val="144401164"/>
              </p:ext>
            </p:extLst>
          </p:nvPr>
        </p:nvGraphicFramePr>
        <p:xfrm>
          <a:off x="99849" y="2108088"/>
          <a:ext cx="11992302" cy="4390728"/>
        </p:xfrm>
        <a:graphic>
          <a:graphicData uri="http://schemas.openxmlformats.org/drawingml/2006/table">
            <a:tbl>
              <a:tblPr firstRow="1" firstCol="1" bandRow="1"/>
              <a:tblGrid>
                <a:gridCol w="3862551">
                  <a:extLst>
                    <a:ext uri="{9D8B030D-6E8A-4147-A177-3AD203B41FA5}">
                      <a16:colId xmlns:a16="http://schemas.microsoft.com/office/drawing/2014/main" val="697101626"/>
                    </a:ext>
                  </a:extLst>
                </a:gridCol>
                <a:gridCol w="8129751">
                  <a:extLst>
                    <a:ext uri="{9D8B030D-6E8A-4147-A177-3AD203B41FA5}">
                      <a16:colId xmlns:a16="http://schemas.microsoft.com/office/drawing/2014/main" val="2938972651"/>
                    </a:ext>
                  </a:extLst>
                </a:gridCol>
              </a:tblGrid>
              <a:tr h="420412">
                <a:tc>
                  <a:txBody>
                    <a:bodyPr/>
                    <a:lstStyle/>
                    <a:p>
                      <a:pPr marL="0" marR="0" algn="l">
                        <a:lnSpc>
                          <a:spcPct val="107000"/>
                        </a:lnSpc>
                        <a:spcBef>
                          <a:spcPts val="0"/>
                        </a:spcBef>
                        <a:spcAft>
                          <a:spcPts val="0"/>
                        </a:spcAft>
                      </a:pPr>
                      <a:r>
                        <a:rPr lang="en-US" sz="2000" b="1">
                          <a:solidFill>
                            <a:srgbClr val="171717"/>
                          </a:solidFill>
                          <a:effectLst/>
                          <a:latin typeface="+mj-lt"/>
                          <a:ea typeface="Times New Roman" panose="02020603050405020304" pitchFamily="18" charset="0"/>
                          <a:cs typeface="Times New Roman" panose="02020603050405020304" pitchFamily="18" charset="0"/>
                        </a:rPr>
                        <a:t>Interface</a:t>
                      </a:r>
                      <a:endParaRPr lang="en-US" sz="20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C5E0B3"/>
                    </a:solidFill>
                  </a:tcPr>
                </a:tc>
                <a:tc>
                  <a:txBody>
                    <a:bodyPr/>
                    <a:lstStyle/>
                    <a:p>
                      <a:pPr marL="0" marR="0" algn="l">
                        <a:lnSpc>
                          <a:spcPct val="107000"/>
                        </a:lnSpc>
                        <a:spcBef>
                          <a:spcPts val="0"/>
                        </a:spcBef>
                        <a:spcAft>
                          <a:spcPts val="0"/>
                        </a:spcAft>
                      </a:pPr>
                      <a:r>
                        <a:rPr lang="en-US" sz="2000" b="1">
                          <a:solidFill>
                            <a:srgbClr val="171717"/>
                          </a:solidFill>
                          <a:effectLst/>
                          <a:latin typeface="+mj-lt"/>
                          <a:ea typeface="Times New Roman" panose="02020603050405020304" pitchFamily="18" charset="0"/>
                          <a:cs typeface="Times New Roman" panose="02020603050405020304" pitchFamily="18" charset="0"/>
                        </a:rPr>
                        <a:t>Description</a:t>
                      </a:r>
                      <a:endParaRPr lang="en-US" sz="20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extLst>
                  <a:ext uri="{0D108BD9-81ED-4DB2-BD59-A6C34878D82A}">
                    <a16:rowId xmlns:a16="http://schemas.microsoft.com/office/drawing/2014/main" val="1437495248"/>
                  </a:ext>
                </a:extLst>
              </a:tr>
              <a:tr h="424079">
                <a:tc>
                  <a:txBody>
                    <a:bodyPr/>
                    <a:lstStyle/>
                    <a:p>
                      <a:pPr marL="0" marR="0" algn="l">
                        <a:lnSpc>
                          <a:spcPct val="107000"/>
                        </a:lnSpc>
                        <a:spcBef>
                          <a:spcPts val="0"/>
                        </a:spcBef>
                        <a:spcAft>
                          <a:spcPts val="0"/>
                        </a:spcAft>
                      </a:pPr>
                      <a:r>
                        <a:rPr lang="en-US" sz="2000" dirty="0" err="1">
                          <a:latin typeface="+mj-lt"/>
                        </a:rPr>
                        <a:t>ICollection</a:t>
                      </a:r>
                      <a:r>
                        <a:rPr lang="en-US" sz="2000" dirty="0">
                          <a:latin typeface="+mj-lt"/>
                        </a:rPr>
                        <a:t>&lt;T&gt; </a:t>
                      </a:r>
                      <a:endParaRPr lang="en-US" sz="20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2000">
                          <a:latin typeface="+mj-lt"/>
                        </a:rPr>
                        <a:t>Defines general characteristics (e.g., size, enumeration, and thread safety) for all generic collection types</a:t>
                      </a:r>
                      <a:endParaRPr lang="en-US" sz="20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748474295"/>
                  </a:ext>
                </a:extLst>
              </a:tr>
              <a:tr h="569395">
                <a:tc>
                  <a:txBody>
                    <a:bodyPr/>
                    <a:lstStyle/>
                    <a:p>
                      <a:pPr marL="0" marR="0" algn="l">
                        <a:lnSpc>
                          <a:spcPct val="107000"/>
                        </a:lnSpc>
                        <a:spcBef>
                          <a:spcPts val="0"/>
                        </a:spcBef>
                        <a:spcAft>
                          <a:spcPts val="0"/>
                        </a:spcAft>
                      </a:pPr>
                      <a:r>
                        <a:rPr lang="en-US" sz="2000" dirty="0" err="1">
                          <a:latin typeface="+mj-lt"/>
                        </a:rPr>
                        <a:t>IComparer</a:t>
                      </a:r>
                      <a:r>
                        <a:rPr lang="en-US" sz="2000" dirty="0">
                          <a:latin typeface="+mj-lt"/>
                        </a:rPr>
                        <a:t>&lt;T&gt;</a:t>
                      </a:r>
                      <a:endParaRPr lang="en-US" sz="20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2000">
                          <a:latin typeface="+mj-lt"/>
                        </a:rPr>
                        <a:t>Defines a way to compare to objects</a:t>
                      </a:r>
                      <a:endParaRPr lang="en-US" sz="20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3262103"/>
                  </a:ext>
                </a:extLst>
              </a:tr>
              <a:tr h="504496">
                <a:tc>
                  <a:txBody>
                    <a:bodyPr/>
                    <a:lstStyle/>
                    <a:p>
                      <a:pPr marL="0" marR="0" algn="l">
                        <a:lnSpc>
                          <a:spcPct val="107000"/>
                        </a:lnSpc>
                        <a:spcBef>
                          <a:spcPts val="0"/>
                        </a:spcBef>
                        <a:spcAft>
                          <a:spcPts val="0"/>
                        </a:spcAft>
                      </a:pPr>
                      <a:r>
                        <a:rPr lang="en-US" sz="2000" kern="1200" dirty="0" err="1">
                          <a:solidFill>
                            <a:schemeClr val="tx1"/>
                          </a:solidFill>
                          <a:effectLst/>
                          <a:latin typeface="+mj-lt"/>
                          <a:ea typeface="Calibri" panose="020F0502020204030204" pitchFamily="34" charset="0"/>
                          <a:cs typeface="Times New Roman" panose="02020603050405020304" pitchFamily="18" charset="0"/>
                        </a:rPr>
                        <a:t>IDictionary</a:t>
                      </a:r>
                      <a:r>
                        <a:rPr lang="en-US" sz="2000" kern="1200" dirty="0">
                          <a:solidFill>
                            <a:schemeClr val="tx1"/>
                          </a:solidFill>
                          <a:effectLst/>
                          <a:latin typeface="+mj-lt"/>
                          <a:ea typeface="Calibri" panose="020F0502020204030204" pitchFamily="34" charset="0"/>
                          <a:cs typeface="Times New Roman" panose="02020603050405020304" pitchFamily="18" charset="0"/>
                        </a:rPr>
                        <a:t>&lt;</a:t>
                      </a:r>
                      <a:r>
                        <a:rPr lang="en-US" sz="2000" kern="1200" dirty="0" err="1">
                          <a:solidFill>
                            <a:schemeClr val="tx1"/>
                          </a:solidFill>
                          <a:effectLst/>
                          <a:latin typeface="+mj-lt"/>
                          <a:ea typeface="Calibri" panose="020F0502020204030204" pitchFamily="34" charset="0"/>
                          <a:cs typeface="Times New Roman" panose="02020603050405020304" pitchFamily="18" charset="0"/>
                        </a:rPr>
                        <a:t>TKey,TValue</a:t>
                      </a:r>
                      <a:r>
                        <a:rPr lang="en-US" sz="2000" kern="1200" dirty="0">
                          <a:solidFill>
                            <a:schemeClr val="tx1"/>
                          </a:solidFill>
                          <a:effectLst/>
                          <a:latin typeface="+mj-lt"/>
                          <a:ea typeface="Calibri" panose="020F0502020204030204" pitchFamily="34" charset="0"/>
                          <a:cs typeface="Times New Roman" panose="02020603050405020304" pitchFamily="18" charset="0"/>
                        </a:rPr>
                        <a:t>&gt;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2000">
                          <a:latin typeface="+mj-lt"/>
                        </a:rPr>
                        <a:t>Allows a generic collection object to represent its contents using key-value pairs</a:t>
                      </a:r>
                      <a:endParaRPr lang="en-US" sz="20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541887838"/>
                  </a:ext>
                </a:extLst>
              </a:tr>
              <a:tr h="460219">
                <a:tc>
                  <a:txBody>
                    <a:bodyPr/>
                    <a:lstStyle/>
                    <a:p>
                      <a:pPr marL="0" marR="0" algn="l">
                        <a:lnSpc>
                          <a:spcPct val="107000"/>
                        </a:lnSpc>
                        <a:spcBef>
                          <a:spcPts val="0"/>
                        </a:spcBef>
                        <a:spcAft>
                          <a:spcPts val="0"/>
                        </a:spcAft>
                      </a:pPr>
                      <a:r>
                        <a:rPr lang="en-US" sz="2000">
                          <a:latin typeface="+mj-lt"/>
                        </a:rPr>
                        <a:t>IEnumerable/IAsyncEnumerable </a:t>
                      </a:r>
                      <a:endParaRPr lang="en-US" sz="20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2000">
                          <a:latin typeface="+mj-lt"/>
                        </a:rPr>
                        <a:t>Returns the IEnumerator interface for a given object</a:t>
                      </a:r>
                      <a:endParaRPr lang="en-US" sz="20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4802211"/>
                  </a:ext>
                </a:extLst>
              </a:tr>
              <a:tr h="503264">
                <a:tc>
                  <a:txBody>
                    <a:bodyPr/>
                    <a:lstStyle/>
                    <a:p>
                      <a:pPr marL="0" marR="0" algn="l">
                        <a:lnSpc>
                          <a:spcPct val="107000"/>
                        </a:lnSpc>
                        <a:spcBef>
                          <a:spcPts val="0"/>
                        </a:spcBef>
                        <a:spcAft>
                          <a:spcPts val="0"/>
                        </a:spcAft>
                      </a:pPr>
                      <a:r>
                        <a:rPr lang="en-US" sz="2000" dirty="0" err="1">
                          <a:latin typeface="+mj-lt"/>
                        </a:rPr>
                        <a:t>IEnumerator</a:t>
                      </a:r>
                      <a:endParaRPr lang="en-US" sz="20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2000">
                          <a:latin typeface="+mj-lt"/>
                        </a:rPr>
                        <a:t>Enables foreach-style iteration over a generic collection</a:t>
                      </a:r>
                      <a:endParaRPr lang="en-US" sz="20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157500704"/>
                  </a:ext>
                </a:extLst>
              </a:tr>
              <a:tr h="392352">
                <a:tc>
                  <a:txBody>
                    <a:bodyPr/>
                    <a:lstStyle/>
                    <a:p>
                      <a:pPr marL="0" marR="0" algn="l">
                        <a:lnSpc>
                          <a:spcPct val="107000"/>
                        </a:lnSpc>
                        <a:spcBef>
                          <a:spcPts val="0"/>
                        </a:spcBef>
                        <a:spcAft>
                          <a:spcPts val="0"/>
                        </a:spcAft>
                      </a:pPr>
                      <a:r>
                        <a:rPr lang="en-US" sz="2000" dirty="0" err="1">
                          <a:latin typeface="+mj-lt"/>
                        </a:rPr>
                        <a:t>IList</a:t>
                      </a:r>
                      <a:endParaRPr lang="en-US" sz="20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2000">
                          <a:latin typeface="+mj-lt"/>
                        </a:rPr>
                        <a:t>Provides behavior to add, remove, and index items in a sequential list of objects</a:t>
                      </a:r>
                      <a:endParaRPr lang="en-US" sz="20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5390960"/>
                  </a:ext>
                </a:extLst>
              </a:tr>
              <a:tr h="480622">
                <a:tc>
                  <a:txBody>
                    <a:bodyPr/>
                    <a:lstStyle/>
                    <a:p>
                      <a:pPr marL="0" marR="0" algn="l">
                        <a:lnSpc>
                          <a:spcPct val="107000"/>
                        </a:lnSpc>
                        <a:spcBef>
                          <a:spcPts val="0"/>
                        </a:spcBef>
                        <a:spcAft>
                          <a:spcPts val="0"/>
                        </a:spcAft>
                      </a:pPr>
                      <a:r>
                        <a:rPr lang="en-US" sz="2000">
                          <a:latin typeface="+mj-lt"/>
                        </a:rPr>
                        <a:t>ISet </a:t>
                      </a:r>
                      <a:endParaRPr lang="en-US" sz="20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2000" dirty="0">
                          <a:latin typeface="+mj-lt"/>
                        </a:rPr>
                        <a:t>Provides the base interface for the abstraction of sets</a:t>
                      </a:r>
                      <a:endParaRPr lang="en-US" sz="2000"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3093501416"/>
                  </a:ext>
                </a:extLst>
              </a:tr>
            </a:tbl>
          </a:graphicData>
        </a:graphic>
      </p:graphicFrame>
      <p:sp>
        <p:nvSpPr>
          <p:cNvPr id="8" name="Title 1">
            <a:extLst>
              <a:ext uri="{FF2B5EF4-FFF2-40B4-BE49-F238E27FC236}">
                <a16:creationId xmlns:a16="http://schemas.microsoft.com/office/drawing/2014/main" id="{45D17413-6921-4FA1-A741-7E2CE9E13263}"/>
              </a:ext>
            </a:extLst>
          </p:cNvPr>
          <p:cNvSpPr txBox="1">
            <a:spLocks/>
          </p:cNvSpPr>
          <p:nvPr/>
        </p:nvSpPr>
        <p:spPr>
          <a:xfrm>
            <a:off x="264649" y="773028"/>
            <a:ext cx="11154101" cy="49872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80000"/>
              </a:lnSpc>
            </a:pPr>
            <a:r>
              <a:rPr lang="en-US" sz="4000" b="1"/>
              <a:t>Collection Interfaces and Types</a:t>
            </a:r>
            <a:endParaRPr lang="en-US" sz="4000" b="1" dirty="0"/>
          </a:p>
        </p:txBody>
      </p:sp>
    </p:spTree>
    <p:extLst>
      <p:ext uri="{BB962C8B-B14F-4D97-AF65-F5344CB8AC3E}">
        <p14:creationId xmlns:p14="http://schemas.microsoft.com/office/powerpoint/2010/main" val="1608764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564626-F388-41B1-9645-DD9E615E0BDA}"/>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4A5A61EC-A464-46E4-BCFC-B17B12B7AC16}"/>
              </a:ext>
            </a:extLst>
          </p:cNvPr>
          <p:cNvSpPr>
            <a:spLocks noGrp="1"/>
          </p:cNvSpPr>
          <p:nvPr>
            <p:ph type="sldNum" sz="quarter" idx="12"/>
          </p:nvPr>
        </p:nvSpPr>
        <p:spPr/>
        <p:txBody>
          <a:bodyPr/>
          <a:lstStyle/>
          <a:p>
            <a:fld id="{CC0149FD-98BB-4821-915B-09C9BFE4B727}" type="slidenum">
              <a:rPr lang="en-US" smtClean="0"/>
              <a:pPr/>
              <a:t>23</a:t>
            </a:fld>
            <a:endParaRPr lang="en-US" dirty="0"/>
          </a:p>
        </p:txBody>
      </p:sp>
      <p:sp>
        <p:nvSpPr>
          <p:cNvPr id="6" name="Title 1">
            <a:extLst>
              <a:ext uri="{FF2B5EF4-FFF2-40B4-BE49-F238E27FC236}">
                <a16:creationId xmlns:a16="http://schemas.microsoft.com/office/drawing/2014/main" id="{113ECD55-AA3C-411C-8989-4C82C8D88A90}"/>
              </a:ext>
            </a:extLst>
          </p:cNvPr>
          <p:cNvSpPr>
            <a:spLocks noGrp="1"/>
          </p:cNvSpPr>
          <p:nvPr>
            <p:ph type="title"/>
          </p:nvPr>
        </p:nvSpPr>
        <p:spPr>
          <a:xfrm>
            <a:off x="-26504" y="1433383"/>
            <a:ext cx="8176591" cy="419111"/>
          </a:xfrm>
        </p:spPr>
        <p:txBody>
          <a:bodyPr>
            <a:noAutofit/>
          </a:bodyPr>
          <a:lstStyle/>
          <a:p>
            <a:pPr marL="342900" marR="13335" indent="-342900" algn="just">
              <a:lnSpc>
                <a:spcPct val="100000"/>
              </a:lnSpc>
              <a:spcBef>
                <a:spcPts val="0"/>
              </a:spcBef>
              <a:buClr>
                <a:srgbClr val="973735"/>
              </a:buClr>
              <a:buSzPct val="50000"/>
              <a:buFont typeface="Wingdings" pitchFamily="2" charset="2"/>
              <a:buChar char="u"/>
              <a:tabLst>
                <a:tab pos="285750" algn="l"/>
              </a:tabLst>
              <a:defRPr/>
            </a:pPr>
            <a:r>
              <a:rPr lang="en-US" sz="2600">
                <a:latin typeface="+mn-lt"/>
                <a:ea typeface="+mn-ea"/>
                <a:cs typeface="+mn-cs"/>
              </a:rPr>
              <a:t>Classes of System.Collections.Generic</a:t>
            </a:r>
            <a:endParaRPr lang="en-US" sz="2600" dirty="0">
              <a:latin typeface="+mn-lt"/>
              <a:ea typeface="+mn-ea"/>
              <a:cs typeface="+mn-cs"/>
            </a:endParaRPr>
          </a:p>
        </p:txBody>
      </p:sp>
      <p:graphicFrame>
        <p:nvGraphicFramePr>
          <p:cNvPr id="7" name="Table 6">
            <a:extLst>
              <a:ext uri="{FF2B5EF4-FFF2-40B4-BE49-F238E27FC236}">
                <a16:creationId xmlns:a16="http://schemas.microsoft.com/office/drawing/2014/main" id="{8A4B7D96-B9C1-416D-94C9-2FDEBB0C3949}"/>
              </a:ext>
            </a:extLst>
          </p:cNvPr>
          <p:cNvGraphicFramePr>
            <a:graphicFrameLocks noGrp="1"/>
          </p:cNvGraphicFramePr>
          <p:nvPr>
            <p:extLst>
              <p:ext uri="{D42A27DB-BD31-4B8C-83A1-F6EECF244321}">
                <p14:modId xmlns:p14="http://schemas.microsoft.com/office/powerpoint/2010/main" val="2571044592"/>
              </p:ext>
            </p:extLst>
          </p:nvPr>
        </p:nvGraphicFramePr>
        <p:xfrm>
          <a:off x="93936" y="1985014"/>
          <a:ext cx="12004128" cy="4587347"/>
        </p:xfrm>
        <a:graphic>
          <a:graphicData uri="http://schemas.openxmlformats.org/drawingml/2006/table">
            <a:tbl>
              <a:tblPr firstRow="1" firstCol="1" bandRow="1"/>
              <a:tblGrid>
                <a:gridCol w="3332436">
                  <a:extLst>
                    <a:ext uri="{9D8B030D-6E8A-4147-A177-3AD203B41FA5}">
                      <a16:colId xmlns:a16="http://schemas.microsoft.com/office/drawing/2014/main" val="697101626"/>
                    </a:ext>
                  </a:extLst>
                </a:gridCol>
                <a:gridCol w="4456387">
                  <a:extLst>
                    <a:ext uri="{9D8B030D-6E8A-4147-A177-3AD203B41FA5}">
                      <a16:colId xmlns:a16="http://schemas.microsoft.com/office/drawing/2014/main" val="2938972651"/>
                    </a:ext>
                  </a:extLst>
                </a:gridCol>
                <a:gridCol w="4215305">
                  <a:extLst>
                    <a:ext uri="{9D8B030D-6E8A-4147-A177-3AD203B41FA5}">
                      <a16:colId xmlns:a16="http://schemas.microsoft.com/office/drawing/2014/main" val="3346991751"/>
                    </a:ext>
                  </a:extLst>
                </a:gridCol>
              </a:tblGrid>
              <a:tr h="539946">
                <a:tc>
                  <a:txBody>
                    <a:bodyPr/>
                    <a:lstStyle/>
                    <a:p>
                      <a:pPr marL="0" marR="0" algn="l">
                        <a:lnSpc>
                          <a:spcPct val="107000"/>
                        </a:lnSpc>
                        <a:spcBef>
                          <a:spcPts val="0"/>
                        </a:spcBef>
                        <a:spcAft>
                          <a:spcPts val="0"/>
                        </a:spcAft>
                      </a:pPr>
                      <a:r>
                        <a:rPr lang="en-US" sz="2000" b="1">
                          <a:solidFill>
                            <a:srgbClr val="171717"/>
                          </a:solidFill>
                          <a:effectLst/>
                          <a:latin typeface="+mj-lt"/>
                          <a:ea typeface="Times New Roman" panose="02020603050405020304" pitchFamily="18" charset="0"/>
                          <a:cs typeface="Times New Roman" panose="02020603050405020304" pitchFamily="18" charset="0"/>
                        </a:rPr>
                        <a:t>Classes</a:t>
                      </a:r>
                      <a:endParaRPr lang="en-US" sz="2000" b="1" dirty="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C5E0B3"/>
                    </a:solidFill>
                  </a:tcPr>
                </a:tc>
                <a:tc>
                  <a:txBody>
                    <a:bodyPr/>
                    <a:lstStyle/>
                    <a:p>
                      <a:pPr marL="0" marR="0" algn="l">
                        <a:lnSpc>
                          <a:spcPct val="107000"/>
                        </a:lnSpc>
                        <a:spcBef>
                          <a:spcPts val="0"/>
                        </a:spcBef>
                        <a:spcAft>
                          <a:spcPts val="0"/>
                        </a:spcAft>
                      </a:pPr>
                      <a:r>
                        <a:rPr lang="en-US" sz="2000" b="1">
                          <a:effectLst/>
                          <a:latin typeface="+mj-lt"/>
                          <a:ea typeface="Calibri" panose="020F0502020204030204" pitchFamily="34" charset="0"/>
                          <a:cs typeface="Times New Roman" panose="02020603050405020304" pitchFamily="18" charset="0"/>
                        </a:rPr>
                        <a:t>Supported Key Interfaces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marL="0" marR="0" algn="l">
                        <a:lnSpc>
                          <a:spcPct val="107000"/>
                        </a:lnSpc>
                        <a:spcBef>
                          <a:spcPts val="0"/>
                        </a:spcBef>
                        <a:spcAft>
                          <a:spcPts val="0"/>
                        </a:spcAft>
                      </a:pPr>
                      <a:r>
                        <a:rPr lang="en-US" sz="2000" b="1" kern="1200">
                          <a:solidFill>
                            <a:srgbClr val="171717"/>
                          </a:solidFill>
                          <a:effectLst/>
                          <a:latin typeface="+mn-lt"/>
                          <a:ea typeface="Times New Roman" panose="02020603050405020304" pitchFamily="18" charset="0"/>
                          <a:cs typeface="Times New Roman" panose="02020603050405020304" pitchFamily="18" charset="0"/>
                        </a:rPr>
                        <a:t>Description</a:t>
                      </a:r>
                      <a:endParaRPr lang="en-US" sz="2000" b="1">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extLst>
                  <a:ext uri="{0D108BD9-81ED-4DB2-BD59-A6C34878D82A}">
                    <a16:rowId xmlns:a16="http://schemas.microsoft.com/office/drawing/2014/main" val="1437495248"/>
                  </a:ext>
                </a:extLst>
              </a:tr>
              <a:tr h="424079">
                <a:tc>
                  <a:txBody>
                    <a:bodyPr/>
                    <a:lstStyle/>
                    <a:p>
                      <a:pPr marL="0" marR="0" algn="l">
                        <a:lnSpc>
                          <a:spcPct val="107000"/>
                        </a:lnSpc>
                        <a:spcBef>
                          <a:spcPts val="0"/>
                        </a:spcBef>
                        <a:spcAft>
                          <a:spcPts val="0"/>
                        </a:spcAft>
                      </a:pPr>
                      <a:r>
                        <a:rPr lang="en-US" sz="1700">
                          <a:effectLst/>
                          <a:latin typeface="+mj-lt"/>
                          <a:ea typeface="Calibri" panose="020F0502020204030204" pitchFamily="34" charset="0"/>
                          <a:cs typeface="Times New Roman" panose="02020603050405020304" pitchFamily="18" charset="0"/>
                        </a:rPr>
                        <a:t>Dictionary&lt;TKey,TValue&gt;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700">
                          <a:effectLst/>
                          <a:latin typeface="+mj-lt"/>
                          <a:ea typeface="Calibri" panose="020F0502020204030204" pitchFamily="34" charset="0"/>
                          <a:cs typeface="Times New Roman" panose="02020603050405020304" pitchFamily="18" charset="0"/>
                        </a:rPr>
                        <a:t>ICollection&lt;T&gt;,IDictionary&lt;TKey,TValue&gt;, IEnumerable&lt;T&gt;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700">
                          <a:effectLst/>
                          <a:latin typeface="+mj-lt"/>
                          <a:ea typeface="Calibri" panose="020F0502020204030204" pitchFamily="34" charset="0"/>
                          <a:cs typeface="Times New Roman" panose="02020603050405020304" pitchFamily="18" charset="0"/>
                        </a:rPr>
                        <a:t>This represents a generic collection of</a:t>
                      </a:r>
                    </a:p>
                    <a:p>
                      <a:pPr marL="0" marR="0" algn="just">
                        <a:lnSpc>
                          <a:spcPct val="107000"/>
                        </a:lnSpc>
                        <a:spcBef>
                          <a:spcPts val="0"/>
                        </a:spcBef>
                        <a:spcAft>
                          <a:spcPts val="0"/>
                        </a:spcAft>
                      </a:pPr>
                      <a:r>
                        <a:rPr lang="en-US" sz="1700">
                          <a:effectLst/>
                          <a:latin typeface="+mj-lt"/>
                          <a:ea typeface="Calibri" panose="020F0502020204030204" pitchFamily="34" charset="0"/>
                          <a:cs typeface="Times New Roman" panose="02020603050405020304" pitchFamily="18" charset="0"/>
                        </a:rPr>
                        <a:t>keys and values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748474295"/>
                  </a:ext>
                </a:extLst>
              </a:tr>
              <a:tr h="443268">
                <a:tc>
                  <a:txBody>
                    <a:bodyPr/>
                    <a:lstStyle/>
                    <a:p>
                      <a:pPr marL="0" marR="0" algn="l">
                        <a:lnSpc>
                          <a:spcPct val="107000"/>
                        </a:lnSpc>
                        <a:spcBef>
                          <a:spcPts val="0"/>
                        </a:spcBef>
                        <a:spcAft>
                          <a:spcPts val="0"/>
                        </a:spcAft>
                      </a:pPr>
                      <a:r>
                        <a:rPr lang="en-US" sz="1700">
                          <a:effectLst/>
                          <a:latin typeface="+mj-lt"/>
                          <a:ea typeface="Calibri" panose="020F0502020204030204" pitchFamily="34" charset="0"/>
                          <a:cs typeface="Times New Roman" panose="02020603050405020304" pitchFamily="18" charset="0"/>
                        </a:rPr>
                        <a:t>LinkedList&lt;T&gt;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700" kern="1200">
                          <a:solidFill>
                            <a:schemeClr val="tx1"/>
                          </a:solidFill>
                          <a:effectLst/>
                          <a:latin typeface="+mj-lt"/>
                          <a:ea typeface="+mn-ea"/>
                          <a:cs typeface="+mn-cs"/>
                        </a:rPr>
                        <a:t>ICollection&lt;T&gt;, IEnumerable&lt;T&gt;</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700" kern="1200">
                          <a:solidFill>
                            <a:schemeClr val="tx1"/>
                          </a:solidFill>
                          <a:effectLst/>
                          <a:latin typeface="+mj-lt"/>
                          <a:ea typeface="+mn-ea"/>
                          <a:cs typeface="+mn-cs"/>
                        </a:rPr>
                        <a:t>This represents a doubly linked list</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3262103"/>
                  </a:ext>
                </a:extLst>
              </a:tr>
              <a:tr h="0">
                <a:tc>
                  <a:txBody>
                    <a:bodyPr/>
                    <a:lstStyle/>
                    <a:p>
                      <a:pPr marL="0" marR="0" algn="l">
                        <a:lnSpc>
                          <a:spcPct val="107000"/>
                        </a:lnSpc>
                        <a:spcBef>
                          <a:spcPts val="0"/>
                        </a:spcBef>
                        <a:spcAft>
                          <a:spcPts val="0"/>
                        </a:spcAft>
                      </a:pPr>
                      <a:r>
                        <a:rPr lang="en-US" sz="1700" kern="1200">
                          <a:solidFill>
                            <a:schemeClr val="tx1"/>
                          </a:solidFill>
                          <a:effectLst/>
                          <a:latin typeface="+mj-lt"/>
                          <a:ea typeface="Calibri" panose="020F0502020204030204" pitchFamily="34" charset="0"/>
                          <a:cs typeface="Times New Roman" panose="02020603050405020304" pitchFamily="18" charset="0"/>
                        </a:rPr>
                        <a:t>List&lt;T&gt;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kern="1200">
                          <a:solidFill>
                            <a:schemeClr val="tx1"/>
                          </a:solidFill>
                          <a:effectLst/>
                          <a:latin typeface="+mj-lt"/>
                          <a:ea typeface="+mn-ea"/>
                          <a:cs typeface="+mn-cs"/>
                        </a:rPr>
                        <a:t>ICollection&lt;T&gt;,IEnumerable&lt;T&gt;, IList&lt;T&gt;</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kern="1200">
                          <a:solidFill>
                            <a:schemeClr val="tx1"/>
                          </a:solidFill>
                          <a:effectLst/>
                          <a:latin typeface="+mj-lt"/>
                          <a:ea typeface="+mn-ea"/>
                          <a:cs typeface="+mn-cs"/>
                        </a:rPr>
                        <a:t>This is a dynamically resizable sequential list of items</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541887838"/>
                  </a:ext>
                </a:extLst>
              </a:tr>
              <a:tr h="460219">
                <a:tc>
                  <a:txBody>
                    <a:bodyPr/>
                    <a:lstStyle/>
                    <a:p>
                      <a:pPr marL="0" marR="0" algn="l">
                        <a:lnSpc>
                          <a:spcPct val="107000"/>
                        </a:lnSpc>
                        <a:spcBef>
                          <a:spcPts val="0"/>
                        </a:spcBef>
                        <a:spcAft>
                          <a:spcPts val="0"/>
                        </a:spcAft>
                      </a:pPr>
                      <a:r>
                        <a:rPr lang="en-US" sz="1700">
                          <a:latin typeface="+mj-lt"/>
                        </a:rPr>
                        <a:t>Queue&lt;T&gt;</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kern="1200">
                          <a:solidFill>
                            <a:schemeClr val="tx1"/>
                          </a:solidFill>
                          <a:effectLst/>
                          <a:latin typeface="+mj-lt"/>
                          <a:ea typeface="+mn-ea"/>
                          <a:cs typeface="+mn-cs"/>
                        </a:rPr>
                        <a:t>ICollection, IEnumerable&lt;T&gt;</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kern="1200">
                          <a:solidFill>
                            <a:schemeClr val="tx1"/>
                          </a:solidFill>
                          <a:effectLst/>
                          <a:latin typeface="+mj-lt"/>
                          <a:ea typeface="+mn-ea"/>
                          <a:cs typeface="+mn-cs"/>
                        </a:rPr>
                        <a:t>This is a generic implementation of a first-in, first-out list</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4802211"/>
                  </a:ext>
                </a:extLst>
              </a:tr>
              <a:tr h="503264">
                <a:tc>
                  <a:txBody>
                    <a:bodyPr/>
                    <a:lstStyle/>
                    <a:p>
                      <a:pPr marL="0" marR="0" algn="l">
                        <a:lnSpc>
                          <a:spcPct val="107000"/>
                        </a:lnSpc>
                        <a:spcBef>
                          <a:spcPts val="0"/>
                        </a:spcBef>
                        <a:spcAft>
                          <a:spcPts val="0"/>
                        </a:spcAft>
                      </a:pPr>
                      <a:r>
                        <a:rPr lang="en-US" sz="1700">
                          <a:latin typeface="+mj-lt"/>
                        </a:rPr>
                        <a:t>SortedDictionary&lt;TKey,TValue&gt;</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700" kern="1200">
                          <a:solidFill>
                            <a:schemeClr val="tx1"/>
                          </a:solidFill>
                          <a:effectLst/>
                          <a:latin typeface="+mj-lt"/>
                          <a:ea typeface="+mn-ea"/>
                          <a:cs typeface="+mn-cs"/>
                        </a:rPr>
                        <a:t>ICollection&lt;T&gt;,IDictionary&lt;TKey,TValue&gt;, IEnumerable&lt;T&gt;</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kern="1200">
                          <a:solidFill>
                            <a:schemeClr val="tx1"/>
                          </a:solidFill>
                          <a:effectLst/>
                          <a:latin typeface="+mj-lt"/>
                          <a:ea typeface="+mn-ea"/>
                          <a:cs typeface="+mn-cs"/>
                        </a:rPr>
                        <a:t>This is a generic implementation of a sorted set of key-value pairs</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1157500704"/>
                  </a:ext>
                </a:extLst>
              </a:tr>
              <a:tr h="392352">
                <a:tc>
                  <a:txBody>
                    <a:bodyPr/>
                    <a:lstStyle/>
                    <a:p>
                      <a:pPr marL="0" marR="0" algn="l">
                        <a:lnSpc>
                          <a:spcPct val="107000"/>
                        </a:lnSpc>
                        <a:spcBef>
                          <a:spcPts val="0"/>
                        </a:spcBef>
                        <a:spcAft>
                          <a:spcPts val="0"/>
                        </a:spcAft>
                      </a:pPr>
                      <a:r>
                        <a:rPr lang="en-US" sz="1700">
                          <a:effectLst/>
                          <a:latin typeface="+mj-lt"/>
                          <a:ea typeface="Calibri" panose="020F0502020204030204" pitchFamily="34" charset="0"/>
                          <a:cs typeface="Times New Roman" panose="02020603050405020304" pitchFamily="18" charset="0"/>
                        </a:rPr>
                        <a:t>SortedSet&lt;T&gt;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kern="1200">
                          <a:solidFill>
                            <a:schemeClr val="tx1"/>
                          </a:solidFill>
                          <a:effectLst/>
                          <a:latin typeface="+mj-lt"/>
                          <a:ea typeface="+mn-ea"/>
                          <a:cs typeface="+mn-cs"/>
                        </a:rPr>
                        <a:t>ICollection&lt;T&gt;,IEnumerable&lt;T&gt;, ISet&lt;T&gt;</a:t>
                      </a:r>
                      <a:endParaRPr lang="en-US" sz="1700">
                        <a:effectLst/>
                        <a:latin typeface="+mj-lt"/>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kern="1200">
                          <a:solidFill>
                            <a:schemeClr val="tx1"/>
                          </a:solidFill>
                          <a:effectLst/>
                          <a:latin typeface="+mj-lt"/>
                          <a:ea typeface="+mn-ea"/>
                          <a:cs typeface="+mn-cs"/>
                        </a:rPr>
                        <a:t>This represents a collection of objects that is maintained in sorted order with no duplication</a:t>
                      </a:r>
                      <a:endParaRPr lang="en-US" sz="170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5390960"/>
                  </a:ext>
                </a:extLst>
              </a:tr>
              <a:tr h="159129">
                <a:tc>
                  <a:txBody>
                    <a:bodyPr/>
                    <a:lstStyle/>
                    <a:p>
                      <a:pPr marL="0" marR="0" algn="l">
                        <a:lnSpc>
                          <a:spcPct val="107000"/>
                        </a:lnSpc>
                        <a:spcBef>
                          <a:spcPts val="0"/>
                        </a:spcBef>
                        <a:spcAft>
                          <a:spcPts val="0"/>
                        </a:spcAft>
                      </a:pPr>
                      <a:r>
                        <a:rPr lang="en-US" sz="1700">
                          <a:effectLst/>
                          <a:latin typeface="+mj-lt"/>
                          <a:ea typeface="Calibri" panose="020F0502020204030204" pitchFamily="34" charset="0"/>
                          <a:cs typeface="Times New Roman" panose="02020603050405020304" pitchFamily="18" charset="0"/>
                        </a:rPr>
                        <a:t>Stack&lt;T&gt;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FFFF"/>
                    </a:solidFill>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a:effectLst/>
                          <a:latin typeface="+mj-lt"/>
                          <a:ea typeface="Calibri" panose="020F0502020204030204" pitchFamily="34" charset="0"/>
                          <a:cs typeface="Times New Roman" panose="02020603050405020304" pitchFamily="18" charset="0"/>
                        </a:rPr>
                        <a:t>ICollection , IEnumerable&lt;T&gt;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700" kern="1200" dirty="0">
                          <a:solidFill>
                            <a:schemeClr val="tx1"/>
                          </a:solidFill>
                          <a:effectLst/>
                          <a:latin typeface="+mj-lt"/>
                          <a:ea typeface="+mn-ea"/>
                          <a:cs typeface="+mn-cs"/>
                        </a:rPr>
                        <a:t>This is a generic implementation of a last-in, first-out list</a:t>
                      </a:r>
                      <a:endParaRPr lang="en-US" sz="1700" dirty="0">
                        <a:effectLst/>
                        <a:latin typeface="+mj-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B9BD5"/>
                      </a:solidFill>
                      <a:prstDash val="solid"/>
                      <a:round/>
                      <a:headEnd type="none" w="med" len="med"/>
                      <a:tailEnd type="none" w="med" len="med"/>
                    </a:lnB>
                  </a:tcPr>
                </a:tc>
                <a:extLst>
                  <a:ext uri="{0D108BD9-81ED-4DB2-BD59-A6C34878D82A}">
                    <a16:rowId xmlns:a16="http://schemas.microsoft.com/office/drawing/2014/main" val="3093501416"/>
                  </a:ext>
                </a:extLst>
              </a:tr>
            </a:tbl>
          </a:graphicData>
        </a:graphic>
      </p:graphicFrame>
      <p:sp>
        <p:nvSpPr>
          <p:cNvPr id="8" name="Title 1">
            <a:extLst>
              <a:ext uri="{FF2B5EF4-FFF2-40B4-BE49-F238E27FC236}">
                <a16:creationId xmlns:a16="http://schemas.microsoft.com/office/drawing/2014/main" id="{3442D0CA-B6B7-4354-AEA2-E0D940733175}"/>
              </a:ext>
            </a:extLst>
          </p:cNvPr>
          <p:cNvSpPr txBox="1">
            <a:spLocks/>
          </p:cNvSpPr>
          <p:nvPr/>
        </p:nvSpPr>
        <p:spPr>
          <a:xfrm>
            <a:off x="264649" y="773028"/>
            <a:ext cx="11154101" cy="49872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80000"/>
              </a:lnSpc>
            </a:pPr>
            <a:r>
              <a:rPr lang="en-US" sz="4000" b="1"/>
              <a:t>Collection Interfaces and Types</a:t>
            </a:r>
            <a:endParaRPr lang="en-US" sz="4000" b="1" dirty="0"/>
          </a:p>
        </p:txBody>
      </p:sp>
    </p:spTree>
    <p:extLst>
      <p:ext uri="{BB962C8B-B14F-4D97-AF65-F5344CB8AC3E}">
        <p14:creationId xmlns:p14="http://schemas.microsoft.com/office/powerpoint/2010/main" val="356062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6593" y="1907880"/>
            <a:ext cx="10478814" cy="104828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Generics Collections Demo</a:t>
            </a:r>
            <a:endParaRPr lang="en-US" sz="4400" dirty="0">
              <a:solidFill>
                <a:schemeClr val="accent2"/>
              </a:solidFill>
            </a:endParaRPr>
          </a:p>
        </p:txBody>
      </p:sp>
      <p:sp>
        <p:nvSpPr>
          <p:cNvPr id="3" name="Title 1">
            <a:extLst>
              <a:ext uri="{FF2B5EF4-FFF2-40B4-BE49-F238E27FC236}">
                <a16:creationId xmlns:a16="http://schemas.microsoft.com/office/drawing/2014/main" id="{C6FC04B4-6879-4B42-B09F-2F8F70330208}"/>
              </a:ext>
            </a:extLst>
          </p:cNvPr>
          <p:cNvSpPr txBox="1">
            <a:spLocks/>
          </p:cNvSpPr>
          <p:nvPr/>
        </p:nvSpPr>
        <p:spPr>
          <a:xfrm>
            <a:off x="856593" y="2956161"/>
            <a:ext cx="10478814" cy="257478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571500" indent="-571500" algn="l">
              <a:buFont typeface="Wingdings" panose="05000000000000000000" pitchFamily="2" charset="2"/>
              <a:buChar char="§"/>
            </a:pPr>
            <a:r>
              <a:rPr lang="en-US" altLang="ko-KR" sz="4400" b="1">
                <a:solidFill>
                  <a:schemeClr val="accent2"/>
                </a:solidFill>
                <a:latin typeface="Arial" panose="020B0604020202020204" pitchFamily="34" charset="0"/>
                <a:cs typeface="Arial" panose="020B0604020202020204" pitchFamily="34" charset="0"/>
              </a:rPr>
              <a:t>List&lt;T&gt; Class</a:t>
            </a:r>
          </a:p>
          <a:p>
            <a:pPr marL="571500" indent="-571500" algn="l">
              <a:buFont typeface="Wingdings" panose="05000000000000000000" pitchFamily="2" charset="2"/>
              <a:buChar char="§"/>
            </a:pPr>
            <a:r>
              <a:rPr lang="en-US" altLang="ko-KR" sz="4400" b="1">
                <a:solidFill>
                  <a:schemeClr val="accent2"/>
                </a:solidFill>
                <a:latin typeface="Arial" panose="020B0604020202020204" pitchFamily="34" charset="0"/>
                <a:cs typeface="Arial" panose="020B0604020202020204" pitchFamily="34" charset="0"/>
              </a:rPr>
              <a:t>SortedSet&lt;T&gt; Class</a:t>
            </a:r>
          </a:p>
          <a:p>
            <a:pPr marL="571500" indent="-571500" algn="l">
              <a:buFont typeface="Wingdings" panose="05000000000000000000" pitchFamily="2" charset="2"/>
              <a:buChar char="§"/>
            </a:pPr>
            <a:r>
              <a:rPr lang="en-US" altLang="ko-KR" sz="4400" b="1">
                <a:solidFill>
                  <a:schemeClr val="accent2"/>
                </a:solidFill>
                <a:latin typeface="Arial" panose="020B0604020202020204" pitchFamily="34" charset="0"/>
                <a:cs typeface="Arial" panose="020B0604020202020204" pitchFamily="34" charset="0"/>
              </a:rPr>
              <a:t>IEnumerable&lt;T&gt; Interface </a:t>
            </a:r>
            <a:endParaRPr lang="en-US" sz="4400" dirty="0">
              <a:solidFill>
                <a:schemeClr val="accent2"/>
              </a:solidFill>
            </a:endParaRPr>
          </a:p>
        </p:txBody>
      </p:sp>
    </p:spTree>
    <p:extLst>
      <p:ext uri="{BB962C8B-B14F-4D97-AF65-F5344CB8AC3E}">
        <p14:creationId xmlns:p14="http://schemas.microsoft.com/office/powerpoint/2010/main" val="3141757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B8EE920-086D-42F7-9AF9-B7C9FDB18893}"/>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E64BB2EC-2515-4DE5-A36B-F18F36A4A1D7}"/>
              </a:ext>
            </a:extLst>
          </p:cNvPr>
          <p:cNvSpPr>
            <a:spLocks noGrp="1"/>
          </p:cNvSpPr>
          <p:nvPr>
            <p:ph type="sldNum" sz="quarter" idx="12"/>
          </p:nvPr>
        </p:nvSpPr>
        <p:spPr/>
        <p:txBody>
          <a:bodyPr/>
          <a:lstStyle/>
          <a:p>
            <a:fld id="{CC0149FD-98BB-4821-915B-09C9BFE4B727}" type="slidenum">
              <a:rPr lang="en-US" smtClean="0"/>
              <a:pPr/>
              <a:t>25</a:t>
            </a:fld>
            <a:endParaRPr lang="en-US" dirty="0"/>
          </a:p>
        </p:txBody>
      </p:sp>
      <p:sp>
        <p:nvSpPr>
          <p:cNvPr id="6" name="Title 1">
            <a:extLst>
              <a:ext uri="{FF2B5EF4-FFF2-40B4-BE49-F238E27FC236}">
                <a16:creationId xmlns:a16="http://schemas.microsoft.com/office/drawing/2014/main" id="{D3255E44-F749-4B5C-97C3-181D62D35EDD}"/>
              </a:ext>
            </a:extLst>
          </p:cNvPr>
          <p:cNvSpPr txBox="1">
            <a:spLocks/>
          </p:cNvSpPr>
          <p:nvPr/>
        </p:nvSpPr>
        <p:spPr>
          <a:xfrm>
            <a:off x="270643" y="771843"/>
            <a:ext cx="8043040" cy="49872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80000"/>
              </a:lnSpc>
            </a:pPr>
            <a:r>
              <a:rPr lang="en-US" sz="4000" b="1" dirty="0"/>
              <a:t>Working with the List&lt;T&gt; Class</a:t>
            </a:r>
          </a:p>
        </p:txBody>
      </p:sp>
      <p:sp>
        <p:nvSpPr>
          <p:cNvPr id="9" name="TextBox 8">
            <a:extLst>
              <a:ext uri="{FF2B5EF4-FFF2-40B4-BE49-F238E27FC236}">
                <a16:creationId xmlns:a16="http://schemas.microsoft.com/office/drawing/2014/main" id="{C0AEF8E9-8BE9-4B30-A345-A1CCCBDB22D1}"/>
              </a:ext>
            </a:extLst>
          </p:cNvPr>
          <p:cNvSpPr txBox="1"/>
          <p:nvPr/>
        </p:nvSpPr>
        <p:spPr>
          <a:xfrm>
            <a:off x="-53009" y="1371609"/>
            <a:ext cx="12099235" cy="5232202"/>
          </a:xfrm>
          <a:prstGeom prst="rect">
            <a:avLst/>
          </a:prstGeom>
          <a:noFill/>
        </p:spPr>
        <p:txBody>
          <a:bodyPr wrap="square">
            <a:spAutoFit/>
          </a:bodyPr>
          <a:lstStyle/>
          <a:p>
            <a:pPr marL="342900" marR="13335" indent="-342900" algn="just">
              <a:spcBef>
                <a:spcPts val="1200"/>
              </a:spcBef>
              <a:spcAft>
                <a:spcPts val="1200"/>
              </a:spcAft>
              <a:buClr>
                <a:srgbClr val="973735"/>
              </a:buClr>
              <a:buSzPct val="50000"/>
              <a:buFont typeface="Wingdings" pitchFamily="2" charset="2"/>
              <a:buChar char="u"/>
              <a:tabLst>
                <a:tab pos="285750" algn="l"/>
              </a:tabLst>
              <a:defRPr/>
            </a:pPr>
            <a:r>
              <a:rPr lang="en-US" sz="2600" dirty="0"/>
              <a:t>The List&lt;T&gt; is a collection of strongly typed objects that can be accessed by index and having methods for sorting, searching, and modifying list</a:t>
            </a:r>
          </a:p>
          <a:p>
            <a:pPr marL="342900" marR="13335" indent="-342900" algn="just">
              <a:spcBef>
                <a:spcPts val="1200"/>
              </a:spcBef>
              <a:spcAft>
                <a:spcPts val="1200"/>
              </a:spcAft>
              <a:buClr>
                <a:srgbClr val="973735"/>
              </a:buClr>
              <a:buSzPct val="50000"/>
              <a:buFont typeface="Wingdings" pitchFamily="2" charset="2"/>
              <a:buChar char="u"/>
              <a:tabLst>
                <a:tab pos="285750" algn="l"/>
              </a:tabLst>
              <a:defRPr/>
            </a:pPr>
            <a:r>
              <a:rPr lang="en-US" sz="2600" dirty="0"/>
              <a:t>List&lt;T&gt; equivalent of the </a:t>
            </a:r>
            <a:r>
              <a:rPr lang="en-US" sz="2600" dirty="0" err="1"/>
              <a:t>ArrayList</a:t>
            </a:r>
            <a:r>
              <a:rPr lang="en-US" sz="2600" dirty="0"/>
              <a:t>, which implements </a:t>
            </a:r>
            <a:r>
              <a:rPr lang="en-US" sz="2600" dirty="0" err="1"/>
              <a:t>IList</a:t>
            </a:r>
            <a:r>
              <a:rPr lang="en-US" sz="2600" dirty="0"/>
              <a:t>&lt;T&gt;</a:t>
            </a:r>
          </a:p>
          <a:p>
            <a:pPr marL="342900" marR="13335" indent="-342900" algn="just">
              <a:spcBef>
                <a:spcPts val="1200"/>
              </a:spcBef>
              <a:spcAft>
                <a:spcPts val="1200"/>
              </a:spcAft>
              <a:buClr>
                <a:srgbClr val="973735"/>
              </a:buClr>
              <a:buSzPct val="50000"/>
              <a:buFont typeface="Wingdings" pitchFamily="2" charset="2"/>
              <a:buChar char="u"/>
              <a:tabLst>
                <a:tab pos="285750" algn="l"/>
              </a:tabLst>
              <a:defRPr/>
            </a:pPr>
            <a:r>
              <a:rPr lang="en-US" sz="2600" dirty="0"/>
              <a:t>List&lt;T&gt; can contain elements of the specified type. It provides compile-time type checking and doesn't perform boxing-unboxing because it is generic</a:t>
            </a:r>
          </a:p>
          <a:p>
            <a:pPr marL="342900" marR="13335" indent="-342900" algn="just">
              <a:spcBef>
                <a:spcPts val="1200"/>
              </a:spcBef>
              <a:spcAft>
                <a:spcPts val="1200"/>
              </a:spcAft>
              <a:buClr>
                <a:srgbClr val="973735"/>
              </a:buClr>
              <a:buSzPct val="50000"/>
              <a:buFont typeface="Wingdings" pitchFamily="2" charset="2"/>
              <a:buChar char="u"/>
              <a:tabLst>
                <a:tab pos="285750" algn="l"/>
              </a:tabLst>
              <a:defRPr/>
            </a:pPr>
            <a:r>
              <a:rPr lang="en-US" sz="2600" dirty="0"/>
              <a:t>Elements can be added using the Add(), </a:t>
            </a:r>
            <a:r>
              <a:rPr lang="en-US" sz="2600" dirty="0" err="1"/>
              <a:t>AddRange</a:t>
            </a:r>
            <a:r>
              <a:rPr lang="en-US" sz="2600" dirty="0"/>
              <a:t>() methods or collection-initializer syntax</a:t>
            </a:r>
          </a:p>
          <a:p>
            <a:pPr marL="342900" marR="13335" indent="-342900" algn="just">
              <a:spcBef>
                <a:spcPts val="1200"/>
              </a:spcBef>
              <a:spcAft>
                <a:spcPts val="1200"/>
              </a:spcAft>
              <a:buClr>
                <a:srgbClr val="973735"/>
              </a:buClr>
              <a:buSzPct val="50000"/>
              <a:buFont typeface="Wingdings" pitchFamily="2" charset="2"/>
              <a:buChar char="u"/>
              <a:tabLst>
                <a:tab pos="285750" algn="l"/>
              </a:tabLst>
              <a:defRPr/>
            </a:pPr>
            <a:r>
              <a:rPr lang="en-US" sz="2600" dirty="0"/>
              <a:t>Elements can be accessed by passing an index. Indexes start from zero</a:t>
            </a:r>
          </a:p>
          <a:p>
            <a:pPr marL="342900" marR="13335" indent="-342900" algn="just">
              <a:spcBef>
                <a:spcPts val="1200"/>
              </a:spcBef>
              <a:spcAft>
                <a:spcPts val="1200"/>
              </a:spcAft>
              <a:buClr>
                <a:srgbClr val="973735"/>
              </a:buClr>
              <a:buSzPct val="50000"/>
              <a:buFont typeface="Wingdings" pitchFamily="2" charset="2"/>
              <a:buChar char="u"/>
              <a:tabLst>
                <a:tab pos="285750" algn="l"/>
              </a:tabLst>
              <a:defRPr/>
            </a:pPr>
            <a:r>
              <a:rPr lang="en-US" sz="2600" dirty="0"/>
              <a:t>List&lt;T&gt; performs faster and less error-prone than the </a:t>
            </a:r>
            <a:r>
              <a:rPr lang="en-US" sz="2600" dirty="0" err="1"/>
              <a:t>ArrayList</a:t>
            </a:r>
            <a:endParaRPr lang="en-US" sz="2600" dirty="0"/>
          </a:p>
        </p:txBody>
      </p:sp>
    </p:spTree>
    <p:extLst>
      <p:ext uri="{BB962C8B-B14F-4D97-AF65-F5344CB8AC3E}">
        <p14:creationId xmlns:p14="http://schemas.microsoft.com/office/powerpoint/2010/main" val="606807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B8EE920-086D-42F7-9AF9-B7C9FDB18893}"/>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E64BB2EC-2515-4DE5-A36B-F18F36A4A1D7}"/>
              </a:ext>
            </a:extLst>
          </p:cNvPr>
          <p:cNvSpPr>
            <a:spLocks noGrp="1"/>
          </p:cNvSpPr>
          <p:nvPr>
            <p:ph type="sldNum" sz="quarter" idx="12"/>
          </p:nvPr>
        </p:nvSpPr>
        <p:spPr/>
        <p:txBody>
          <a:bodyPr/>
          <a:lstStyle/>
          <a:p>
            <a:fld id="{CC0149FD-98BB-4821-915B-09C9BFE4B727}" type="slidenum">
              <a:rPr lang="en-US" smtClean="0"/>
              <a:pPr/>
              <a:t>26</a:t>
            </a:fld>
            <a:endParaRPr lang="en-US" dirty="0"/>
          </a:p>
        </p:txBody>
      </p:sp>
      <p:sp>
        <p:nvSpPr>
          <p:cNvPr id="6" name="Title 1">
            <a:extLst>
              <a:ext uri="{FF2B5EF4-FFF2-40B4-BE49-F238E27FC236}">
                <a16:creationId xmlns:a16="http://schemas.microsoft.com/office/drawing/2014/main" id="{D3255E44-F749-4B5C-97C3-181D62D35EDD}"/>
              </a:ext>
            </a:extLst>
          </p:cNvPr>
          <p:cNvSpPr txBox="1">
            <a:spLocks/>
          </p:cNvSpPr>
          <p:nvPr/>
        </p:nvSpPr>
        <p:spPr>
          <a:xfrm>
            <a:off x="270643" y="771843"/>
            <a:ext cx="8043040" cy="49872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80000"/>
              </a:lnSpc>
            </a:pPr>
            <a:r>
              <a:rPr lang="en-US" sz="4000" b="1" dirty="0"/>
              <a:t>Working with the List&lt;T&gt; Class</a:t>
            </a:r>
          </a:p>
        </p:txBody>
      </p:sp>
      <p:pic>
        <p:nvPicPr>
          <p:cNvPr id="12" name="Picture 11">
            <a:extLst>
              <a:ext uri="{FF2B5EF4-FFF2-40B4-BE49-F238E27FC236}">
                <a16:creationId xmlns:a16="http://schemas.microsoft.com/office/drawing/2014/main" id="{3E90C462-8D30-4BE1-994D-4D30C3C9B049}"/>
              </a:ext>
            </a:extLst>
          </p:cNvPr>
          <p:cNvPicPr>
            <a:picLocks noChangeAspect="1"/>
          </p:cNvPicPr>
          <p:nvPr/>
        </p:nvPicPr>
        <p:blipFill>
          <a:blip r:embed="rId2"/>
          <a:stretch>
            <a:fillRect/>
          </a:stretch>
        </p:blipFill>
        <p:spPr>
          <a:xfrm>
            <a:off x="0" y="1629427"/>
            <a:ext cx="5394061" cy="1660311"/>
          </a:xfrm>
          <a:prstGeom prst="rect">
            <a:avLst/>
          </a:prstGeom>
        </p:spPr>
      </p:pic>
      <p:pic>
        <p:nvPicPr>
          <p:cNvPr id="14" name="Picture 13">
            <a:extLst>
              <a:ext uri="{FF2B5EF4-FFF2-40B4-BE49-F238E27FC236}">
                <a16:creationId xmlns:a16="http://schemas.microsoft.com/office/drawing/2014/main" id="{541763B7-CEA8-4153-AF16-290514DB7858}"/>
              </a:ext>
            </a:extLst>
          </p:cNvPr>
          <p:cNvPicPr>
            <a:picLocks noChangeAspect="1"/>
          </p:cNvPicPr>
          <p:nvPr/>
        </p:nvPicPr>
        <p:blipFill>
          <a:blip r:embed="rId3"/>
          <a:stretch>
            <a:fillRect/>
          </a:stretch>
        </p:blipFill>
        <p:spPr>
          <a:xfrm>
            <a:off x="5546070" y="1671466"/>
            <a:ext cx="6645930" cy="4129145"/>
          </a:xfrm>
          <a:prstGeom prst="rect">
            <a:avLst/>
          </a:prstGeom>
        </p:spPr>
      </p:pic>
      <p:pic>
        <p:nvPicPr>
          <p:cNvPr id="16" name="Picture 15">
            <a:extLst>
              <a:ext uri="{FF2B5EF4-FFF2-40B4-BE49-F238E27FC236}">
                <a16:creationId xmlns:a16="http://schemas.microsoft.com/office/drawing/2014/main" id="{CE200250-3977-461D-A64A-AC3F881CC22B}"/>
              </a:ext>
            </a:extLst>
          </p:cNvPr>
          <p:cNvPicPr>
            <a:picLocks noChangeAspect="1"/>
          </p:cNvPicPr>
          <p:nvPr/>
        </p:nvPicPr>
        <p:blipFill>
          <a:blip r:embed="rId4"/>
          <a:stretch>
            <a:fillRect/>
          </a:stretch>
        </p:blipFill>
        <p:spPr>
          <a:xfrm>
            <a:off x="793531" y="4332337"/>
            <a:ext cx="3344917" cy="1663370"/>
          </a:xfrm>
          <a:prstGeom prst="rect">
            <a:avLst/>
          </a:prstGeom>
        </p:spPr>
      </p:pic>
    </p:spTree>
    <p:extLst>
      <p:ext uri="{BB962C8B-B14F-4D97-AF65-F5344CB8AC3E}">
        <p14:creationId xmlns:p14="http://schemas.microsoft.com/office/powerpoint/2010/main" val="4286947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27</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9451426" cy="498723"/>
          </a:xfrm>
        </p:spPr>
        <p:txBody>
          <a:bodyPr>
            <a:noAutofit/>
          </a:bodyPr>
          <a:lstStyle/>
          <a:p>
            <a:pPr>
              <a:lnSpc>
                <a:spcPct val="80000"/>
              </a:lnSpc>
            </a:pPr>
            <a:r>
              <a:rPr lang="en-US" sz="4000" b="1"/>
              <a:t>Working with the SortedSet&lt;T&gt; Class</a:t>
            </a:r>
            <a:endParaRPr lang="en-US" sz="4000" b="1" dirty="0"/>
          </a:p>
        </p:txBody>
      </p:sp>
      <p:sp>
        <p:nvSpPr>
          <p:cNvPr id="7" name="TextBox 6">
            <a:extLst>
              <a:ext uri="{FF2B5EF4-FFF2-40B4-BE49-F238E27FC236}">
                <a16:creationId xmlns:a16="http://schemas.microsoft.com/office/drawing/2014/main" id="{8B90CA17-06F8-4233-9445-4EEBEF52D6D0}"/>
              </a:ext>
            </a:extLst>
          </p:cNvPr>
          <p:cNvSpPr txBox="1"/>
          <p:nvPr/>
        </p:nvSpPr>
        <p:spPr>
          <a:xfrm>
            <a:off x="-46037" y="1439716"/>
            <a:ext cx="12132020" cy="4955203"/>
          </a:xfrm>
          <a:prstGeom prst="rect">
            <a:avLst/>
          </a:prstGeom>
          <a:noFill/>
        </p:spPr>
        <p:txBody>
          <a:bodyPr wrap="square">
            <a:spAutoFit/>
          </a:bodyPr>
          <a:lstStyle/>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err="1"/>
              <a:t>SortedSet</a:t>
            </a:r>
            <a:r>
              <a:rPr lang="en-US" sz="2600" dirty="0"/>
              <a:t> is a collection of objects in sorted order. It is of the generic type collection and defined under </a:t>
            </a:r>
            <a:r>
              <a:rPr lang="en-US" sz="2600" dirty="0" err="1"/>
              <a:t>System.Collections.Generic</a:t>
            </a:r>
            <a:r>
              <a:rPr lang="en-US" sz="2600" dirty="0"/>
              <a:t> namespace</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It also provides many mathematical set operations, such as intersection, union, and difference</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 It is a dynamic collection means the size of the </a:t>
            </a:r>
            <a:r>
              <a:rPr lang="en-US" sz="2600" dirty="0" err="1"/>
              <a:t>SortedSet</a:t>
            </a:r>
            <a:r>
              <a:rPr lang="en-US" sz="2600" dirty="0"/>
              <a:t> is automatically increased when the new elements are added</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In </a:t>
            </a:r>
            <a:r>
              <a:rPr lang="en-US" sz="2600" dirty="0" err="1"/>
              <a:t>SortedSet</a:t>
            </a:r>
            <a:r>
              <a:rPr lang="en-US" sz="2600" dirty="0"/>
              <a:t>, the elements must be unique and the order of the element is ascending</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It is generally used </a:t>
            </a:r>
            <a:r>
              <a:rPr lang="en-US" sz="2600" dirty="0" err="1"/>
              <a:t>SortedSet</a:t>
            </a:r>
            <a:r>
              <a:rPr lang="en-US" sz="2600" dirty="0"/>
              <a:t> class if we have to store unique elements and maintain ascending order</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dirty="0"/>
              <a:t>In </a:t>
            </a:r>
            <a:r>
              <a:rPr lang="en-US" sz="2600" dirty="0" err="1"/>
              <a:t>SortedSet</a:t>
            </a:r>
            <a:r>
              <a:rPr lang="en-US" sz="2600" dirty="0"/>
              <a:t>, the we can only store the same type of elements</a:t>
            </a:r>
          </a:p>
        </p:txBody>
      </p:sp>
    </p:spTree>
    <p:extLst>
      <p:ext uri="{BB962C8B-B14F-4D97-AF65-F5344CB8AC3E}">
        <p14:creationId xmlns:p14="http://schemas.microsoft.com/office/powerpoint/2010/main" val="1996305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28</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9451426" cy="498723"/>
          </a:xfrm>
        </p:spPr>
        <p:txBody>
          <a:bodyPr>
            <a:noAutofit/>
          </a:bodyPr>
          <a:lstStyle/>
          <a:p>
            <a:pPr>
              <a:lnSpc>
                <a:spcPct val="80000"/>
              </a:lnSpc>
            </a:pPr>
            <a:r>
              <a:rPr lang="en-US" sz="4000" b="1"/>
              <a:t>Working with the SortedSet&lt;T&gt; Class</a:t>
            </a:r>
            <a:endParaRPr lang="en-US" sz="4000" b="1" dirty="0"/>
          </a:p>
        </p:txBody>
      </p:sp>
      <p:pic>
        <p:nvPicPr>
          <p:cNvPr id="6" name="Picture 5">
            <a:extLst>
              <a:ext uri="{FF2B5EF4-FFF2-40B4-BE49-F238E27FC236}">
                <a16:creationId xmlns:a16="http://schemas.microsoft.com/office/drawing/2014/main" id="{AB807CE2-AF95-4F1C-8BE5-1251F7A2D0DE}"/>
              </a:ext>
            </a:extLst>
          </p:cNvPr>
          <p:cNvPicPr>
            <a:picLocks noChangeAspect="1"/>
          </p:cNvPicPr>
          <p:nvPr/>
        </p:nvPicPr>
        <p:blipFill>
          <a:blip r:embed="rId3"/>
          <a:stretch>
            <a:fillRect/>
          </a:stretch>
        </p:blipFill>
        <p:spPr>
          <a:xfrm>
            <a:off x="231358" y="1460868"/>
            <a:ext cx="7990071" cy="4951321"/>
          </a:xfrm>
          <a:prstGeom prst="rect">
            <a:avLst/>
          </a:prstGeom>
        </p:spPr>
      </p:pic>
      <p:pic>
        <p:nvPicPr>
          <p:cNvPr id="8" name="Picture 7">
            <a:extLst>
              <a:ext uri="{FF2B5EF4-FFF2-40B4-BE49-F238E27FC236}">
                <a16:creationId xmlns:a16="http://schemas.microsoft.com/office/drawing/2014/main" id="{9F61372D-ABC0-4D06-B588-9CD8F20BC512}"/>
              </a:ext>
            </a:extLst>
          </p:cNvPr>
          <p:cNvPicPr>
            <a:picLocks noChangeAspect="1"/>
          </p:cNvPicPr>
          <p:nvPr/>
        </p:nvPicPr>
        <p:blipFill>
          <a:blip r:embed="rId4"/>
          <a:stretch>
            <a:fillRect/>
          </a:stretch>
        </p:blipFill>
        <p:spPr>
          <a:xfrm>
            <a:off x="8513967" y="5038542"/>
            <a:ext cx="3611773" cy="1378177"/>
          </a:xfrm>
          <a:prstGeom prst="rect">
            <a:avLst/>
          </a:prstGeom>
        </p:spPr>
      </p:pic>
    </p:spTree>
    <p:extLst>
      <p:ext uri="{BB962C8B-B14F-4D97-AF65-F5344CB8AC3E}">
        <p14:creationId xmlns:p14="http://schemas.microsoft.com/office/powerpoint/2010/main" val="2404177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29</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9451426" cy="498723"/>
          </a:xfrm>
        </p:spPr>
        <p:txBody>
          <a:bodyPr>
            <a:noAutofit/>
          </a:bodyPr>
          <a:lstStyle/>
          <a:p>
            <a:pPr>
              <a:lnSpc>
                <a:spcPct val="80000"/>
              </a:lnSpc>
            </a:pPr>
            <a:r>
              <a:rPr lang="en-US" sz="4000" b="1" dirty="0"/>
              <a:t>The </a:t>
            </a:r>
            <a:r>
              <a:rPr lang="en-US" sz="4000" b="1"/>
              <a:t>LinkedList</a:t>
            </a:r>
            <a:r>
              <a:rPr lang="en-US" sz="4000" b="1" dirty="0"/>
              <a:t>&lt;T&gt; Class</a:t>
            </a:r>
          </a:p>
        </p:txBody>
      </p:sp>
      <p:sp>
        <p:nvSpPr>
          <p:cNvPr id="7" name="TextBox 6">
            <a:extLst>
              <a:ext uri="{FF2B5EF4-FFF2-40B4-BE49-F238E27FC236}">
                <a16:creationId xmlns:a16="http://schemas.microsoft.com/office/drawing/2014/main" id="{8B90CA17-06F8-4233-9445-4EEBEF52D6D0}"/>
              </a:ext>
            </a:extLst>
          </p:cNvPr>
          <p:cNvSpPr txBox="1"/>
          <p:nvPr/>
        </p:nvSpPr>
        <p:spPr>
          <a:xfrm>
            <a:off x="-45579" y="1471246"/>
            <a:ext cx="12105057" cy="4878259"/>
          </a:xfrm>
          <a:prstGeom prst="rect">
            <a:avLst/>
          </a:prstGeom>
          <a:noFill/>
        </p:spPr>
        <p:txBody>
          <a:bodyPr wrap="square">
            <a:spAutoFit/>
          </a:bodyPr>
          <a:lstStyle/>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a:t>LinkedList&lt;T&gt; Class is a generic type that allows fast inserting and removing of elements. It implements a classic linked list</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a:t>Each object is separately allocated. In the LinkedList, certain operations do not require the whole collection to be copied</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a:t>We can remove nodes and reinsert them, either in the same list or in another list, which results in no additional objects allocated on the heap</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a:t>Each node in a LinkedList&lt;T&gt; object is of the type LinkedListNode&lt;T&gt;</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a:t>The LinkedList class does not support chaining, splitting, cycles, or other features that can leave the list in an inconsistent state</a:t>
            </a:r>
          </a:p>
          <a:p>
            <a:pPr marL="342900" marR="13335" indent="-342900" algn="just">
              <a:spcBef>
                <a:spcPts val="300"/>
              </a:spcBef>
              <a:spcAft>
                <a:spcPts val="300"/>
              </a:spcAft>
              <a:buClr>
                <a:srgbClr val="973735"/>
              </a:buClr>
              <a:buSzPct val="50000"/>
              <a:buFont typeface="Wingdings" pitchFamily="2" charset="2"/>
              <a:buChar char="u"/>
              <a:tabLst>
                <a:tab pos="285750" algn="l"/>
              </a:tabLst>
              <a:defRPr/>
            </a:pPr>
            <a:r>
              <a:rPr lang="en-US" sz="2600"/>
              <a:t>The LinkedList is doubly linked, therefore, each node points forward to the Next node and backward to the Previous node</a:t>
            </a:r>
          </a:p>
        </p:txBody>
      </p:sp>
    </p:spTree>
    <p:extLst>
      <p:ext uri="{BB962C8B-B14F-4D97-AF65-F5344CB8AC3E}">
        <p14:creationId xmlns:p14="http://schemas.microsoft.com/office/powerpoint/2010/main" val="3562747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30</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62762" y="720475"/>
            <a:ext cx="11261091" cy="498723"/>
          </a:xfrm>
        </p:spPr>
        <p:txBody>
          <a:bodyPr>
            <a:noAutofit/>
          </a:bodyPr>
          <a:lstStyle/>
          <a:p>
            <a:pPr>
              <a:lnSpc>
                <a:spcPct val="80000"/>
              </a:lnSpc>
            </a:pPr>
            <a:r>
              <a:rPr lang="en-US" sz="4000" b="1"/>
              <a:t>The Dictionary&lt;TKey, TValue&gt; Class</a:t>
            </a:r>
            <a:endParaRPr lang="en-US" sz="4000" b="1" dirty="0"/>
          </a:p>
        </p:txBody>
      </p:sp>
      <p:sp>
        <p:nvSpPr>
          <p:cNvPr id="7" name="TextBox 6">
            <a:extLst>
              <a:ext uri="{FF2B5EF4-FFF2-40B4-BE49-F238E27FC236}">
                <a16:creationId xmlns:a16="http://schemas.microsoft.com/office/drawing/2014/main" id="{8B90CA17-06F8-4233-9445-4EEBEF52D6D0}"/>
              </a:ext>
            </a:extLst>
          </p:cNvPr>
          <p:cNvSpPr txBox="1"/>
          <p:nvPr/>
        </p:nvSpPr>
        <p:spPr>
          <a:xfrm>
            <a:off x="-59288" y="1276454"/>
            <a:ext cx="12118766" cy="5204245"/>
          </a:xfrm>
          <a:prstGeom prst="rect">
            <a:avLst/>
          </a:prstGeom>
          <a:noFill/>
        </p:spPr>
        <p:txBody>
          <a:bodyPr wrap="square">
            <a:spAutoFit/>
          </a:bodyPr>
          <a:lstStyle/>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600"/>
              <a:t>The Dictionary&lt;TKey, TValue&gt; is a generic collection that stores key-value pairs in no particular order</a:t>
            </a:r>
          </a:p>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600"/>
              <a:t>Dictionary&lt;TKey, TValue&gt; stores key-value pairs</a:t>
            </a:r>
          </a:p>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600"/>
              <a:t>Keys must be unique and cannot be null</a:t>
            </a:r>
          </a:p>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600"/>
              <a:t>Values can be null or duplicate</a:t>
            </a:r>
          </a:p>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600"/>
              <a:t>Values can be accessed by passing associated key in the indexer(e.g.  myDictionary[key])</a:t>
            </a:r>
          </a:p>
          <a:p>
            <a:pPr marL="342900" marR="13335" indent="-342900" algn="just">
              <a:lnSpc>
                <a:spcPct val="150000"/>
              </a:lnSpc>
              <a:spcBef>
                <a:spcPts val="300"/>
              </a:spcBef>
              <a:spcAft>
                <a:spcPts val="300"/>
              </a:spcAft>
              <a:buClr>
                <a:srgbClr val="973735"/>
              </a:buClr>
              <a:buSzPct val="50000"/>
              <a:buFont typeface="Wingdings" pitchFamily="2" charset="2"/>
              <a:buChar char="u"/>
              <a:tabLst>
                <a:tab pos="285750" algn="l"/>
              </a:tabLst>
              <a:defRPr/>
            </a:pPr>
            <a:r>
              <a:rPr lang="en-US" sz="2600"/>
              <a:t>Elements are stored as KeyValuePair&lt;TKey, TValue&gt; objects</a:t>
            </a:r>
          </a:p>
        </p:txBody>
      </p:sp>
    </p:spTree>
    <p:extLst>
      <p:ext uri="{BB962C8B-B14F-4D97-AF65-F5344CB8AC3E}">
        <p14:creationId xmlns:p14="http://schemas.microsoft.com/office/powerpoint/2010/main" val="2320830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31</a:t>
            </a:fld>
            <a:endParaRPr lang="en-US" dirty="0"/>
          </a:p>
        </p:txBody>
      </p:sp>
      <p:sp>
        <p:nvSpPr>
          <p:cNvPr id="10" name="Title 1">
            <a:extLst>
              <a:ext uri="{FF2B5EF4-FFF2-40B4-BE49-F238E27FC236}">
                <a16:creationId xmlns:a16="http://schemas.microsoft.com/office/drawing/2014/main" id="{A50A5901-2DE8-4C57-9134-91349D37D854}"/>
              </a:ext>
            </a:extLst>
          </p:cNvPr>
          <p:cNvSpPr>
            <a:spLocks noGrp="1"/>
          </p:cNvSpPr>
          <p:nvPr>
            <p:ph type="title"/>
          </p:nvPr>
        </p:nvSpPr>
        <p:spPr>
          <a:xfrm>
            <a:off x="270643" y="730987"/>
            <a:ext cx="8043040" cy="498723"/>
          </a:xfrm>
        </p:spPr>
        <p:txBody>
          <a:bodyPr>
            <a:noAutofit/>
          </a:bodyPr>
          <a:lstStyle/>
          <a:p>
            <a:pPr>
              <a:lnSpc>
                <a:spcPct val="80000"/>
              </a:lnSpc>
            </a:pPr>
            <a:r>
              <a:rPr lang="en-US" sz="4000" b="1"/>
              <a:t>The IEnumerable&lt;T&gt; Interface</a:t>
            </a:r>
          </a:p>
        </p:txBody>
      </p:sp>
      <p:sp>
        <p:nvSpPr>
          <p:cNvPr id="9" name="Content Placeholder 2">
            <a:extLst>
              <a:ext uri="{FF2B5EF4-FFF2-40B4-BE49-F238E27FC236}">
                <a16:creationId xmlns:a16="http://schemas.microsoft.com/office/drawing/2014/main" id="{3696A3D8-A86E-4135-A00C-BC9A2F746185}"/>
              </a:ext>
            </a:extLst>
          </p:cNvPr>
          <p:cNvSpPr>
            <a:spLocks noGrp="1"/>
          </p:cNvSpPr>
          <p:nvPr>
            <p:ph idx="1"/>
          </p:nvPr>
        </p:nvSpPr>
        <p:spPr>
          <a:xfrm>
            <a:off x="-53921" y="1371079"/>
            <a:ext cx="12245921" cy="2465197"/>
          </a:xfrm>
        </p:spPr>
        <p:txBody>
          <a:bodyPr>
            <a:noAutofit/>
          </a:bodyPr>
          <a:lstStyle/>
          <a:p>
            <a:pPr marL="342900" marR="13335" indent="-342900" algn="just">
              <a:lnSpc>
                <a:spcPct val="110000"/>
              </a:lnSpc>
              <a:spcBef>
                <a:spcPts val="600"/>
              </a:spcBef>
              <a:spcAft>
                <a:spcPts val="600"/>
              </a:spcAft>
              <a:buClr>
                <a:srgbClr val="973735"/>
              </a:buClr>
              <a:buSzPct val="50000"/>
              <a:buFont typeface="Wingdings" pitchFamily="2" charset="2"/>
              <a:buChar char="u"/>
              <a:tabLst>
                <a:tab pos="285750" algn="l"/>
              </a:tabLst>
              <a:defRPr/>
            </a:pPr>
            <a:r>
              <a:rPr lang="en-US" sz="2600"/>
              <a:t>IEnumerable in C# is an interface that defines one method GetEnumerator which returns an IEnumerator interface. This allows readonly access to a collection then a collection that implements IEnumerable can be used with a </a:t>
            </a:r>
            <a:r>
              <a:rPr lang="en-US" sz="2600" b="1"/>
              <a:t>for-each statement</a:t>
            </a:r>
          </a:p>
          <a:p>
            <a:pPr marL="342900" marR="13335" indent="-342900" algn="just">
              <a:lnSpc>
                <a:spcPct val="110000"/>
              </a:lnSpc>
              <a:spcBef>
                <a:spcPts val="600"/>
              </a:spcBef>
              <a:spcAft>
                <a:spcPts val="600"/>
              </a:spcAft>
              <a:buClr>
                <a:srgbClr val="973735"/>
              </a:buClr>
              <a:buSzPct val="50000"/>
              <a:buFont typeface="Wingdings" pitchFamily="2" charset="2"/>
              <a:buChar char="u"/>
              <a:tabLst>
                <a:tab pos="285750" algn="l"/>
              </a:tabLst>
              <a:defRPr/>
            </a:pPr>
            <a:r>
              <a:rPr lang="en-US" sz="2600"/>
              <a:t>Implement the </a:t>
            </a:r>
            <a:r>
              <a:rPr lang="en-US" sz="2600" b="1"/>
              <a:t>IEnumerable&lt;T&gt; </a:t>
            </a:r>
            <a:r>
              <a:rPr lang="en-US" sz="2600"/>
              <a:t>Interface :</a:t>
            </a:r>
          </a:p>
          <a:p>
            <a:pPr marL="342900" marR="13335" indent="-342900" algn="just">
              <a:lnSpc>
                <a:spcPct val="110000"/>
              </a:lnSpc>
              <a:spcBef>
                <a:spcPts val="600"/>
              </a:spcBef>
              <a:spcAft>
                <a:spcPts val="600"/>
              </a:spcAft>
              <a:buClr>
                <a:srgbClr val="973735"/>
              </a:buClr>
              <a:buSzPct val="50000"/>
              <a:buFont typeface="Wingdings" pitchFamily="2" charset="2"/>
              <a:buChar char="u"/>
              <a:tabLst>
                <a:tab pos="285750" algn="l"/>
              </a:tabLst>
              <a:defRPr/>
            </a:pPr>
            <a:endParaRPr lang="en-US" sz="2600" dirty="0"/>
          </a:p>
        </p:txBody>
      </p:sp>
      <p:pic>
        <p:nvPicPr>
          <p:cNvPr id="3" name="Picture 2">
            <a:extLst>
              <a:ext uri="{FF2B5EF4-FFF2-40B4-BE49-F238E27FC236}">
                <a16:creationId xmlns:a16="http://schemas.microsoft.com/office/drawing/2014/main" id="{5588F889-44B6-468D-9308-1F6C5034B160}"/>
              </a:ext>
            </a:extLst>
          </p:cNvPr>
          <p:cNvPicPr>
            <a:picLocks noChangeAspect="1"/>
          </p:cNvPicPr>
          <p:nvPr/>
        </p:nvPicPr>
        <p:blipFill>
          <a:blip r:embed="rId3"/>
          <a:stretch>
            <a:fillRect/>
          </a:stretch>
        </p:blipFill>
        <p:spPr>
          <a:xfrm>
            <a:off x="1038993" y="4052013"/>
            <a:ext cx="10114013" cy="1917863"/>
          </a:xfrm>
          <a:prstGeom prst="rect">
            <a:avLst/>
          </a:prstGeom>
        </p:spPr>
      </p:pic>
    </p:spTree>
    <p:extLst>
      <p:ext uri="{BB962C8B-B14F-4D97-AF65-F5344CB8AC3E}">
        <p14:creationId xmlns:p14="http://schemas.microsoft.com/office/powerpoint/2010/main" val="2328999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D4F7EF-86B5-40CB-A81F-D6ED98B31661}"/>
              </a:ext>
            </a:extLst>
          </p:cNvPr>
          <p:cNvSpPr>
            <a:spLocks noGrp="1"/>
          </p:cNvSpPr>
          <p:nvPr>
            <p:ph type="dt" sz="half" idx="10"/>
          </p:nvPr>
        </p:nvSpPr>
        <p:spPr/>
        <p:txBody>
          <a:bodyPr/>
          <a:lstStyle/>
          <a:p>
            <a:fld id="{5DCBE059-FAD7-45D8-8659-E6542D1E092D}" type="datetime1">
              <a:rPr lang="en-US" smtClean="0"/>
              <a:t>5/19/2024</a:t>
            </a:fld>
            <a:endParaRPr lang="en-US" dirty="0"/>
          </a:p>
        </p:txBody>
      </p:sp>
      <p:sp>
        <p:nvSpPr>
          <p:cNvPr id="5" name="Slide Number Placeholder 4">
            <a:extLst>
              <a:ext uri="{FF2B5EF4-FFF2-40B4-BE49-F238E27FC236}">
                <a16:creationId xmlns:a16="http://schemas.microsoft.com/office/drawing/2014/main" id="{21AEB326-519C-49FD-9205-8082FE24C462}"/>
              </a:ext>
            </a:extLst>
          </p:cNvPr>
          <p:cNvSpPr>
            <a:spLocks noGrp="1"/>
          </p:cNvSpPr>
          <p:nvPr>
            <p:ph type="sldNum" sz="quarter" idx="12"/>
          </p:nvPr>
        </p:nvSpPr>
        <p:spPr/>
        <p:txBody>
          <a:bodyPr/>
          <a:lstStyle/>
          <a:p>
            <a:fld id="{CC0149FD-98BB-4821-915B-09C9BFE4B727}" type="slidenum">
              <a:rPr lang="en-US" smtClean="0"/>
              <a:pPr/>
              <a:t>32</a:t>
            </a:fld>
            <a:endParaRPr lang="en-US" dirty="0"/>
          </a:p>
        </p:txBody>
      </p:sp>
      <p:sp>
        <p:nvSpPr>
          <p:cNvPr id="25" name="Title 1">
            <a:extLst>
              <a:ext uri="{FF2B5EF4-FFF2-40B4-BE49-F238E27FC236}">
                <a16:creationId xmlns:a16="http://schemas.microsoft.com/office/drawing/2014/main" id="{1D9F76E1-13EC-41E9-A8CC-4D41D6655D7A}"/>
              </a:ext>
            </a:extLst>
          </p:cNvPr>
          <p:cNvSpPr>
            <a:spLocks noGrp="1"/>
          </p:cNvSpPr>
          <p:nvPr>
            <p:ph type="title"/>
          </p:nvPr>
        </p:nvSpPr>
        <p:spPr>
          <a:xfrm>
            <a:off x="270643" y="730987"/>
            <a:ext cx="8043040" cy="498723"/>
          </a:xfrm>
        </p:spPr>
        <p:txBody>
          <a:bodyPr>
            <a:noAutofit/>
          </a:bodyPr>
          <a:lstStyle/>
          <a:p>
            <a:pPr>
              <a:lnSpc>
                <a:spcPct val="80000"/>
              </a:lnSpc>
            </a:pPr>
            <a:r>
              <a:rPr lang="en-US" sz="4000" b="1"/>
              <a:t>The IEnumerable&lt;T&gt; Interface</a:t>
            </a:r>
          </a:p>
        </p:txBody>
      </p:sp>
      <p:grpSp>
        <p:nvGrpSpPr>
          <p:cNvPr id="29" name="Group 28">
            <a:extLst>
              <a:ext uri="{FF2B5EF4-FFF2-40B4-BE49-F238E27FC236}">
                <a16:creationId xmlns:a16="http://schemas.microsoft.com/office/drawing/2014/main" id="{0C6A04F6-A072-48DE-8449-3D905745867A}"/>
              </a:ext>
            </a:extLst>
          </p:cNvPr>
          <p:cNvGrpSpPr/>
          <p:nvPr/>
        </p:nvGrpSpPr>
        <p:grpSpPr>
          <a:xfrm>
            <a:off x="31530" y="1613890"/>
            <a:ext cx="9330828" cy="4835279"/>
            <a:chOff x="123020" y="1645420"/>
            <a:chExt cx="9330828" cy="4835279"/>
          </a:xfrm>
        </p:grpSpPr>
        <p:pic>
          <p:nvPicPr>
            <p:cNvPr id="17" name="Picture 16">
              <a:extLst>
                <a:ext uri="{FF2B5EF4-FFF2-40B4-BE49-F238E27FC236}">
                  <a16:creationId xmlns:a16="http://schemas.microsoft.com/office/drawing/2014/main" id="{98EBBBCF-9223-4F82-81EF-21146F050C25}"/>
                </a:ext>
              </a:extLst>
            </p:cNvPr>
            <p:cNvPicPr>
              <a:picLocks noChangeAspect="1"/>
            </p:cNvPicPr>
            <p:nvPr/>
          </p:nvPicPr>
          <p:blipFill>
            <a:blip r:embed="rId3"/>
            <a:stretch>
              <a:fillRect/>
            </a:stretch>
          </p:blipFill>
          <p:spPr>
            <a:xfrm>
              <a:off x="123020" y="3154944"/>
              <a:ext cx="9330828" cy="3325755"/>
            </a:xfrm>
            <a:prstGeom prst="rect">
              <a:avLst/>
            </a:prstGeom>
          </p:spPr>
        </p:pic>
        <p:pic>
          <p:nvPicPr>
            <p:cNvPr id="24" name="Picture 23">
              <a:extLst>
                <a:ext uri="{FF2B5EF4-FFF2-40B4-BE49-F238E27FC236}">
                  <a16:creationId xmlns:a16="http://schemas.microsoft.com/office/drawing/2014/main" id="{ED192093-1E7A-450B-BD01-268F5CD7A764}"/>
                </a:ext>
              </a:extLst>
            </p:cNvPr>
            <p:cNvPicPr>
              <a:picLocks noChangeAspect="1"/>
            </p:cNvPicPr>
            <p:nvPr/>
          </p:nvPicPr>
          <p:blipFill>
            <a:blip r:embed="rId4"/>
            <a:stretch>
              <a:fillRect/>
            </a:stretch>
          </p:blipFill>
          <p:spPr>
            <a:xfrm>
              <a:off x="191781" y="1645420"/>
              <a:ext cx="8477935" cy="1365940"/>
            </a:xfrm>
            <a:prstGeom prst="rect">
              <a:avLst/>
            </a:prstGeom>
          </p:spPr>
        </p:pic>
        <p:sp>
          <p:nvSpPr>
            <p:cNvPr id="26" name="Rectangle 25">
              <a:extLst>
                <a:ext uri="{FF2B5EF4-FFF2-40B4-BE49-F238E27FC236}">
                  <a16:creationId xmlns:a16="http://schemas.microsoft.com/office/drawing/2014/main" id="{E4388424-5149-429A-9E15-D9FE7AD31517}"/>
                </a:ext>
              </a:extLst>
            </p:cNvPr>
            <p:cNvSpPr/>
            <p:nvPr/>
          </p:nvSpPr>
          <p:spPr>
            <a:xfrm>
              <a:off x="191781" y="1645420"/>
              <a:ext cx="7417708" cy="30575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238400E-E5D9-42DF-BA2E-AC81581C4269}"/>
                </a:ext>
              </a:extLst>
            </p:cNvPr>
            <p:cNvSpPr/>
            <p:nvPr/>
          </p:nvSpPr>
          <p:spPr>
            <a:xfrm>
              <a:off x="625349" y="2484065"/>
              <a:ext cx="7919560" cy="30575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250E917-09BD-4E5B-BFD1-86826D318A62}"/>
                </a:ext>
              </a:extLst>
            </p:cNvPr>
            <p:cNvSpPr/>
            <p:nvPr/>
          </p:nvSpPr>
          <p:spPr>
            <a:xfrm>
              <a:off x="930149" y="5160016"/>
              <a:ext cx="3673382" cy="82036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Picture 29">
            <a:extLst>
              <a:ext uri="{FF2B5EF4-FFF2-40B4-BE49-F238E27FC236}">
                <a16:creationId xmlns:a16="http://schemas.microsoft.com/office/drawing/2014/main" id="{A27D7A27-71A9-4210-956B-C2398E515C09}"/>
              </a:ext>
            </a:extLst>
          </p:cNvPr>
          <p:cNvPicPr>
            <a:picLocks noChangeAspect="1"/>
          </p:cNvPicPr>
          <p:nvPr/>
        </p:nvPicPr>
        <p:blipFill>
          <a:blip r:embed="rId5"/>
          <a:stretch>
            <a:fillRect/>
          </a:stretch>
        </p:blipFill>
        <p:spPr>
          <a:xfrm>
            <a:off x="8814780" y="5083229"/>
            <a:ext cx="3345690" cy="1365940"/>
          </a:xfrm>
          <a:prstGeom prst="rect">
            <a:avLst/>
          </a:prstGeom>
        </p:spPr>
      </p:pic>
    </p:spTree>
    <p:extLst>
      <p:ext uri="{BB962C8B-B14F-4D97-AF65-F5344CB8AC3E}">
        <p14:creationId xmlns:p14="http://schemas.microsoft.com/office/powerpoint/2010/main" val="1373486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540058" y="700134"/>
            <a:ext cx="10515600" cy="592642"/>
          </a:xfrm>
        </p:spPr>
        <p:txBody>
          <a:bodyPr>
            <a:noAutofit/>
          </a:bodyPr>
          <a:lstStyle/>
          <a:p>
            <a:r>
              <a:rPr lang="en-US" sz="4000" b="1" dirty="0"/>
              <a:t>Summary</a:t>
            </a:r>
          </a:p>
        </p:txBody>
      </p:sp>
      <p:sp>
        <p:nvSpPr>
          <p:cNvPr id="18435" name="Rectangle 3"/>
          <p:cNvSpPr>
            <a:spLocks noGrp="1"/>
          </p:cNvSpPr>
          <p:nvPr>
            <p:ph idx="1"/>
          </p:nvPr>
        </p:nvSpPr>
        <p:spPr>
          <a:xfrm>
            <a:off x="540058" y="1404208"/>
            <a:ext cx="11473266" cy="4891490"/>
          </a:xfrm>
        </p:spPr>
        <p:txBody>
          <a:bodyPr>
            <a:noAutofit/>
          </a:bodyPr>
          <a:lstStyle/>
          <a:p>
            <a:pPr marL="342900" indent="-342900">
              <a:lnSpc>
                <a:spcPct val="120000"/>
              </a:lnSpc>
              <a:spcBef>
                <a:spcPts val="300"/>
              </a:spcBef>
              <a:spcAft>
                <a:spcPts val="300"/>
              </a:spcAft>
              <a:buClr>
                <a:srgbClr val="973735"/>
              </a:buClr>
              <a:buSzPct val="50000"/>
              <a:buFont typeface="Wingdings" pitchFamily="2" charset="2"/>
              <a:buChar char="u"/>
              <a:defRPr/>
            </a:pPr>
            <a:r>
              <a:rPr lang="en-US" dirty="0"/>
              <a:t>Concepts were introduced:</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What is the Generics? Benefits of Generics</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Demo Generics Classes , Generics Methods and Generics Intefaces</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Explain the Constraints on Type Parameters</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Explain the Default Values in Generics</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Overview about Collections </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Explain about collection generic: List&lt;T&gt; class, SortedSet&lt;T&gt; class, Dictionary&lt;TKey, TValue&gt;, LinkList&lt;T&gt;  class and IEnumerable&lt;T&gt; Interface </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Demo using collection generic: List&lt;T&gt; class, SortedSet&lt;T&gt; class, and IEnumerable&lt;T&gt; Interface </a:t>
            </a:r>
            <a:endParaRPr lang="en-US" sz="2600"/>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2372</TotalTime>
  <Words>2507</Words>
  <Application>Microsoft Office PowerPoint</Application>
  <PresentationFormat>Widescreen</PresentationFormat>
  <Paragraphs>282</Paragraphs>
  <Slides>33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Söhne</vt:lpstr>
      <vt:lpstr>Wingdings</vt:lpstr>
      <vt:lpstr>Office Theme</vt:lpstr>
      <vt:lpstr> Collections and Generics</vt:lpstr>
      <vt:lpstr>Objectives </vt:lpstr>
      <vt:lpstr>Generics in C#</vt:lpstr>
      <vt:lpstr>The Issue of Performance</vt:lpstr>
      <vt:lpstr>The Issue of Performance</vt:lpstr>
      <vt:lpstr>The Issue of Performance</vt:lpstr>
      <vt:lpstr>What is the Generics?</vt:lpstr>
      <vt:lpstr>Benefits of Generics</vt:lpstr>
      <vt:lpstr>Generic Classes</vt:lpstr>
      <vt:lpstr>Generic Classes</vt:lpstr>
      <vt:lpstr>Generic Methods </vt:lpstr>
      <vt:lpstr>Constraints on Type Parameters</vt:lpstr>
      <vt:lpstr>Constraints on Type Parameters</vt:lpstr>
      <vt:lpstr>Constraints on Type Parameters</vt:lpstr>
      <vt:lpstr>Constraints on Type Parameters</vt:lpstr>
      <vt:lpstr>Constraints on Type Parameters</vt:lpstr>
      <vt:lpstr>Generic Interfaces </vt:lpstr>
      <vt:lpstr>Generic Interfaces </vt:lpstr>
      <vt:lpstr>Default Values in Generics</vt:lpstr>
      <vt:lpstr>Collections in C#</vt:lpstr>
      <vt:lpstr>Collection Interfaces and Types</vt:lpstr>
      <vt:lpstr>Key Interfaces Supported by Classes of System.Collections.Generic</vt:lpstr>
      <vt:lpstr>Classes of System.Collections.Generic</vt:lpstr>
      <vt:lpstr>Generics Collections Demo</vt:lpstr>
      <vt:lpstr>PowerPoint Presentation</vt:lpstr>
      <vt:lpstr>PowerPoint Presentation</vt:lpstr>
      <vt:lpstr>Working with the SortedSet&lt;T&gt; Class</vt:lpstr>
      <vt:lpstr>Working with the SortedSet&lt;T&gt; Class</vt:lpstr>
      <vt:lpstr>The LinkedList&lt;T&gt; Class</vt:lpstr>
      <vt:lpstr>The Dictionary&lt;TKey, TValue&gt; Class</vt:lpstr>
      <vt:lpstr>The IEnumerable&lt;T&gt; Interface</vt:lpstr>
      <vt:lpstr>The IEnumerable&lt;T&gt; Interface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Quang Le Thien Nhat</cp:lastModifiedBy>
  <cp:revision>480</cp:revision>
  <dcterms:created xsi:type="dcterms:W3CDTF">2021-01-25T08:25:31Z</dcterms:created>
  <dcterms:modified xsi:type="dcterms:W3CDTF">2024-05-19T15:44:27Z</dcterms:modified>
</cp:coreProperties>
</file>