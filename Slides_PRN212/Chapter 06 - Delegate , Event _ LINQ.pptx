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78" r:id="rId3"/>
    <p:sldId id="439" r:id="rId4"/>
    <p:sldId id="465" r:id="rId5"/>
    <p:sldId id="477" r:id="rId6"/>
    <p:sldId id="476" r:id="rId7"/>
    <p:sldId id="473" r:id="rId8"/>
    <p:sldId id="466" r:id="rId9"/>
    <p:sldId id="467" r:id="rId10"/>
    <p:sldId id="468" r:id="rId11"/>
    <p:sldId id="469" r:id="rId12"/>
    <p:sldId id="471" r:id="rId13"/>
    <p:sldId id="472" r:id="rId14"/>
    <p:sldId id="478" r:id="rId15"/>
    <p:sldId id="463" r:id="rId16"/>
    <p:sldId id="470" r:id="rId17"/>
    <p:sldId id="474" r:id="rId18"/>
    <p:sldId id="275" r:id="rId19"/>
    <p:sldId id="475" r:id="rId20"/>
    <p:sldId id="464" r:id="rId21"/>
    <p:sldId id="462" r:id="rId22"/>
    <p:sldId id="479" r:id="rId23"/>
    <p:sldId id="482" r:id="rId24"/>
    <p:sldId id="480" r:id="rId25"/>
    <p:sldId id="481" r:id="rId26"/>
    <p:sldId id="483" r:id="rId27"/>
    <p:sldId id="484" r:id="rId28"/>
    <p:sldId id="486" r:id="rId29"/>
    <p:sldId id="487" r:id="rId30"/>
    <p:sldId id="492" r:id="rId31"/>
    <p:sldId id="488" r:id="rId32"/>
    <p:sldId id="489" r:id="rId33"/>
    <p:sldId id="493" r:id="rId34"/>
    <p:sldId id="494" r:id="rId35"/>
    <p:sldId id="26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55" autoAdjust="0"/>
  </p:normalViewPr>
  <p:slideViewPr>
    <p:cSldViewPr snapToGrid="0">
      <p:cViewPr varScale="1">
        <p:scale>
          <a:sx n="121" d="100"/>
          <a:sy n="121" d="100"/>
        </p:scale>
        <p:origin x="10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5/29/2024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a:t>
            </a:fld>
            <a:endParaRPr lang="en-US"/>
          </a:p>
        </p:txBody>
      </p:sp>
    </p:spTree>
    <p:extLst>
      <p:ext uri="{BB962C8B-B14F-4D97-AF65-F5344CB8AC3E}">
        <p14:creationId xmlns:p14="http://schemas.microsoft.com/office/powerpoint/2010/main" val="4132602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a:t>
            </a:fld>
            <a:endParaRPr lang="en-US"/>
          </a:p>
        </p:txBody>
      </p:sp>
    </p:spTree>
    <p:extLst>
      <p:ext uri="{BB962C8B-B14F-4D97-AF65-F5344CB8AC3E}">
        <p14:creationId xmlns:p14="http://schemas.microsoft.com/office/powerpoint/2010/main" val="2149196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a:t>
            </a:fld>
            <a:endParaRPr lang="en-US"/>
          </a:p>
        </p:txBody>
      </p:sp>
    </p:spTree>
    <p:extLst>
      <p:ext uri="{BB962C8B-B14F-4D97-AF65-F5344CB8AC3E}">
        <p14:creationId xmlns:p14="http://schemas.microsoft.com/office/powerpoint/2010/main" val="3950232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a:t>
            </a:fld>
            <a:endParaRPr lang="en-US"/>
          </a:p>
        </p:txBody>
      </p:sp>
    </p:spTree>
    <p:extLst>
      <p:ext uri="{BB962C8B-B14F-4D97-AF65-F5344CB8AC3E}">
        <p14:creationId xmlns:p14="http://schemas.microsoft.com/office/powerpoint/2010/main" val="538601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a:t>
            </a:fld>
            <a:endParaRPr lang="en-US"/>
          </a:p>
        </p:txBody>
      </p:sp>
    </p:spTree>
    <p:extLst>
      <p:ext uri="{BB962C8B-B14F-4D97-AF65-F5344CB8AC3E}">
        <p14:creationId xmlns:p14="http://schemas.microsoft.com/office/powerpoint/2010/main" val="1685211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a:t>
            </a:fld>
            <a:endParaRPr lang="en-US"/>
          </a:p>
        </p:txBody>
      </p:sp>
    </p:spTree>
    <p:extLst>
      <p:ext uri="{BB962C8B-B14F-4D97-AF65-F5344CB8AC3E}">
        <p14:creationId xmlns:p14="http://schemas.microsoft.com/office/powerpoint/2010/main" val="211454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10</a:t>
            </a:fld>
            <a:endParaRPr lang="en-US"/>
          </a:p>
        </p:txBody>
      </p:sp>
    </p:spTree>
    <p:extLst>
      <p:ext uri="{BB962C8B-B14F-4D97-AF65-F5344CB8AC3E}">
        <p14:creationId xmlns:p14="http://schemas.microsoft.com/office/powerpoint/2010/main" val="3288840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11</a:t>
            </a:fld>
            <a:endParaRPr lang="en-US"/>
          </a:p>
        </p:txBody>
      </p:sp>
    </p:spTree>
    <p:extLst>
      <p:ext uri="{BB962C8B-B14F-4D97-AF65-F5344CB8AC3E}">
        <p14:creationId xmlns:p14="http://schemas.microsoft.com/office/powerpoint/2010/main" val="1170563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12</a:t>
            </a:fld>
            <a:endParaRPr lang="en-US"/>
          </a:p>
        </p:txBody>
      </p:sp>
    </p:spTree>
    <p:extLst>
      <p:ext uri="{BB962C8B-B14F-4D97-AF65-F5344CB8AC3E}">
        <p14:creationId xmlns:p14="http://schemas.microsoft.com/office/powerpoint/2010/main" val="2759016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13</a:t>
            </a:fld>
            <a:endParaRPr lang="en-US"/>
          </a:p>
        </p:txBody>
      </p:sp>
    </p:spTree>
    <p:extLst>
      <p:ext uri="{BB962C8B-B14F-4D97-AF65-F5344CB8AC3E}">
        <p14:creationId xmlns:p14="http://schemas.microsoft.com/office/powerpoint/2010/main" val="3587846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14</a:t>
            </a:fld>
            <a:endParaRPr lang="en-US"/>
          </a:p>
        </p:txBody>
      </p:sp>
    </p:spTree>
    <p:extLst>
      <p:ext uri="{BB962C8B-B14F-4D97-AF65-F5344CB8AC3E}">
        <p14:creationId xmlns:p14="http://schemas.microsoft.com/office/powerpoint/2010/main" val="3521214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16</a:t>
            </a:fld>
            <a:endParaRPr lang="en-US"/>
          </a:p>
        </p:txBody>
      </p:sp>
    </p:spTree>
    <p:extLst>
      <p:ext uri="{BB962C8B-B14F-4D97-AF65-F5344CB8AC3E}">
        <p14:creationId xmlns:p14="http://schemas.microsoft.com/office/powerpoint/2010/main" val="2325973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17</a:t>
            </a:fld>
            <a:endParaRPr lang="en-US"/>
          </a:p>
        </p:txBody>
      </p:sp>
    </p:spTree>
    <p:extLst>
      <p:ext uri="{BB962C8B-B14F-4D97-AF65-F5344CB8AC3E}">
        <p14:creationId xmlns:p14="http://schemas.microsoft.com/office/powerpoint/2010/main" val="1467435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19</a:t>
            </a:fld>
            <a:endParaRPr lang="en-US"/>
          </a:p>
        </p:txBody>
      </p:sp>
    </p:spTree>
    <p:extLst>
      <p:ext uri="{BB962C8B-B14F-4D97-AF65-F5344CB8AC3E}">
        <p14:creationId xmlns:p14="http://schemas.microsoft.com/office/powerpoint/2010/main" val="1621219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21</a:t>
            </a:fld>
            <a:endParaRPr lang="en-US"/>
          </a:p>
        </p:txBody>
      </p:sp>
    </p:spTree>
    <p:extLst>
      <p:ext uri="{BB962C8B-B14F-4D97-AF65-F5344CB8AC3E}">
        <p14:creationId xmlns:p14="http://schemas.microsoft.com/office/powerpoint/2010/main" val="5161631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22</a:t>
            </a:fld>
            <a:endParaRPr lang="en-US"/>
          </a:p>
        </p:txBody>
      </p:sp>
    </p:spTree>
    <p:extLst>
      <p:ext uri="{BB962C8B-B14F-4D97-AF65-F5344CB8AC3E}">
        <p14:creationId xmlns:p14="http://schemas.microsoft.com/office/powerpoint/2010/main" val="301810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23</a:t>
            </a:fld>
            <a:endParaRPr lang="en-US"/>
          </a:p>
        </p:txBody>
      </p:sp>
    </p:spTree>
    <p:extLst>
      <p:ext uri="{BB962C8B-B14F-4D97-AF65-F5344CB8AC3E}">
        <p14:creationId xmlns:p14="http://schemas.microsoft.com/office/powerpoint/2010/main" val="108089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24</a:t>
            </a:fld>
            <a:endParaRPr lang="en-US"/>
          </a:p>
        </p:txBody>
      </p:sp>
    </p:spTree>
    <p:extLst>
      <p:ext uri="{BB962C8B-B14F-4D97-AF65-F5344CB8AC3E}">
        <p14:creationId xmlns:p14="http://schemas.microsoft.com/office/powerpoint/2010/main" val="2840319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25</a:t>
            </a:fld>
            <a:endParaRPr lang="en-US"/>
          </a:p>
        </p:txBody>
      </p:sp>
    </p:spTree>
    <p:extLst>
      <p:ext uri="{BB962C8B-B14F-4D97-AF65-F5344CB8AC3E}">
        <p14:creationId xmlns:p14="http://schemas.microsoft.com/office/powerpoint/2010/main" val="3704216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26</a:t>
            </a:fld>
            <a:endParaRPr lang="en-US"/>
          </a:p>
        </p:txBody>
      </p:sp>
    </p:spTree>
    <p:extLst>
      <p:ext uri="{BB962C8B-B14F-4D97-AF65-F5344CB8AC3E}">
        <p14:creationId xmlns:p14="http://schemas.microsoft.com/office/powerpoint/2010/main" val="28938601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27</a:t>
            </a:fld>
            <a:endParaRPr lang="en-US"/>
          </a:p>
        </p:txBody>
      </p:sp>
    </p:spTree>
    <p:extLst>
      <p:ext uri="{BB962C8B-B14F-4D97-AF65-F5344CB8AC3E}">
        <p14:creationId xmlns:p14="http://schemas.microsoft.com/office/powerpoint/2010/main" val="195815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28</a:t>
            </a:fld>
            <a:endParaRPr lang="en-US"/>
          </a:p>
        </p:txBody>
      </p:sp>
    </p:spTree>
    <p:extLst>
      <p:ext uri="{BB962C8B-B14F-4D97-AF65-F5344CB8AC3E}">
        <p14:creationId xmlns:p14="http://schemas.microsoft.com/office/powerpoint/2010/main" val="3848123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29</a:t>
            </a:fld>
            <a:endParaRPr lang="en-US"/>
          </a:p>
        </p:txBody>
      </p:sp>
    </p:spTree>
    <p:extLst>
      <p:ext uri="{BB962C8B-B14F-4D97-AF65-F5344CB8AC3E}">
        <p14:creationId xmlns:p14="http://schemas.microsoft.com/office/powerpoint/2010/main" val="4212465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30</a:t>
            </a:fld>
            <a:endParaRPr lang="en-US"/>
          </a:p>
        </p:txBody>
      </p:sp>
    </p:spTree>
    <p:extLst>
      <p:ext uri="{BB962C8B-B14F-4D97-AF65-F5344CB8AC3E}">
        <p14:creationId xmlns:p14="http://schemas.microsoft.com/office/powerpoint/2010/main" val="36215628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31</a:t>
            </a:fld>
            <a:endParaRPr lang="en-US"/>
          </a:p>
        </p:txBody>
      </p:sp>
    </p:spTree>
    <p:extLst>
      <p:ext uri="{BB962C8B-B14F-4D97-AF65-F5344CB8AC3E}">
        <p14:creationId xmlns:p14="http://schemas.microsoft.com/office/powerpoint/2010/main" val="1444171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32</a:t>
            </a:fld>
            <a:endParaRPr lang="en-US"/>
          </a:p>
        </p:txBody>
      </p:sp>
    </p:spTree>
    <p:extLst>
      <p:ext uri="{BB962C8B-B14F-4D97-AF65-F5344CB8AC3E}">
        <p14:creationId xmlns:p14="http://schemas.microsoft.com/office/powerpoint/2010/main" val="28155085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33</a:t>
            </a:fld>
            <a:endParaRPr lang="en-US"/>
          </a:p>
        </p:txBody>
      </p:sp>
    </p:spTree>
    <p:extLst>
      <p:ext uri="{BB962C8B-B14F-4D97-AF65-F5344CB8AC3E}">
        <p14:creationId xmlns:p14="http://schemas.microsoft.com/office/powerpoint/2010/main" val="3488175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34</a:t>
            </a:fld>
            <a:endParaRPr lang="en-US"/>
          </a:p>
        </p:txBody>
      </p:sp>
    </p:spTree>
    <p:extLst>
      <p:ext uri="{BB962C8B-B14F-4D97-AF65-F5344CB8AC3E}">
        <p14:creationId xmlns:p14="http://schemas.microsoft.com/office/powerpoint/2010/main" val="41612206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0C29B1E-5059-4944-89ED-50C1BF72A24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346" y="0"/>
            <a:ext cx="1003802" cy="552091"/>
          </a:xfrm>
          <a:prstGeom prst="rect">
            <a:avLst/>
          </a:prstGeom>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3A36D295-775D-47F5-8603-3DD00348415F}" type="datetime1">
              <a:rPr lang="en-US" smtClean="0"/>
              <a:t>5/29/2024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3A3BC4D3-5600-465C-9CDD-0E165381801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346" y="0"/>
            <a:ext cx="1003802" cy="552091"/>
          </a:xfrm>
          <a:prstGeom prst="rect">
            <a:avLst/>
          </a:prstGeom>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F7607-E3F8-424D-9421-11ABE136784F}" type="datetime1">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8DE2DC-7C06-40A7-BCFD-D93F25A61D4E}" type="datetime1">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4D42B9-A71A-43D9-9985-DCFC729B7243}" type="datetime1">
              <a:rPr lang="en-US" smtClean="0"/>
              <a:t>5/29/2024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24D473-9450-45BF-9378-4173559C8889}" type="datetime1">
              <a:rPr lang="en-US" smtClean="0"/>
              <a:t>5/29/2024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327CB7-D605-4E0C-BBEB-2F8879C45BC5}" type="datetime1">
              <a:rPr lang="en-US" smtClean="0"/>
              <a:t>5/29/2024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AF0107-625A-4DEE-A08F-BA1C9E189B15}" type="datetime1">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A2A3AC-113D-4710-A316-6DEC694902F8}" type="datetime1">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84481D-072A-46D5-8FA6-76A47D5F8C3C}" type="datetime1">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70CDDB-293B-4419-8ED9-1E9398C8FD75}" type="datetime1">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CEC6A0-A892-4E88-BFD1-BD9EDF21A6E4}" type="datetime1">
              <a:rPr lang="en-US" smtClean="0"/>
              <a:t>5/29/2024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microsoft.com/en-us/dotnet/api/system.object?view=net-5.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docs.microsoft.com/en-us/dotnet/api/system.delegate?view=net-5.0"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2868" y="2241458"/>
            <a:ext cx="10352691" cy="1784004"/>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Delegates, Events, and LINQ</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331076" y="1657898"/>
            <a:ext cx="11529848" cy="4658820"/>
          </a:xfrm>
        </p:spPr>
        <p:txBody>
          <a:bodyPr>
            <a:noAutofit/>
          </a:bodyPr>
          <a:lstStyle/>
          <a:p>
            <a:pPr marL="342900" indent="-342900">
              <a:lnSpc>
                <a:spcPct val="100000"/>
              </a:lnSpc>
              <a:spcBef>
                <a:spcPts val="800"/>
              </a:spcBef>
              <a:spcAft>
                <a:spcPts val="800"/>
              </a:spcAft>
              <a:buClr>
                <a:srgbClr val="973735"/>
              </a:buClr>
              <a:buSzPct val="50000"/>
              <a:buFont typeface="Wingdings" pitchFamily="2" charset="2"/>
              <a:buChar char="u"/>
              <a:defRPr/>
            </a:pPr>
            <a:r>
              <a:rPr lang="en-US"/>
              <a:t>Decrible about Delegate</a:t>
            </a:r>
          </a:p>
          <a:p>
            <a:pPr marL="342900" indent="-342900">
              <a:lnSpc>
                <a:spcPct val="100000"/>
              </a:lnSpc>
              <a:spcBef>
                <a:spcPts val="800"/>
              </a:spcBef>
              <a:spcAft>
                <a:spcPts val="800"/>
              </a:spcAft>
              <a:buClr>
                <a:srgbClr val="973735"/>
              </a:buClr>
              <a:buSzPct val="50000"/>
              <a:buFont typeface="Wingdings" pitchFamily="2" charset="2"/>
              <a:buChar char="u"/>
              <a:defRPr/>
            </a:pPr>
            <a:r>
              <a:rPr lang="en-US"/>
              <a:t>Decrible about Event</a:t>
            </a:r>
          </a:p>
          <a:p>
            <a:pPr marL="342900" indent="-342900">
              <a:lnSpc>
                <a:spcPct val="100000"/>
              </a:lnSpc>
              <a:spcBef>
                <a:spcPts val="800"/>
              </a:spcBef>
              <a:spcAft>
                <a:spcPts val="800"/>
              </a:spcAft>
              <a:buClr>
                <a:srgbClr val="973735"/>
              </a:buClr>
              <a:buSzPct val="50000"/>
              <a:buFont typeface="Wingdings" pitchFamily="2" charset="2"/>
              <a:buChar char="u"/>
              <a:defRPr/>
            </a:pPr>
            <a:r>
              <a:rPr lang="en-US"/>
              <a:t>Explain about Lambda and Query Expression</a:t>
            </a:r>
          </a:p>
          <a:p>
            <a:pPr marL="342900" indent="-342900">
              <a:lnSpc>
                <a:spcPct val="100000"/>
              </a:lnSpc>
              <a:spcBef>
                <a:spcPts val="800"/>
              </a:spcBef>
              <a:spcAft>
                <a:spcPts val="800"/>
              </a:spcAft>
              <a:buClr>
                <a:srgbClr val="973735"/>
              </a:buClr>
              <a:buSzPct val="50000"/>
              <a:buFont typeface="Wingdings" pitchFamily="2" charset="2"/>
              <a:buChar char="u"/>
              <a:defRPr/>
            </a:pPr>
            <a:r>
              <a:rPr lang="en-US"/>
              <a:t>Explain about LINQ to Object</a:t>
            </a:r>
          </a:p>
          <a:p>
            <a:pPr marL="342900" indent="-342900">
              <a:lnSpc>
                <a:spcPct val="100000"/>
              </a:lnSpc>
              <a:spcBef>
                <a:spcPts val="800"/>
              </a:spcBef>
              <a:spcAft>
                <a:spcPts val="800"/>
              </a:spcAft>
              <a:buClr>
                <a:srgbClr val="973735"/>
              </a:buClr>
              <a:buSzPct val="50000"/>
              <a:buFont typeface="Wingdings" pitchFamily="2" charset="2"/>
              <a:buChar char="u"/>
              <a:defRPr/>
            </a:pPr>
            <a:r>
              <a:rPr lang="en-US"/>
              <a:t>Explain about Generic Delegate Types: Func and Action </a:t>
            </a:r>
          </a:p>
          <a:p>
            <a:pPr marL="342900" indent="-342900">
              <a:lnSpc>
                <a:spcPct val="100000"/>
              </a:lnSpc>
              <a:spcBef>
                <a:spcPts val="800"/>
              </a:spcBef>
              <a:spcAft>
                <a:spcPts val="800"/>
              </a:spcAft>
              <a:buClr>
                <a:srgbClr val="973735"/>
              </a:buClr>
              <a:buSzPct val="50000"/>
              <a:buFont typeface="Wingdings" pitchFamily="2" charset="2"/>
              <a:buChar char="u"/>
              <a:defRPr/>
            </a:pPr>
            <a:r>
              <a:rPr lang="en-US"/>
              <a:t>Demo about Func and Action delegates</a:t>
            </a:r>
          </a:p>
          <a:p>
            <a:pPr marL="342900" indent="-342900">
              <a:lnSpc>
                <a:spcPct val="100000"/>
              </a:lnSpc>
              <a:spcBef>
                <a:spcPts val="800"/>
              </a:spcBef>
              <a:spcAft>
                <a:spcPts val="800"/>
              </a:spcAft>
              <a:buClr>
                <a:srgbClr val="973735"/>
              </a:buClr>
              <a:buSzPct val="50000"/>
              <a:buFont typeface="Wingdings" pitchFamily="2" charset="2"/>
              <a:buChar char="u"/>
              <a:defRPr/>
            </a:pPr>
            <a:r>
              <a:rPr lang="en-US"/>
              <a:t>Demo creating and using Delegates, Lambdas Expression, Query Expression and Events </a:t>
            </a:r>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244167" y="689466"/>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Delegates in .NET</a:t>
            </a:r>
            <a:endParaRPr lang="en-US" sz="4400" dirty="0">
              <a:solidFill>
                <a:schemeClr val="accent2"/>
              </a:solidFill>
            </a:endParaRPr>
          </a:p>
        </p:txBody>
      </p:sp>
    </p:spTree>
    <p:extLst>
      <p:ext uri="{BB962C8B-B14F-4D97-AF65-F5344CB8AC3E}">
        <p14:creationId xmlns:p14="http://schemas.microsoft.com/office/powerpoint/2010/main" val="255339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What is the Delegates?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49032" y="1530194"/>
            <a:ext cx="12192000" cy="4524315"/>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delegate is a reference type data type that defines the method signature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Delegate types are derived from the </a:t>
            </a:r>
            <a:r>
              <a:rPr lang="en-US" sz="2600" b="1">
                <a:solidFill>
                  <a:srgbClr val="111111"/>
                </a:solidFill>
                <a:latin typeface="+mj-lt"/>
              </a:rPr>
              <a:t>Delegate class </a:t>
            </a:r>
            <a:r>
              <a:rPr lang="en-US" sz="2600">
                <a:solidFill>
                  <a:srgbClr val="111111"/>
                </a:solidFill>
                <a:latin typeface="+mj-lt"/>
              </a:rPr>
              <a:t>in .NET. Delegate types are sealed and it is not possible to derive custom classes from Delegate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Using delegates, we can call any method, which is identified only at run-time </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To associate a delegate with a particular method, the method must have the same return type and parameter type as that of the delegate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Represents a delegate, which is a data structure that refers to a static method or to a class instance and an instance method of that class</a:t>
            </a:r>
          </a:p>
        </p:txBody>
      </p:sp>
    </p:spTree>
    <p:extLst>
      <p:ext uri="{BB962C8B-B14F-4D97-AF65-F5344CB8AC3E}">
        <p14:creationId xmlns:p14="http://schemas.microsoft.com/office/powerpoint/2010/main" val="1904307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385333" cy="575433"/>
          </a:xfrm>
        </p:spPr>
        <p:txBody>
          <a:bodyPr>
            <a:noAutofit/>
          </a:bodyPr>
          <a:lstStyle/>
          <a:p>
            <a:r>
              <a:rPr lang="pt-BR" sz="4000" b="1"/>
              <a:t>Delegate Class </a:t>
            </a:r>
            <a:endParaRPr lang="en-US" sz="4000" b="1" dirty="0"/>
          </a:p>
        </p:txBody>
      </p:sp>
      <p:graphicFrame>
        <p:nvGraphicFramePr>
          <p:cNvPr id="5" name="Table 4">
            <a:extLst>
              <a:ext uri="{FF2B5EF4-FFF2-40B4-BE49-F238E27FC236}">
                <a16:creationId xmlns:a16="http://schemas.microsoft.com/office/drawing/2014/main" id="{127D6897-3F46-471D-9755-BD72E4ADA667}"/>
              </a:ext>
            </a:extLst>
          </p:cNvPr>
          <p:cNvGraphicFramePr>
            <a:graphicFrameLocks noGrp="1"/>
          </p:cNvGraphicFramePr>
          <p:nvPr>
            <p:extLst>
              <p:ext uri="{D42A27DB-BD31-4B8C-83A1-F6EECF244321}">
                <p14:modId xmlns:p14="http://schemas.microsoft.com/office/powerpoint/2010/main" val="2011772903"/>
              </p:ext>
            </p:extLst>
          </p:nvPr>
        </p:nvGraphicFramePr>
        <p:xfrm>
          <a:off x="294291" y="4392998"/>
          <a:ext cx="11487806" cy="1273588"/>
        </p:xfrm>
        <a:graphic>
          <a:graphicData uri="http://schemas.openxmlformats.org/drawingml/2006/table">
            <a:tbl>
              <a:tblPr firstRow="1" firstCol="1" bandRow="1"/>
              <a:tblGrid>
                <a:gridCol w="2890343">
                  <a:extLst>
                    <a:ext uri="{9D8B030D-6E8A-4147-A177-3AD203B41FA5}">
                      <a16:colId xmlns:a16="http://schemas.microsoft.com/office/drawing/2014/main" val="697101626"/>
                    </a:ext>
                  </a:extLst>
                </a:gridCol>
                <a:gridCol w="8597463">
                  <a:extLst>
                    <a:ext uri="{9D8B030D-6E8A-4147-A177-3AD203B41FA5}">
                      <a16:colId xmlns:a16="http://schemas.microsoft.com/office/drawing/2014/main" val="2938972651"/>
                    </a:ext>
                  </a:extLst>
                </a:gridCol>
              </a:tblGrid>
              <a:tr h="425057">
                <a:tc gridSpan="2">
                  <a:txBody>
                    <a:bodyPr/>
                    <a:lstStyle/>
                    <a:p>
                      <a:pPr marL="0" marR="0" algn="l">
                        <a:lnSpc>
                          <a:spcPct val="107000"/>
                        </a:lnSpc>
                        <a:spcBef>
                          <a:spcPts val="0"/>
                        </a:spcBef>
                        <a:spcAft>
                          <a:spcPts val="0"/>
                        </a:spcAft>
                      </a:pPr>
                      <a:r>
                        <a:rPr lang="en-US" sz="1800" b="1">
                          <a:solidFill>
                            <a:srgbClr val="171717"/>
                          </a:solidFill>
                          <a:effectLst/>
                          <a:latin typeface="+mj-lt"/>
                          <a:ea typeface="Times New Roman" panose="02020603050405020304" pitchFamily="18" charset="0"/>
                          <a:cs typeface="Times New Roman" panose="02020603050405020304" pitchFamily="18" charset="0"/>
                        </a:rPr>
                        <a:t>Properties</a:t>
                      </a:r>
                      <a:endParaRPr lang="en-US" sz="1800" b="1">
                        <a:effectLst/>
                        <a:latin typeface="+mj-lt"/>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hMerge="1">
                  <a:txBody>
                    <a:bodyPr/>
                    <a:lstStyle/>
                    <a:p>
                      <a:pPr marL="0" marR="0" algn="l">
                        <a:lnSpc>
                          <a:spcPct val="107000"/>
                        </a:lnSpc>
                        <a:spcBef>
                          <a:spcPts val="0"/>
                        </a:spcBef>
                        <a:spcAft>
                          <a:spcPts val="0"/>
                        </a:spcAft>
                      </a:pPr>
                      <a:r>
                        <a:rPr lang="en-US" sz="1500" b="1">
                          <a:solidFill>
                            <a:srgbClr val="171717"/>
                          </a:solidFill>
                          <a:effectLst/>
                          <a:latin typeface="+mj-lt"/>
                          <a:ea typeface="Times New Roman" panose="02020603050405020304" pitchFamily="18" charset="0"/>
                          <a:cs typeface="Times New Roman" panose="02020603050405020304" pitchFamily="18" charset="0"/>
                        </a:rPr>
                        <a:t>Description</a:t>
                      </a:r>
                      <a:endParaRPr lang="en-US" sz="15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413696">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Method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Gets the method represented by the delegate</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748474295"/>
                  </a:ext>
                </a:extLst>
              </a:tr>
              <a:tr h="434835">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Target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Gets the class instance on which the current delegate invokes the instance method</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3262103"/>
                  </a:ext>
                </a:extLst>
              </a:tr>
            </a:tbl>
          </a:graphicData>
        </a:graphic>
      </p:graphicFrame>
      <p:graphicFrame>
        <p:nvGraphicFramePr>
          <p:cNvPr id="10" name="Table 9">
            <a:extLst>
              <a:ext uri="{FF2B5EF4-FFF2-40B4-BE49-F238E27FC236}">
                <a16:creationId xmlns:a16="http://schemas.microsoft.com/office/drawing/2014/main" id="{8852140C-DF24-4D5D-9C2A-9762D2A81E02}"/>
              </a:ext>
            </a:extLst>
          </p:cNvPr>
          <p:cNvGraphicFramePr>
            <a:graphicFrameLocks noGrp="1"/>
          </p:cNvGraphicFramePr>
          <p:nvPr>
            <p:extLst>
              <p:ext uri="{D42A27DB-BD31-4B8C-83A1-F6EECF244321}">
                <p14:modId xmlns:p14="http://schemas.microsoft.com/office/powerpoint/2010/main" val="3155565454"/>
              </p:ext>
            </p:extLst>
          </p:nvPr>
        </p:nvGraphicFramePr>
        <p:xfrm>
          <a:off x="294291" y="2512625"/>
          <a:ext cx="11487806" cy="1273588"/>
        </p:xfrm>
        <a:graphic>
          <a:graphicData uri="http://schemas.openxmlformats.org/drawingml/2006/table">
            <a:tbl>
              <a:tblPr firstRow="1" firstCol="1" bandRow="1"/>
              <a:tblGrid>
                <a:gridCol w="2840720">
                  <a:extLst>
                    <a:ext uri="{9D8B030D-6E8A-4147-A177-3AD203B41FA5}">
                      <a16:colId xmlns:a16="http://schemas.microsoft.com/office/drawing/2014/main" val="697101626"/>
                    </a:ext>
                  </a:extLst>
                </a:gridCol>
                <a:gridCol w="8647086">
                  <a:extLst>
                    <a:ext uri="{9D8B030D-6E8A-4147-A177-3AD203B41FA5}">
                      <a16:colId xmlns:a16="http://schemas.microsoft.com/office/drawing/2014/main" val="2938972651"/>
                    </a:ext>
                  </a:extLst>
                </a:gridCol>
              </a:tblGrid>
              <a:tr h="425057">
                <a:tc gridSpan="2">
                  <a:txBody>
                    <a:bodyPr/>
                    <a:lstStyle/>
                    <a:p>
                      <a:pPr marL="0" marR="0" algn="l">
                        <a:lnSpc>
                          <a:spcPct val="100000"/>
                        </a:lnSpc>
                        <a:spcBef>
                          <a:spcPts val="0"/>
                        </a:spcBef>
                        <a:spcAft>
                          <a:spcPts val="0"/>
                        </a:spcAft>
                      </a:pPr>
                      <a:r>
                        <a:rPr lang="en-US" sz="2000" b="1" kern="1200">
                          <a:solidFill>
                            <a:srgbClr val="171717"/>
                          </a:solidFill>
                          <a:effectLst/>
                          <a:latin typeface="+mj-lt"/>
                          <a:ea typeface="Calibri"/>
                          <a:cs typeface="Times New Roman" panose="02020603050405020304" pitchFamily="18" charset="0"/>
                        </a:rPr>
                        <a:t>Constructors</a:t>
                      </a:r>
                      <a:endParaRPr lang="en-US" sz="2000" b="1" kern="1200" dirty="0">
                        <a:solidFill>
                          <a:srgbClr val="171717"/>
                        </a:solidFill>
                        <a:effectLst/>
                        <a:latin typeface="+mj-lt"/>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hMerge="1">
                  <a:txBody>
                    <a:bodyPr/>
                    <a:lstStyle/>
                    <a:p>
                      <a:pPr marL="0" marR="0" algn="ctr">
                        <a:lnSpc>
                          <a:spcPct val="100000"/>
                        </a:lnSpc>
                        <a:spcBef>
                          <a:spcPts val="0"/>
                        </a:spcBef>
                        <a:spcAft>
                          <a:spcPts val="0"/>
                        </a:spcAft>
                      </a:pPr>
                      <a:r>
                        <a:rPr lang="en-US" sz="1500" b="1" dirty="0">
                          <a:solidFill>
                            <a:srgbClr val="000000"/>
                          </a:solidFill>
                          <a:latin typeface="+mj-lt"/>
                          <a:ea typeface="Calibri"/>
                        </a:rPr>
                        <a:t>Description</a:t>
                      </a:r>
                      <a:endParaRPr lang="en-US" sz="1500" dirty="0">
                        <a:latin typeface="+mj-lt"/>
                        <a:ea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413696">
                <a:tc>
                  <a:txBody>
                    <a:bodyPr/>
                    <a:lstStyle/>
                    <a:p>
                      <a:pPr marL="0" marR="0" algn="just">
                        <a:lnSpc>
                          <a:spcPct val="100000"/>
                        </a:lnSpc>
                        <a:spcBef>
                          <a:spcPts val="0"/>
                        </a:spcBef>
                        <a:spcAft>
                          <a:spcPts val="0"/>
                        </a:spcAft>
                      </a:pPr>
                      <a:r>
                        <a:rPr lang="en-US" sz="1800" b="0" i="0" u="none" kern="1200" dirty="0">
                          <a:solidFill>
                            <a:srgbClr val="2E74B5"/>
                          </a:solidFill>
                          <a:effectLst/>
                          <a:latin typeface="Arial" panose="020B0604020202020204" pitchFamily="34" charset="0"/>
                          <a:ea typeface="Calibri"/>
                          <a:cs typeface="Times New Roman" panose="02020603050405020304" pitchFamily="18" charset="0"/>
                        </a:rPr>
                        <a:t>Delegate(object, string)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0000"/>
                        </a:lnSpc>
                        <a:spcBef>
                          <a:spcPts val="0"/>
                        </a:spcBef>
                        <a:spcAft>
                          <a:spcPts val="0"/>
                        </a:spcAft>
                      </a:pPr>
                      <a:r>
                        <a:rPr lang="en-US" sz="1800" b="0" kern="1200" dirty="0">
                          <a:solidFill>
                            <a:schemeClr val="tx1"/>
                          </a:solidFill>
                          <a:effectLst/>
                          <a:latin typeface="Arial" panose="020B0604020202020204" pitchFamily="34" charset="0"/>
                          <a:ea typeface="Calibri"/>
                          <a:cs typeface="Times New Roman" panose="02020603050405020304" pitchFamily="18" charset="0"/>
                        </a:rPr>
                        <a:t>Calls a method referenced by the object of the class given as the parameter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748474295"/>
                  </a:ext>
                </a:extLst>
              </a:tr>
              <a:tr h="434835">
                <a:tc>
                  <a:txBody>
                    <a:bodyPr/>
                    <a:lstStyle/>
                    <a:p>
                      <a:pPr marL="0" marR="0" algn="just">
                        <a:lnSpc>
                          <a:spcPct val="100000"/>
                        </a:lnSpc>
                        <a:spcBef>
                          <a:spcPts val="0"/>
                        </a:spcBef>
                        <a:spcAft>
                          <a:spcPts val="0"/>
                        </a:spcAft>
                      </a:pPr>
                      <a:r>
                        <a:rPr lang="en-US" sz="1800" b="0" i="0" u="none" kern="1200" dirty="0">
                          <a:solidFill>
                            <a:srgbClr val="2E74B5"/>
                          </a:solidFill>
                          <a:effectLst/>
                          <a:latin typeface="Arial" panose="020B0604020202020204" pitchFamily="34" charset="0"/>
                          <a:ea typeface="Calibri"/>
                          <a:cs typeface="Times New Roman" panose="02020603050405020304" pitchFamily="18" charset="0"/>
                        </a:rPr>
                        <a:t>Delegate(type, string)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0000"/>
                        </a:lnSpc>
                        <a:spcBef>
                          <a:spcPts val="0"/>
                        </a:spcBef>
                        <a:spcAft>
                          <a:spcPts val="0"/>
                        </a:spcAft>
                      </a:pPr>
                      <a:r>
                        <a:rPr lang="en-US" sz="1800" b="0" kern="1200" dirty="0">
                          <a:solidFill>
                            <a:schemeClr val="tx1"/>
                          </a:solidFill>
                          <a:effectLst/>
                          <a:latin typeface="Arial" panose="020B0604020202020204" pitchFamily="34" charset="0"/>
                          <a:ea typeface="Calibri"/>
                          <a:cs typeface="Times New Roman" panose="02020603050405020304" pitchFamily="18" charset="0"/>
                        </a:rPr>
                        <a:t>Calls a static method of the class given as the parameter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3262103"/>
                  </a:ext>
                </a:extLst>
              </a:tr>
            </a:tbl>
          </a:graphicData>
        </a:graphic>
      </p:graphicFrame>
      <p:sp>
        <p:nvSpPr>
          <p:cNvPr id="11" name="TextBox 10">
            <a:extLst>
              <a:ext uri="{FF2B5EF4-FFF2-40B4-BE49-F238E27FC236}">
                <a16:creationId xmlns:a16="http://schemas.microsoft.com/office/drawing/2014/main" id="{4345D233-90B4-4189-8D6C-73B8EC8438A1}"/>
              </a:ext>
            </a:extLst>
          </p:cNvPr>
          <p:cNvSpPr txBox="1"/>
          <p:nvPr/>
        </p:nvSpPr>
        <p:spPr>
          <a:xfrm>
            <a:off x="-64008" y="1491179"/>
            <a:ext cx="11627072" cy="618374"/>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Delegate class is a built-in class defined to create delegates in C#</a:t>
            </a:r>
          </a:p>
        </p:txBody>
      </p:sp>
    </p:spTree>
    <p:extLst>
      <p:ext uri="{BB962C8B-B14F-4D97-AF65-F5344CB8AC3E}">
        <p14:creationId xmlns:p14="http://schemas.microsoft.com/office/powerpoint/2010/main" val="1943943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385333" cy="575433"/>
          </a:xfrm>
        </p:spPr>
        <p:txBody>
          <a:bodyPr>
            <a:noAutofit/>
          </a:bodyPr>
          <a:lstStyle/>
          <a:p>
            <a:r>
              <a:rPr lang="pt-BR" sz="4000" b="1"/>
              <a:t>Delegate Class </a:t>
            </a:r>
            <a:endParaRPr lang="en-US" sz="4000" b="1" dirty="0"/>
          </a:p>
        </p:txBody>
      </p:sp>
      <p:graphicFrame>
        <p:nvGraphicFramePr>
          <p:cNvPr id="6" name="Table 5">
            <a:extLst>
              <a:ext uri="{FF2B5EF4-FFF2-40B4-BE49-F238E27FC236}">
                <a16:creationId xmlns:a16="http://schemas.microsoft.com/office/drawing/2014/main" id="{6A1599A6-4DA1-419C-9C91-3618AD9A4D9D}"/>
              </a:ext>
            </a:extLst>
          </p:cNvPr>
          <p:cNvGraphicFramePr>
            <a:graphicFrameLocks noGrp="1"/>
          </p:cNvGraphicFramePr>
          <p:nvPr>
            <p:extLst>
              <p:ext uri="{D42A27DB-BD31-4B8C-83A1-F6EECF244321}">
                <p14:modId xmlns:p14="http://schemas.microsoft.com/office/powerpoint/2010/main" val="4101599999"/>
              </p:ext>
            </p:extLst>
          </p:nvPr>
        </p:nvGraphicFramePr>
        <p:xfrm>
          <a:off x="641458" y="1591481"/>
          <a:ext cx="10895942" cy="4150375"/>
        </p:xfrm>
        <a:graphic>
          <a:graphicData uri="http://schemas.openxmlformats.org/drawingml/2006/table">
            <a:tbl>
              <a:tblPr firstRow="1" firstCol="1" bandRow="1"/>
              <a:tblGrid>
                <a:gridCol w="3412576">
                  <a:extLst>
                    <a:ext uri="{9D8B030D-6E8A-4147-A177-3AD203B41FA5}">
                      <a16:colId xmlns:a16="http://schemas.microsoft.com/office/drawing/2014/main" val="697101626"/>
                    </a:ext>
                  </a:extLst>
                </a:gridCol>
                <a:gridCol w="7483366">
                  <a:extLst>
                    <a:ext uri="{9D8B030D-6E8A-4147-A177-3AD203B41FA5}">
                      <a16:colId xmlns:a16="http://schemas.microsoft.com/office/drawing/2014/main" val="2938972651"/>
                    </a:ext>
                  </a:extLst>
                </a:gridCol>
              </a:tblGrid>
              <a:tr h="460383">
                <a:tc gridSpan="2">
                  <a:txBody>
                    <a:bodyPr/>
                    <a:lstStyle/>
                    <a:p>
                      <a:pPr marL="0" marR="0" algn="l">
                        <a:lnSpc>
                          <a:spcPct val="107000"/>
                        </a:lnSpc>
                        <a:spcBef>
                          <a:spcPts val="0"/>
                        </a:spcBef>
                        <a:spcAft>
                          <a:spcPts val="0"/>
                        </a:spcAft>
                      </a:pPr>
                      <a:r>
                        <a:rPr lang="en-US" sz="1800" b="1" u="none">
                          <a:solidFill>
                            <a:srgbClr val="171717"/>
                          </a:solidFill>
                          <a:effectLst/>
                          <a:latin typeface="+mj-lt"/>
                          <a:ea typeface="Times New Roman" panose="02020603050405020304" pitchFamily="18" charset="0"/>
                          <a:cs typeface="Times New Roman" panose="02020603050405020304" pitchFamily="18" charset="0"/>
                        </a:rPr>
                        <a:t>Methods</a:t>
                      </a:r>
                      <a:endParaRPr lang="en-US" sz="1800" b="1" u="none">
                        <a:effectLst/>
                        <a:latin typeface="+mj-lt"/>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hMerge="1">
                  <a:txBody>
                    <a:bodyPr/>
                    <a:lstStyle/>
                    <a:p>
                      <a:pPr marL="0" marR="0" algn="l">
                        <a:lnSpc>
                          <a:spcPct val="107000"/>
                        </a:lnSpc>
                        <a:spcBef>
                          <a:spcPts val="0"/>
                        </a:spcBef>
                        <a:spcAft>
                          <a:spcPts val="0"/>
                        </a:spcAft>
                      </a:pPr>
                      <a:r>
                        <a:rPr lang="en-US" sz="1500" b="1">
                          <a:solidFill>
                            <a:srgbClr val="171717"/>
                          </a:solidFill>
                          <a:effectLst/>
                          <a:latin typeface="+mj-lt"/>
                          <a:ea typeface="Times New Roman" panose="02020603050405020304" pitchFamily="18" charset="0"/>
                          <a:cs typeface="Times New Roman" panose="02020603050405020304" pitchFamily="18" charset="0"/>
                        </a:rPr>
                        <a:t>Description</a:t>
                      </a:r>
                      <a:endParaRPr lang="en-US" sz="15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384446">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Combine(Delegate, Delegate)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Concatenates the invocation lists of two delegates</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3453262103"/>
                  </a:ext>
                </a:extLst>
              </a:tr>
              <a:tr h="619754">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CreateDelegate(Type, MethodInfo)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Creates a delegate of the specified type to represent the specified static method</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231233668"/>
                  </a:ext>
                </a:extLst>
              </a:tr>
              <a:tr h="619754">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DynamicInvoke(Object[])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Dynamically invokes (late-bound) the method represented by the current delegate</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2130248112"/>
                  </a:ext>
                </a:extLst>
              </a:tr>
              <a:tr h="404866">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GetInvocationList()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Returns the invocation list of the delegate</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2550637306"/>
                  </a:ext>
                </a:extLst>
              </a:tr>
              <a:tr h="415653">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GetMethodImpl()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Gets the static method represented by the current delegate</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811584096"/>
                  </a:ext>
                </a:extLst>
              </a:tr>
              <a:tr h="619754">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RemoveImpl(Delegate)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800"/>
                        </a:spcAft>
                      </a:pPr>
                      <a:r>
                        <a:rPr lang="en-US" sz="1800" b="0">
                          <a:solidFill>
                            <a:schemeClr val="tx1"/>
                          </a:solidFill>
                          <a:effectLst/>
                          <a:latin typeface="Arial" panose="020B0604020202020204" pitchFamily="34" charset="0"/>
                          <a:ea typeface="Calibri" panose="020F0502020204030204" pitchFamily="34" charset="0"/>
                          <a:cs typeface="Times New Roman" panose="02020603050405020304" pitchFamily="18" charset="0"/>
                        </a:rPr>
                        <a:t>Removes the invocation list of a delegate from the invocation list of another delegate</a:t>
                      </a:r>
                      <a:endParaRPr lang="en-US" sz="1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3404780629"/>
                  </a:ext>
                </a:extLst>
              </a:tr>
              <a:tr h="330916">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Clone()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defTabSz="914400" rtl="0" eaLnBrk="1" latinLnBrk="0" hangingPunct="1">
                        <a:lnSpc>
                          <a:spcPct val="107000"/>
                        </a:lnSpc>
                        <a:spcBef>
                          <a:spcPts val="0"/>
                        </a:spcBef>
                        <a:spcAft>
                          <a:spcPts val="800"/>
                        </a:spcAft>
                      </a:pPr>
                      <a:r>
                        <a:rPr lang="en-US"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rPr>
                        <a:t>Creates a shallow copy of the delegate.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781454125"/>
                  </a:ext>
                </a:extLst>
              </a:tr>
              <a:tr h="294849">
                <a:tc>
                  <a:txBody>
                    <a:bodyPr/>
                    <a:lstStyle/>
                    <a:p>
                      <a:pPr marL="0" marR="0" algn="l" defTabSz="914400" rtl="0" eaLnBrk="1" latinLnBrk="0" hangingPunct="1">
                        <a:lnSpc>
                          <a:spcPct val="107000"/>
                        </a:lnSpc>
                        <a:spcBef>
                          <a:spcPts val="0"/>
                        </a:spcBef>
                        <a:spcAft>
                          <a:spcPts val="800"/>
                        </a:spcAft>
                      </a:pPr>
                      <a:r>
                        <a:rPr lang="en-US" sz="1800" b="0" i="0" u="none" kern="1200">
                          <a:solidFill>
                            <a:srgbClr val="2E74B5"/>
                          </a:solidFill>
                          <a:effectLst/>
                          <a:latin typeface="Arial" panose="020B0604020202020204" pitchFamily="34" charset="0"/>
                          <a:ea typeface="Calibri" panose="020F0502020204030204" pitchFamily="34" charset="0"/>
                          <a:cs typeface="Times New Roman" panose="02020603050405020304" pitchFamily="18" charset="0"/>
                        </a:rPr>
                        <a:t>MemberwiseClone()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defTabSz="914400" rtl="0" eaLnBrk="1" latinLnBrk="0" hangingPunct="1">
                        <a:lnSpc>
                          <a:spcPct val="107000"/>
                        </a:lnSpc>
                        <a:spcBef>
                          <a:spcPts val="0"/>
                        </a:spcBef>
                        <a:spcAft>
                          <a:spcPts val="800"/>
                        </a:spcAft>
                      </a:pPr>
                      <a:r>
                        <a:rPr lang="en-US"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rPr>
                        <a:t>Creates a shallow copy of the current </a:t>
                      </a:r>
                      <a:r>
                        <a:rPr lang="en-US"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Object</a:t>
                      </a:r>
                      <a:r>
                        <a:rPr lang="en-US"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rPr>
                        <a:t>.(Inherited from </a:t>
                      </a:r>
                      <a:r>
                        <a:rPr lang="en-US"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Object</a:t>
                      </a:r>
                      <a:r>
                        <a:rPr lang="en-US"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539719"/>
                  </a:ext>
                </a:extLst>
              </a:tr>
            </a:tbl>
          </a:graphicData>
        </a:graphic>
      </p:graphicFrame>
      <p:sp>
        <p:nvSpPr>
          <p:cNvPr id="8" name="TextBox 7">
            <a:extLst>
              <a:ext uri="{FF2B5EF4-FFF2-40B4-BE49-F238E27FC236}">
                <a16:creationId xmlns:a16="http://schemas.microsoft.com/office/drawing/2014/main" id="{2AFCCCA3-2848-47D0-B2FD-62AFD26E0030}"/>
              </a:ext>
            </a:extLst>
          </p:cNvPr>
          <p:cNvSpPr txBox="1"/>
          <p:nvPr/>
        </p:nvSpPr>
        <p:spPr>
          <a:xfrm>
            <a:off x="34159" y="5900712"/>
            <a:ext cx="11845160" cy="400110"/>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000">
                <a:solidFill>
                  <a:srgbClr val="111111"/>
                </a:solidFill>
                <a:latin typeface="+mj-lt"/>
              </a:rPr>
              <a:t>More Delegate Class:  </a:t>
            </a:r>
            <a:r>
              <a:rPr lang="en-US" sz="2000">
                <a:solidFill>
                  <a:srgbClr val="111111"/>
                </a:solidFill>
                <a:latin typeface="+mj-lt"/>
                <a:hlinkClick r:id="rId4"/>
              </a:rPr>
              <a:t>https://docs.microsoft.com/en-us/dotnet/api/system.delegate?view=net-5.0</a:t>
            </a:r>
            <a:endParaRPr lang="en-US" sz="2000">
              <a:solidFill>
                <a:srgbClr val="111111"/>
              </a:solidFill>
              <a:latin typeface="+mj-lt"/>
            </a:endParaRPr>
          </a:p>
        </p:txBody>
      </p:sp>
    </p:spTree>
    <p:extLst>
      <p:ext uri="{BB962C8B-B14F-4D97-AF65-F5344CB8AC3E}">
        <p14:creationId xmlns:p14="http://schemas.microsoft.com/office/powerpoint/2010/main" val="86203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Delegate Type</a:t>
            </a:r>
            <a:endParaRPr lang="en-US" sz="4000" b="1" dirty="0"/>
          </a:p>
        </p:txBody>
      </p:sp>
      <p:grpSp>
        <p:nvGrpSpPr>
          <p:cNvPr id="2" name="Group 1">
            <a:extLst>
              <a:ext uri="{FF2B5EF4-FFF2-40B4-BE49-F238E27FC236}">
                <a16:creationId xmlns:a16="http://schemas.microsoft.com/office/drawing/2014/main" id="{93781ECB-BF82-49B5-B895-AAA08018BED5}"/>
              </a:ext>
            </a:extLst>
          </p:cNvPr>
          <p:cNvGrpSpPr/>
          <p:nvPr/>
        </p:nvGrpSpPr>
        <p:grpSpPr>
          <a:xfrm>
            <a:off x="801412" y="4182431"/>
            <a:ext cx="10344807" cy="2173638"/>
            <a:chOff x="1375540" y="4001103"/>
            <a:chExt cx="9440918" cy="2398168"/>
          </a:xfrm>
        </p:grpSpPr>
        <p:sp>
          <p:nvSpPr>
            <p:cNvPr id="10" name="Text Box 6">
              <a:extLst>
                <a:ext uri="{FF2B5EF4-FFF2-40B4-BE49-F238E27FC236}">
                  <a16:creationId xmlns:a16="http://schemas.microsoft.com/office/drawing/2014/main" id="{165BADC1-1292-48D5-A7D3-855EAFD3A556}"/>
                </a:ext>
              </a:extLst>
            </p:cNvPr>
            <p:cNvSpPr txBox="1">
              <a:spLocks noChangeArrowheads="1"/>
            </p:cNvSpPr>
            <p:nvPr/>
          </p:nvSpPr>
          <p:spPr bwMode="auto">
            <a:xfrm>
              <a:off x="1375541" y="4482616"/>
              <a:ext cx="9440917" cy="667452"/>
            </a:xfrm>
            <a:prstGeom prst="rect">
              <a:avLst/>
            </a:prstGeom>
            <a:ln w="19050">
              <a:headEnd/>
              <a:tailEnd/>
            </a:ln>
          </p:spPr>
          <p:style>
            <a:lnRef idx="2">
              <a:schemeClr val="accent2"/>
            </a:lnRef>
            <a:fillRef idx="1">
              <a:schemeClr val="lt1"/>
            </a:fillRef>
            <a:effectRef idx="0">
              <a:schemeClr val="accent2"/>
            </a:effectRef>
            <a:fontRef idx="minor">
              <a:schemeClr val="dk1"/>
            </a:fontRef>
          </p:style>
          <p:txBody>
            <a:bodyPr anchor="t"/>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fontAlgn="base" hangingPunct="0">
                <a:spcAft>
                  <a:spcPct val="0"/>
                </a:spcAft>
                <a:buChar char="»"/>
                <a:defRPr sz="2000">
                  <a:solidFill>
                    <a:schemeClr val="tx1"/>
                  </a:solidFill>
                  <a:latin typeface="Arial" pitchFamily="34" charset="0"/>
                </a:defRPr>
              </a:lvl6pPr>
              <a:lvl7pPr eaLnBrk="0" fontAlgn="base" hangingPunct="0">
                <a:spcAft>
                  <a:spcPct val="0"/>
                </a:spcAft>
                <a:buChar char="»"/>
                <a:defRPr sz="2000">
                  <a:solidFill>
                    <a:schemeClr val="tx1"/>
                  </a:solidFill>
                  <a:latin typeface="Arial" pitchFamily="34" charset="0"/>
                </a:defRPr>
              </a:lvl7pPr>
              <a:lvl8pPr eaLnBrk="0" fontAlgn="base" hangingPunct="0">
                <a:spcAft>
                  <a:spcPct val="0"/>
                </a:spcAft>
                <a:buChar char="»"/>
                <a:defRPr sz="2000">
                  <a:solidFill>
                    <a:schemeClr val="tx1"/>
                  </a:solidFill>
                  <a:latin typeface="Arial" pitchFamily="34" charset="0"/>
                </a:defRPr>
              </a:lvl8pPr>
              <a:lvl9pPr eaLnBrk="0" fontAlgn="base" hangingPunct="0">
                <a:spcAft>
                  <a:spcPct val="0"/>
                </a:spcAft>
                <a:buChar char="»"/>
                <a:defRPr sz="2000">
                  <a:solidFill>
                    <a:schemeClr val="tx1"/>
                  </a:solidFill>
                  <a:latin typeface="Arial" pitchFamily="34" charset="0"/>
                </a:defRPr>
              </a:lvl9pPr>
            </a:lstStyle>
            <a:p>
              <a:pPr eaLnBrk="1" hangingPunct="1">
                <a:lnSpc>
                  <a:spcPct val="150000"/>
                </a:lnSpc>
                <a:spcBef>
                  <a:spcPts val="600"/>
                </a:spcBef>
              </a:pPr>
              <a:r>
                <a:rPr lang="en-US" sz="2100" b="1">
                  <a:solidFill>
                    <a:srgbClr val="000000"/>
                  </a:solidFill>
                  <a:latin typeface="+mj-lt"/>
                  <a:ea typeface="Calibri" pitchFamily="34" charset="0"/>
                  <a:cs typeface="Times New Roman" pitchFamily="18" charset="0"/>
                </a:rPr>
                <a:t>&lt;access_</a:t>
              </a:r>
              <a:r>
                <a:rPr lang="en-US" sz="2100" b="1" dirty="0" err="1">
                  <a:solidFill>
                    <a:srgbClr val="000000"/>
                  </a:solidFill>
                  <a:latin typeface="+mj-lt"/>
                  <a:ea typeface="Calibri" pitchFamily="34" charset="0"/>
                  <a:cs typeface="Times New Roman" pitchFamily="18" charset="0"/>
                </a:rPr>
                <a:t>modifier</a:t>
              </a:r>
              <a:r>
                <a:rPr lang="en-US" sz="2100" b="1" dirty="0">
                  <a:solidFill>
                    <a:srgbClr val="000000"/>
                  </a:solidFill>
                  <a:latin typeface="+mj-lt"/>
                  <a:ea typeface="Calibri" pitchFamily="34" charset="0"/>
                  <a:cs typeface="Times New Roman" pitchFamily="18" charset="0"/>
                </a:rPr>
                <a:t>&gt; </a:t>
              </a:r>
              <a:r>
                <a:rPr lang="en-US" sz="2100" b="1" dirty="0">
                  <a:solidFill>
                    <a:srgbClr val="FF0000"/>
                  </a:solidFill>
                  <a:latin typeface="+mj-lt"/>
                  <a:ea typeface="Calibri" pitchFamily="34" charset="0"/>
                  <a:cs typeface="Times New Roman" pitchFamily="18" charset="0"/>
                </a:rPr>
                <a:t>delegate</a:t>
              </a:r>
              <a:r>
                <a:rPr lang="en-US" sz="2100" dirty="0">
                  <a:solidFill>
                    <a:srgbClr val="000000"/>
                  </a:solidFill>
                  <a:latin typeface="+mj-lt"/>
                  <a:ea typeface="Calibri" pitchFamily="34" charset="0"/>
                  <a:cs typeface="Times New Roman" pitchFamily="18" charset="0"/>
                </a:rPr>
                <a:t> </a:t>
              </a:r>
              <a:r>
                <a:rPr lang="en-US" sz="2100" b="1">
                  <a:solidFill>
                    <a:srgbClr val="000000"/>
                  </a:solidFill>
                  <a:latin typeface="+mj-lt"/>
                  <a:ea typeface="Calibri" pitchFamily="34" charset="0"/>
                  <a:cs typeface="Times New Roman" pitchFamily="18" charset="0"/>
                </a:rPr>
                <a:t>&lt;return_</a:t>
              </a:r>
              <a:r>
                <a:rPr lang="en-US" sz="2100" b="1" dirty="0" err="1">
                  <a:solidFill>
                    <a:srgbClr val="000000"/>
                  </a:solidFill>
                  <a:latin typeface="+mj-lt"/>
                  <a:ea typeface="Calibri" pitchFamily="34" charset="0"/>
                  <a:cs typeface="Times New Roman" pitchFamily="18" charset="0"/>
                </a:rPr>
                <a:t>type</a:t>
              </a:r>
              <a:r>
                <a:rPr lang="en-US" sz="2100" b="1" dirty="0">
                  <a:solidFill>
                    <a:srgbClr val="000000"/>
                  </a:solidFill>
                  <a:latin typeface="+mj-lt"/>
                  <a:ea typeface="Calibri" pitchFamily="34" charset="0"/>
                  <a:cs typeface="Times New Roman" pitchFamily="18" charset="0"/>
                </a:rPr>
                <a:t>&gt; </a:t>
              </a:r>
              <a:r>
                <a:rPr lang="en-US" sz="2100" b="1" dirty="0" err="1">
                  <a:solidFill>
                    <a:srgbClr val="00B0F0"/>
                  </a:solidFill>
                  <a:latin typeface="+mj-lt"/>
                  <a:ea typeface="Calibri" pitchFamily="34" charset="0"/>
                  <a:cs typeface="Times New Roman" pitchFamily="18" charset="0"/>
                </a:rPr>
                <a:t>DelegateName</a:t>
              </a:r>
              <a:r>
                <a:rPr lang="en-US" sz="2100" b="1" dirty="0">
                  <a:solidFill>
                    <a:srgbClr val="000000"/>
                  </a:solidFill>
                  <a:latin typeface="+mj-lt"/>
                  <a:ea typeface="Calibri" pitchFamily="34" charset="0"/>
                  <a:cs typeface="Times New Roman" pitchFamily="18" charset="0"/>
                </a:rPr>
                <a:t>([</a:t>
              </a:r>
              <a:r>
                <a:rPr lang="en-US" sz="2100" b="1" i="1" dirty="0">
                  <a:solidFill>
                    <a:srgbClr val="000000"/>
                  </a:solidFill>
                  <a:latin typeface="+mj-lt"/>
                  <a:ea typeface="Calibri" pitchFamily="34" charset="0"/>
                  <a:cs typeface="Times New Roman" pitchFamily="18" charset="0"/>
                </a:rPr>
                <a:t>parameters</a:t>
              </a:r>
              <a:r>
                <a:rPr lang="en-US" sz="2100" b="1" dirty="0">
                  <a:solidFill>
                    <a:srgbClr val="000000"/>
                  </a:solidFill>
                  <a:latin typeface="+mj-lt"/>
                  <a:ea typeface="Calibri" pitchFamily="34" charset="0"/>
                  <a:cs typeface="Times New Roman" pitchFamily="18" charset="0"/>
                </a:rPr>
                <a:t>]); </a:t>
              </a:r>
              <a:endParaRPr lang="en-US" sz="2100" b="1" dirty="0">
                <a:latin typeface="+mj-lt"/>
                <a:ea typeface="Calibri" pitchFamily="34" charset="0"/>
                <a:cs typeface="Times New Roman" pitchFamily="18" charset="0"/>
              </a:endParaRPr>
            </a:p>
          </p:txBody>
        </p:sp>
        <p:sp>
          <p:nvSpPr>
            <p:cNvPr id="11" name="Text Box 4">
              <a:extLst>
                <a:ext uri="{FF2B5EF4-FFF2-40B4-BE49-F238E27FC236}">
                  <a16:creationId xmlns:a16="http://schemas.microsoft.com/office/drawing/2014/main" id="{C131C4C6-664B-43CB-A10A-36E1D7613CFC}"/>
                </a:ext>
              </a:extLst>
            </p:cNvPr>
            <p:cNvSpPr txBox="1">
              <a:spLocks noChangeArrowheads="1"/>
            </p:cNvSpPr>
            <p:nvPr/>
          </p:nvSpPr>
          <p:spPr bwMode="auto">
            <a:xfrm>
              <a:off x="1375542" y="4001103"/>
              <a:ext cx="1447800" cy="458418"/>
            </a:xfrm>
            <a:prstGeom prst="rect">
              <a:avLst/>
            </a:prstGeom>
            <a:solidFill>
              <a:srgbClr val="00B050"/>
            </a:solidFill>
            <a:ln>
              <a:noFill/>
            </a:ln>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fontAlgn="base" hangingPunct="0">
                <a:spcAft>
                  <a:spcPct val="0"/>
                </a:spcAft>
                <a:buChar char="»"/>
                <a:defRPr sz="2000">
                  <a:solidFill>
                    <a:schemeClr val="tx1"/>
                  </a:solidFill>
                  <a:latin typeface="Arial" pitchFamily="34" charset="0"/>
                </a:defRPr>
              </a:lvl6pPr>
              <a:lvl7pPr eaLnBrk="0" fontAlgn="base" hangingPunct="0">
                <a:spcAft>
                  <a:spcPct val="0"/>
                </a:spcAft>
                <a:buChar char="»"/>
                <a:defRPr sz="2000">
                  <a:solidFill>
                    <a:schemeClr val="tx1"/>
                  </a:solidFill>
                  <a:latin typeface="Arial" pitchFamily="34" charset="0"/>
                </a:defRPr>
              </a:lvl7pPr>
              <a:lvl8pPr eaLnBrk="0" fontAlgn="base" hangingPunct="0">
                <a:spcAft>
                  <a:spcPct val="0"/>
                </a:spcAft>
                <a:buChar char="»"/>
                <a:defRPr sz="2000">
                  <a:solidFill>
                    <a:schemeClr val="tx1"/>
                  </a:solidFill>
                  <a:latin typeface="Arial" pitchFamily="34" charset="0"/>
                </a:defRPr>
              </a:lvl8pPr>
              <a:lvl9pPr eaLnBrk="0" fontAlgn="base" hangingPunct="0">
                <a:spcAft>
                  <a:spcPct val="0"/>
                </a:spcAft>
                <a:buChar char="»"/>
                <a:defRPr sz="2000">
                  <a:solidFill>
                    <a:schemeClr val="tx1"/>
                  </a:solidFill>
                  <a:latin typeface="Arial" pitchFamily="34" charset="0"/>
                </a:defRPr>
              </a:lvl9pPr>
            </a:lstStyle>
            <a:p>
              <a:pPr algn="ctr" eaLnBrk="1" hangingPunct="1">
                <a:spcBef>
                  <a:spcPct val="50000"/>
                </a:spcBef>
              </a:pPr>
              <a:r>
                <a:rPr lang="en-US" sz="2100" dirty="0">
                  <a:solidFill>
                    <a:schemeClr val="bg1"/>
                  </a:solidFill>
                  <a:latin typeface="+mj-lt"/>
                </a:rPr>
                <a:t>Syntax</a:t>
              </a:r>
            </a:p>
          </p:txBody>
        </p:sp>
        <p:sp>
          <p:nvSpPr>
            <p:cNvPr id="12" name="Text Box 4">
              <a:extLst>
                <a:ext uri="{FF2B5EF4-FFF2-40B4-BE49-F238E27FC236}">
                  <a16:creationId xmlns:a16="http://schemas.microsoft.com/office/drawing/2014/main" id="{A351426E-DEB3-42B1-8F78-B466DE7FCAB6}"/>
                </a:ext>
              </a:extLst>
            </p:cNvPr>
            <p:cNvSpPr txBox="1">
              <a:spLocks noChangeArrowheads="1"/>
            </p:cNvSpPr>
            <p:nvPr/>
          </p:nvSpPr>
          <p:spPr bwMode="auto">
            <a:xfrm>
              <a:off x="1375542" y="5261008"/>
              <a:ext cx="1903686" cy="458418"/>
            </a:xfrm>
            <a:prstGeom prst="rect">
              <a:avLst/>
            </a:prstGeom>
            <a:solidFill>
              <a:srgbClr val="00B050"/>
            </a:solidFill>
            <a:ln>
              <a:noFill/>
            </a:ln>
          </p:spPr>
          <p:txBody>
            <a:bodyPr wrap="square">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fontAlgn="base" hangingPunct="0">
                <a:spcAft>
                  <a:spcPct val="0"/>
                </a:spcAft>
                <a:buChar char="»"/>
                <a:defRPr sz="2000">
                  <a:solidFill>
                    <a:schemeClr val="tx1"/>
                  </a:solidFill>
                  <a:latin typeface="Arial" pitchFamily="34" charset="0"/>
                </a:defRPr>
              </a:lvl6pPr>
              <a:lvl7pPr eaLnBrk="0" fontAlgn="base" hangingPunct="0">
                <a:spcAft>
                  <a:spcPct val="0"/>
                </a:spcAft>
                <a:buChar char="»"/>
                <a:defRPr sz="2000">
                  <a:solidFill>
                    <a:schemeClr val="tx1"/>
                  </a:solidFill>
                  <a:latin typeface="Arial" pitchFamily="34" charset="0"/>
                </a:defRPr>
              </a:lvl7pPr>
              <a:lvl8pPr eaLnBrk="0" fontAlgn="base" hangingPunct="0">
                <a:spcAft>
                  <a:spcPct val="0"/>
                </a:spcAft>
                <a:buChar char="»"/>
                <a:defRPr sz="2000">
                  <a:solidFill>
                    <a:schemeClr val="tx1"/>
                  </a:solidFill>
                  <a:latin typeface="Arial" pitchFamily="34" charset="0"/>
                </a:defRPr>
              </a:lvl8pPr>
              <a:lvl9pPr eaLnBrk="0" fontAlgn="base" hangingPunct="0">
                <a:spcAft>
                  <a:spcPct val="0"/>
                </a:spcAft>
                <a:buChar char="»"/>
                <a:defRPr sz="2000">
                  <a:solidFill>
                    <a:schemeClr val="tx1"/>
                  </a:solidFill>
                  <a:latin typeface="Arial" pitchFamily="34" charset="0"/>
                </a:defRPr>
              </a:lvl9pPr>
            </a:lstStyle>
            <a:p>
              <a:pPr algn="ctr" eaLnBrk="1" hangingPunct="1">
                <a:spcBef>
                  <a:spcPct val="50000"/>
                </a:spcBef>
              </a:pPr>
              <a:r>
                <a:rPr lang="en-US" sz="2100">
                  <a:solidFill>
                    <a:schemeClr val="bg1"/>
                  </a:solidFill>
                  <a:latin typeface="+mj-lt"/>
                </a:rPr>
                <a:t>For Example</a:t>
              </a:r>
              <a:endParaRPr lang="en-US" sz="2100" dirty="0">
                <a:solidFill>
                  <a:schemeClr val="bg1"/>
                </a:solidFill>
                <a:latin typeface="+mj-lt"/>
              </a:endParaRPr>
            </a:p>
          </p:txBody>
        </p:sp>
        <p:sp>
          <p:nvSpPr>
            <p:cNvPr id="13" name="Text Box 6">
              <a:extLst>
                <a:ext uri="{FF2B5EF4-FFF2-40B4-BE49-F238E27FC236}">
                  <a16:creationId xmlns:a16="http://schemas.microsoft.com/office/drawing/2014/main" id="{A5B51D25-F453-4FB7-B209-DBECE17BD788}"/>
                </a:ext>
              </a:extLst>
            </p:cNvPr>
            <p:cNvSpPr txBox="1">
              <a:spLocks noChangeArrowheads="1"/>
            </p:cNvSpPr>
            <p:nvPr/>
          </p:nvSpPr>
          <p:spPr bwMode="auto">
            <a:xfrm>
              <a:off x="1375540" y="5731819"/>
              <a:ext cx="9440917" cy="667452"/>
            </a:xfrm>
            <a:prstGeom prst="rect">
              <a:avLst/>
            </a:prstGeom>
            <a:ln w="19050">
              <a:headEnd/>
              <a:tailEnd/>
            </a:ln>
          </p:spPr>
          <p:style>
            <a:lnRef idx="2">
              <a:schemeClr val="accent2"/>
            </a:lnRef>
            <a:fillRef idx="1">
              <a:schemeClr val="lt1"/>
            </a:fillRef>
            <a:effectRef idx="0">
              <a:schemeClr val="accent2"/>
            </a:effectRef>
            <a:fontRef idx="minor">
              <a:schemeClr val="dk1"/>
            </a:fontRef>
          </p:style>
          <p:txBody>
            <a:bodyPr anchor="t"/>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fontAlgn="base" hangingPunct="0">
                <a:spcAft>
                  <a:spcPct val="0"/>
                </a:spcAft>
                <a:buChar char="»"/>
                <a:defRPr sz="2000">
                  <a:solidFill>
                    <a:schemeClr val="tx1"/>
                  </a:solidFill>
                  <a:latin typeface="Arial" pitchFamily="34" charset="0"/>
                </a:defRPr>
              </a:lvl6pPr>
              <a:lvl7pPr eaLnBrk="0" fontAlgn="base" hangingPunct="0">
                <a:spcAft>
                  <a:spcPct val="0"/>
                </a:spcAft>
                <a:buChar char="»"/>
                <a:defRPr sz="2000">
                  <a:solidFill>
                    <a:schemeClr val="tx1"/>
                  </a:solidFill>
                  <a:latin typeface="Arial" pitchFamily="34" charset="0"/>
                </a:defRPr>
              </a:lvl7pPr>
              <a:lvl8pPr eaLnBrk="0" fontAlgn="base" hangingPunct="0">
                <a:spcAft>
                  <a:spcPct val="0"/>
                </a:spcAft>
                <a:buChar char="»"/>
                <a:defRPr sz="2000">
                  <a:solidFill>
                    <a:schemeClr val="tx1"/>
                  </a:solidFill>
                  <a:latin typeface="Arial" pitchFamily="34" charset="0"/>
                </a:defRPr>
              </a:lvl8pPr>
              <a:lvl9pPr eaLnBrk="0" fontAlgn="base" hangingPunct="0">
                <a:spcAft>
                  <a:spcPct val="0"/>
                </a:spcAft>
                <a:buChar char="»"/>
                <a:defRPr sz="2000">
                  <a:solidFill>
                    <a:schemeClr val="tx1"/>
                  </a:solidFill>
                  <a:latin typeface="Arial" pitchFamily="34" charset="0"/>
                </a:defRPr>
              </a:lvl9pPr>
            </a:lstStyle>
            <a:p>
              <a:pPr algn="ctr" eaLnBrk="1" hangingPunct="1">
                <a:lnSpc>
                  <a:spcPct val="150000"/>
                </a:lnSpc>
                <a:spcBef>
                  <a:spcPts val="600"/>
                </a:spcBef>
              </a:pPr>
              <a:r>
                <a:rPr lang="en-US" sz="2100" b="1">
                  <a:solidFill>
                    <a:srgbClr val="00B0F0"/>
                  </a:solidFill>
                  <a:latin typeface="+mj-lt"/>
                  <a:ea typeface="Calibri" pitchFamily="34" charset="0"/>
                  <a:cs typeface="Times New Roman" pitchFamily="18" charset="0"/>
                </a:rPr>
                <a:t>public</a:t>
              </a:r>
              <a:r>
                <a:rPr lang="en-US" sz="2100">
                  <a:solidFill>
                    <a:srgbClr val="000000"/>
                  </a:solidFill>
                  <a:latin typeface="+mj-lt"/>
                  <a:ea typeface="Calibri" pitchFamily="34" charset="0"/>
                  <a:cs typeface="Times New Roman" pitchFamily="18" charset="0"/>
                </a:rPr>
                <a:t> </a:t>
              </a:r>
              <a:r>
                <a:rPr lang="en-US" sz="2100" b="1">
                  <a:solidFill>
                    <a:srgbClr val="FF0000"/>
                  </a:solidFill>
                  <a:latin typeface="+mj-lt"/>
                  <a:ea typeface="Calibri" pitchFamily="34" charset="0"/>
                  <a:cs typeface="Times New Roman" pitchFamily="18" charset="0"/>
                </a:rPr>
                <a:t>delegate</a:t>
              </a:r>
              <a:r>
                <a:rPr lang="en-US" sz="2100">
                  <a:solidFill>
                    <a:srgbClr val="000000"/>
                  </a:solidFill>
                  <a:latin typeface="+mj-lt"/>
                  <a:ea typeface="Calibri" pitchFamily="34" charset="0"/>
                  <a:cs typeface="Times New Roman" pitchFamily="18" charset="0"/>
                </a:rPr>
                <a:t> </a:t>
              </a:r>
              <a:r>
                <a:rPr lang="en-US" sz="2100" b="1">
                  <a:solidFill>
                    <a:srgbClr val="00B0F0"/>
                  </a:solidFill>
                  <a:latin typeface="+mj-lt"/>
                  <a:ea typeface="Calibri" pitchFamily="34" charset="0"/>
                  <a:cs typeface="Times New Roman" pitchFamily="18" charset="0"/>
                </a:rPr>
                <a:t>int</a:t>
              </a:r>
              <a:r>
                <a:rPr lang="en-US" sz="2100">
                  <a:solidFill>
                    <a:srgbClr val="000000"/>
                  </a:solidFill>
                  <a:latin typeface="+mj-lt"/>
                  <a:ea typeface="Calibri" pitchFamily="34" charset="0"/>
                  <a:cs typeface="Times New Roman" pitchFamily="18" charset="0"/>
                </a:rPr>
                <a:t> </a:t>
              </a:r>
              <a:r>
                <a:rPr lang="en-US" sz="2100" b="1">
                  <a:solidFill>
                    <a:schemeClr val="accent2"/>
                  </a:solidFill>
                  <a:latin typeface="+mj-lt"/>
                  <a:cs typeface="Times New Roman" pitchFamily="18" charset="0"/>
                </a:rPr>
                <a:t>My</a:t>
              </a:r>
              <a:r>
                <a:rPr lang="en-US" sz="2100" b="1">
                  <a:solidFill>
                    <a:schemeClr val="accent2"/>
                  </a:solidFill>
                  <a:latin typeface="+mj-lt"/>
                  <a:ea typeface="Calibri" pitchFamily="34" charset="0"/>
                  <a:cs typeface="Times New Roman" pitchFamily="18" charset="0"/>
                </a:rPr>
                <a:t>Delegate</a:t>
              </a:r>
              <a:r>
                <a:rPr lang="en-US" sz="2100" b="1">
                  <a:solidFill>
                    <a:srgbClr val="000000"/>
                  </a:solidFill>
                  <a:latin typeface="+mj-lt"/>
                  <a:ea typeface="Calibri" pitchFamily="34" charset="0"/>
                  <a:cs typeface="Times New Roman" pitchFamily="18" charset="0"/>
                </a:rPr>
                <a:t>(</a:t>
              </a:r>
              <a:r>
                <a:rPr lang="en-US" sz="2100" b="1">
                  <a:solidFill>
                    <a:srgbClr val="00B0F0"/>
                  </a:solidFill>
                  <a:latin typeface="+mj-lt"/>
                  <a:ea typeface="Calibri" pitchFamily="34" charset="0"/>
                  <a:cs typeface="Times New Roman" pitchFamily="18" charset="0"/>
                </a:rPr>
                <a:t>int</a:t>
              </a:r>
              <a:r>
                <a:rPr lang="en-US" sz="2100" b="1">
                  <a:solidFill>
                    <a:srgbClr val="000000"/>
                  </a:solidFill>
                  <a:latin typeface="+mj-lt"/>
                  <a:ea typeface="Calibri" pitchFamily="34" charset="0"/>
                  <a:cs typeface="Times New Roman" pitchFamily="18" charset="0"/>
                </a:rPr>
                <a:t> numOne, </a:t>
              </a:r>
              <a:r>
                <a:rPr lang="en-US" sz="2100" b="1">
                  <a:solidFill>
                    <a:srgbClr val="00B0F0"/>
                  </a:solidFill>
                  <a:latin typeface="+mj-lt"/>
                  <a:ea typeface="Calibri" pitchFamily="34" charset="0"/>
                  <a:cs typeface="Times New Roman" pitchFamily="18" charset="0"/>
                </a:rPr>
                <a:t>int</a:t>
              </a:r>
              <a:r>
                <a:rPr lang="en-US" sz="2100" b="1">
                  <a:solidFill>
                    <a:srgbClr val="000000"/>
                  </a:solidFill>
                  <a:latin typeface="+mj-lt"/>
                  <a:ea typeface="Calibri" pitchFamily="34" charset="0"/>
                  <a:cs typeface="Times New Roman" pitchFamily="18" charset="0"/>
                </a:rPr>
                <a:t> numTwo);</a:t>
              </a:r>
              <a:endParaRPr lang="en-US" sz="2100" b="1" dirty="0">
                <a:latin typeface="+mj-lt"/>
                <a:ea typeface="Calibri" pitchFamily="34" charset="0"/>
                <a:cs typeface="Times New Roman" pitchFamily="18" charset="0"/>
              </a:endParaRPr>
            </a:p>
          </p:txBody>
        </p:sp>
      </p:grpSp>
      <p:sp>
        <p:nvSpPr>
          <p:cNvPr id="14" name="TextBox 13">
            <a:extLst>
              <a:ext uri="{FF2B5EF4-FFF2-40B4-BE49-F238E27FC236}">
                <a16:creationId xmlns:a16="http://schemas.microsoft.com/office/drawing/2014/main" id="{2ED15A0D-B4D0-45B3-BB0A-440EEC9185D5}"/>
              </a:ext>
            </a:extLst>
          </p:cNvPr>
          <p:cNvSpPr txBox="1"/>
          <p:nvPr/>
        </p:nvSpPr>
        <p:spPr>
          <a:xfrm>
            <a:off x="-48611" y="1493822"/>
            <a:ext cx="11918731" cy="2462213"/>
          </a:xfrm>
          <a:prstGeom prst="rect">
            <a:avLst/>
          </a:prstGeom>
          <a:noFill/>
        </p:spPr>
        <p:txBody>
          <a:bodyPr wrap="square">
            <a:spAutoFit/>
          </a:bodyPr>
          <a:lstStyle/>
          <a:p>
            <a:pPr marL="342900" indent="-342900" algn="just">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A delegate type maintains three important pieces of information:</a:t>
            </a:r>
          </a:p>
          <a:p>
            <a:pPr marL="971550" lvl="1" indent="-514350">
              <a:spcBef>
                <a:spcPts val="1000"/>
              </a:spcBef>
              <a:spcAft>
                <a:spcPts val="1000"/>
              </a:spcAft>
              <a:buFont typeface="+mj-lt"/>
              <a:buAutoNum type="arabicParenR"/>
            </a:pPr>
            <a:r>
              <a:rPr lang="en-US" sz="2600">
                <a:latin typeface="+mj-lt"/>
              </a:rPr>
              <a:t>The </a:t>
            </a:r>
            <a:r>
              <a:rPr lang="en-US" sz="2600" b="1">
                <a:solidFill>
                  <a:schemeClr val="accent2"/>
                </a:solidFill>
                <a:latin typeface="+mj-lt"/>
                <a:cs typeface="Times New Roman" pitchFamily="18" charset="0"/>
              </a:rPr>
              <a:t>name</a:t>
            </a:r>
            <a:r>
              <a:rPr lang="en-US" sz="2600" i="1">
                <a:latin typeface="+mj-lt"/>
              </a:rPr>
              <a:t> </a:t>
            </a:r>
            <a:r>
              <a:rPr lang="en-US" sz="2600">
                <a:latin typeface="+mj-lt"/>
              </a:rPr>
              <a:t>of the method on which it makes calls</a:t>
            </a:r>
          </a:p>
          <a:p>
            <a:pPr marL="971550" lvl="1" indent="-514350">
              <a:spcBef>
                <a:spcPts val="1000"/>
              </a:spcBef>
              <a:spcAft>
                <a:spcPts val="1000"/>
              </a:spcAft>
              <a:buFont typeface="+mj-lt"/>
              <a:buAutoNum type="arabicParenR"/>
            </a:pPr>
            <a:r>
              <a:rPr lang="en-US" sz="2600">
                <a:latin typeface="+mj-lt"/>
              </a:rPr>
              <a:t>The </a:t>
            </a:r>
            <a:r>
              <a:rPr lang="en-US" sz="2600" b="1">
                <a:solidFill>
                  <a:schemeClr val="accent2"/>
                </a:solidFill>
                <a:latin typeface="+mj-lt"/>
                <a:cs typeface="Times New Roman" pitchFamily="18" charset="0"/>
              </a:rPr>
              <a:t>arguments</a:t>
            </a:r>
            <a:r>
              <a:rPr lang="en-US" sz="2600" i="1">
                <a:latin typeface="+mj-lt"/>
              </a:rPr>
              <a:t> </a:t>
            </a:r>
            <a:r>
              <a:rPr lang="en-US" sz="2600">
                <a:latin typeface="+mj-lt"/>
              </a:rPr>
              <a:t>(if any) of this method</a:t>
            </a:r>
          </a:p>
          <a:p>
            <a:pPr marL="971550" lvl="1" indent="-514350">
              <a:spcBef>
                <a:spcPts val="1000"/>
              </a:spcBef>
              <a:spcAft>
                <a:spcPts val="1000"/>
              </a:spcAft>
              <a:buFont typeface="+mj-lt"/>
              <a:buAutoNum type="arabicParenR"/>
            </a:pPr>
            <a:r>
              <a:rPr lang="en-US" sz="2600">
                <a:latin typeface="+mj-lt"/>
              </a:rPr>
              <a:t>The </a:t>
            </a:r>
            <a:r>
              <a:rPr lang="en-US" sz="2600" b="1">
                <a:solidFill>
                  <a:schemeClr val="accent2"/>
                </a:solidFill>
                <a:latin typeface="+mj-lt"/>
                <a:cs typeface="Times New Roman" pitchFamily="18" charset="0"/>
              </a:rPr>
              <a:t>return value </a:t>
            </a:r>
            <a:r>
              <a:rPr lang="en-US" sz="2600">
                <a:latin typeface="+mj-lt"/>
              </a:rPr>
              <a:t>(if any) of this method</a:t>
            </a:r>
            <a:endParaRPr lang="en-US" sz="2600" dirty="0">
              <a:latin typeface="+mj-lt"/>
            </a:endParaRPr>
          </a:p>
        </p:txBody>
      </p:sp>
    </p:spTree>
    <p:extLst>
      <p:ext uri="{BB962C8B-B14F-4D97-AF65-F5344CB8AC3E}">
        <p14:creationId xmlns:p14="http://schemas.microsoft.com/office/powerpoint/2010/main" val="1169530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Instantiating Delegates</a:t>
            </a:r>
            <a:endParaRPr lang="en-US" sz="4000" b="1" dirty="0"/>
          </a:p>
        </p:txBody>
      </p:sp>
      <p:pic>
        <p:nvPicPr>
          <p:cNvPr id="7" name="Picture 6">
            <a:extLst>
              <a:ext uri="{FF2B5EF4-FFF2-40B4-BE49-F238E27FC236}">
                <a16:creationId xmlns:a16="http://schemas.microsoft.com/office/drawing/2014/main" id="{81ECC61C-EA23-4F1A-8D32-0DCDC849F2FD}"/>
              </a:ext>
            </a:extLst>
          </p:cNvPr>
          <p:cNvPicPr>
            <a:picLocks noChangeAspect="1"/>
          </p:cNvPicPr>
          <p:nvPr/>
        </p:nvPicPr>
        <p:blipFill>
          <a:blip r:embed="rId3"/>
          <a:stretch>
            <a:fillRect/>
          </a:stretch>
        </p:blipFill>
        <p:spPr>
          <a:xfrm>
            <a:off x="505127" y="1442395"/>
            <a:ext cx="6683319" cy="5006774"/>
          </a:xfrm>
          <a:prstGeom prst="rect">
            <a:avLst/>
          </a:prstGeom>
        </p:spPr>
      </p:pic>
      <p:pic>
        <p:nvPicPr>
          <p:cNvPr id="14" name="Picture 13">
            <a:extLst>
              <a:ext uri="{FF2B5EF4-FFF2-40B4-BE49-F238E27FC236}">
                <a16:creationId xmlns:a16="http://schemas.microsoft.com/office/drawing/2014/main" id="{BC935BD1-7CA5-4BCD-895E-010A76B87E8B}"/>
              </a:ext>
            </a:extLst>
          </p:cNvPr>
          <p:cNvPicPr>
            <a:picLocks noChangeAspect="1"/>
          </p:cNvPicPr>
          <p:nvPr/>
        </p:nvPicPr>
        <p:blipFill>
          <a:blip r:embed="rId4"/>
          <a:stretch>
            <a:fillRect/>
          </a:stretch>
        </p:blipFill>
        <p:spPr>
          <a:xfrm>
            <a:off x="8615008" y="3149014"/>
            <a:ext cx="2935860" cy="1169571"/>
          </a:xfrm>
          <a:prstGeom prst="rect">
            <a:avLst/>
          </a:prstGeom>
        </p:spPr>
      </p:pic>
    </p:spTree>
    <p:extLst>
      <p:ext uri="{BB962C8B-B14F-4D97-AF65-F5344CB8AC3E}">
        <p14:creationId xmlns:p14="http://schemas.microsoft.com/office/powerpoint/2010/main" val="3598539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pt-BR" sz="4000" b="1"/>
              <a:t>Passing Delegate as a Parameter</a:t>
            </a:r>
            <a:endParaRPr lang="en-US" sz="4000" b="1" dirty="0"/>
          </a:p>
        </p:txBody>
      </p:sp>
      <p:pic>
        <p:nvPicPr>
          <p:cNvPr id="5" name="Picture 4">
            <a:extLst>
              <a:ext uri="{FF2B5EF4-FFF2-40B4-BE49-F238E27FC236}">
                <a16:creationId xmlns:a16="http://schemas.microsoft.com/office/drawing/2014/main" id="{423C0D5E-37CD-4F6F-AE4F-3C4DD940D09A}"/>
              </a:ext>
            </a:extLst>
          </p:cNvPr>
          <p:cNvPicPr>
            <a:picLocks noChangeAspect="1"/>
          </p:cNvPicPr>
          <p:nvPr/>
        </p:nvPicPr>
        <p:blipFill>
          <a:blip r:embed="rId3"/>
          <a:stretch>
            <a:fillRect/>
          </a:stretch>
        </p:blipFill>
        <p:spPr>
          <a:xfrm>
            <a:off x="396764" y="1571308"/>
            <a:ext cx="8472074" cy="4877861"/>
          </a:xfrm>
          <a:prstGeom prst="rect">
            <a:avLst/>
          </a:prstGeom>
        </p:spPr>
      </p:pic>
      <p:pic>
        <p:nvPicPr>
          <p:cNvPr id="8" name="Picture 7">
            <a:extLst>
              <a:ext uri="{FF2B5EF4-FFF2-40B4-BE49-F238E27FC236}">
                <a16:creationId xmlns:a16="http://schemas.microsoft.com/office/drawing/2014/main" id="{AC5C053E-2A1C-44EF-8B67-1D78C283D59B}"/>
              </a:ext>
            </a:extLst>
          </p:cNvPr>
          <p:cNvPicPr>
            <a:picLocks noChangeAspect="1"/>
          </p:cNvPicPr>
          <p:nvPr/>
        </p:nvPicPr>
        <p:blipFill>
          <a:blip r:embed="rId4"/>
          <a:stretch>
            <a:fillRect/>
          </a:stretch>
        </p:blipFill>
        <p:spPr>
          <a:xfrm>
            <a:off x="7694487" y="5345860"/>
            <a:ext cx="4213734" cy="981140"/>
          </a:xfrm>
          <a:prstGeom prst="rect">
            <a:avLst/>
          </a:prstGeom>
        </p:spPr>
      </p:pic>
    </p:spTree>
    <p:extLst>
      <p:ext uri="{BB962C8B-B14F-4D97-AF65-F5344CB8AC3E}">
        <p14:creationId xmlns:p14="http://schemas.microsoft.com/office/powerpoint/2010/main" val="922924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pt-BR" sz="4000" b="1"/>
              <a:t>Multicast Delegate</a:t>
            </a:r>
            <a:endParaRPr lang="en-US" sz="4000" b="1" dirty="0"/>
          </a:p>
        </p:txBody>
      </p:sp>
      <p:sp>
        <p:nvSpPr>
          <p:cNvPr id="10" name="TextBox 9">
            <a:extLst>
              <a:ext uri="{FF2B5EF4-FFF2-40B4-BE49-F238E27FC236}">
                <a16:creationId xmlns:a16="http://schemas.microsoft.com/office/drawing/2014/main" id="{A41A4DEB-23C0-4F44-8FA1-07638EEDCD1D}"/>
              </a:ext>
            </a:extLst>
          </p:cNvPr>
          <p:cNvSpPr txBox="1"/>
          <p:nvPr/>
        </p:nvSpPr>
        <p:spPr>
          <a:xfrm>
            <a:off x="-59121" y="1477362"/>
            <a:ext cx="12156527" cy="1769715"/>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delegate can point to multiple methods. A delegate that points multiple methods is called a multicast delegate</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 or "+=" operator adds a function to the invocation list, and the "-" and "-=" operator removes it</a:t>
            </a:r>
          </a:p>
        </p:txBody>
      </p:sp>
      <p:pic>
        <p:nvPicPr>
          <p:cNvPr id="7" name="Picture 6">
            <a:extLst>
              <a:ext uri="{FF2B5EF4-FFF2-40B4-BE49-F238E27FC236}">
                <a16:creationId xmlns:a16="http://schemas.microsoft.com/office/drawing/2014/main" id="{650AE619-5179-4666-9088-34BA3D3AD4D6}"/>
              </a:ext>
            </a:extLst>
          </p:cNvPr>
          <p:cNvPicPr>
            <a:picLocks noChangeAspect="1"/>
          </p:cNvPicPr>
          <p:nvPr/>
        </p:nvPicPr>
        <p:blipFill>
          <a:blip r:embed="rId3"/>
          <a:stretch>
            <a:fillRect/>
          </a:stretch>
        </p:blipFill>
        <p:spPr>
          <a:xfrm>
            <a:off x="2708966" y="3370672"/>
            <a:ext cx="6529700" cy="2965412"/>
          </a:xfrm>
          <a:prstGeom prst="rect">
            <a:avLst/>
          </a:prstGeom>
        </p:spPr>
      </p:pic>
    </p:spTree>
    <p:extLst>
      <p:ext uri="{BB962C8B-B14F-4D97-AF65-F5344CB8AC3E}">
        <p14:creationId xmlns:p14="http://schemas.microsoft.com/office/powerpoint/2010/main" val="2129524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pt-BR" sz="4000" b="1"/>
              <a:t>Multicast Delegate</a:t>
            </a:r>
            <a:endParaRPr lang="en-US" sz="4000" b="1" dirty="0"/>
          </a:p>
        </p:txBody>
      </p:sp>
      <p:pic>
        <p:nvPicPr>
          <p:cNvPr id="5" name="Picture 4">
            <a:extLst>
              <a:ext uri="{FF2B5EF4-FFF2-40B4-BE49-F238E27FC236}">
                <a16:creationId xmlns:a16="http://schemas.microsoft.com/office/drawing/2014/main" id="{09B1A277-9CCE-407B-9629-2C3581BC03AE}"/>
              </a:ext>
            </a:extLst>
          </p:cNvPr>
          <p:cNvPicPr>
            <a:picLocks noChangeAspect="1"/>
          </p:cNvPicPr>
          <p:nvPr/>
        </p:nvPicPr>
        <p:blipFill>
          <a:blip r:embed="rId3"/>
          <a:stretch>
            <a:fillRect/>
          </a:stretch>
        </p:blipFill>
        <p:spPr>
          <a:xfrm>
            <a:off x="0" y="1562798"/>
            <a:ext cx="7998433" cy="4903317"/>
          </a:xfrm>
          <a:prstGeom prst="rect">
            <a:avLst/>
          </a:prstGeom>
        </p:spPr>
      </p:pic>
      <p:pic>
        <p:nvPicPr>
          <p:cNvPr id="8" name="Picture 7">
            <a:extLst>
              <a:ext uri="{FF2B5EF4-FFF2-40B4-BE49-F238E27FC236}">
                <a16:creationId xmlns:a16="http://schemas.microsoft.com/office/drawing/2014/main" id="{C3AD602E-41CF-4708-BCEA-572B9B1C3BE5}"/>
              </a:ext>
            </a:extLst>
          </p:cNvPr>
          <p:cNvPicPr>
            <a:picLocks noChangeAspect="1"/>
          </p:cNvPicPr>
          <p:nvPr/>
        </p:nvPicPr>
        <p:blipFill>
          <a:blip r:embed="rId4"/>
          <a:stretch>
            <a:fillRect/>
          </a:stretch>
        </p:blipFill>
        <p:spPr>
          <a:xfrm>
            <a:off x="7876252" y="4003257"/>
            <a:ext cx="4263192" cy="2462858"/>
          </a:xfrm>
          <a:prstGeom prst="rect">
            <a:avLst/>
          </a:prstGeom>
        </p:spPr>
      </p:pic>
    </p:spTree>
    <p:extLst>
      <p:ext uri="{BB962C8B-B14F-4D97-AF65-F5344CB8AC3E}">
        <p14:creationId xmlns:p14="http://schemas.microsoft.com/office/powerpoint/2010/main" val="3570788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385333" cy="575433"/>
          </a:xfrm>
        </p:spPr>
        <p:txBody>
          <a:bodyPr>
            <a:noAutofit/>
          </a:bodyPr>
          <a:lstStyle/>
          <a:p>
            <a:r>
              <a:rPr lang="pt-BR" sz="4000" b="1"/>
              <a:t>Anonymous Method</a:t>
            </a:r>
            <a:endParaRPr lang="en-US" sz="4000" b="1" dirty="0"/>
          </a:p>
        </p:txBody>
      </p:sp>
      <p:sp>
        <p:nvSpPr>
          <p:cNvPr id="11" name="Content Placeholder 2">
            <a:extLst>
              <a:ext uri="{FF2B5EF4-FFF2-40B4-BE49-F238E27FC236}">
                <a16:creationId xmlns:a16="http://schemas.microsoft.com/office/drawing/2014/main" id="{5CA726A0-0F81-4E63-808B-ABB765D7543B}"/>
              </a:ext>
            </a:extLst>
          </p:cNvPr>
          <p:cNvSpPr>
            <a:spLocks noGrp="1"/>
          </p:cNvSpPr>
          <p:nvPr>
            <p:ph idx="1"/>
          </p:nvPr>
        </p:nvSpPr>
        <p:spPr>
          <a:xfrm>
            <a:off x="-63060" y="1489951"/>
            <a:ext cx="12065876" cy="4855772"/>
          </a:xfrm>
        </p:spPr>
        <p:txBody>
          <a:bodyPr>
            <a:norm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latin typeface="+mj-lt"/>
              </a:rPr>
              <a:t>An anonymous method is a method without a name. Anonymous methods in C# can be defined using the delegate keyword and can be assigned to a variable of delegate type</a:t>
            </a:r>
          </a:p>
          <a:p>
            <a:pPr marL="342900" indent="-342900" algn="just">
              <a:spcBef>
                <a:spcPts val="600"/>
              </a:spcBef>
              <a:spcAft>
                <a:spcPts val="600"/>
              </a:spcAft>
              <a:buClr>
                <a:srgbClr val="973735"/>
              </a:buClr>
              <a:buSzPct val="50000"/>
              <a:buFont typeface="Wingdings" pitchFamily="2" charset="2"/>
              <a:buChar char="u"/>
              <a:tabLst>
                <a:tab pos="241300" algn="l"/>
              </a:tabLst>
              <a:defRPr/>
            </a:pPr>
            <a:endParaRPr lang="en-US" sz="2600" dirty="0">
              <a:latin typeface="+mj-lt"/>
            </a:endParaRPr>
          </a:p>
        </p:txBody>
      </p:sp>
      <p:grpSp>
        <p:nvGrpSpPr>
          <p:cNvPr id="16" name="Group 15">
            <a:extLst>
              <a:ext uri="{FF2B5EF4-FFF2-40B4-BE49-F238E27FC236}">
                <a16:creationId xmlns:a16="http://schemas.microsoft.com/office/drawing/2014/main" id="{BFEB8BF2-3DD5-4D3E-A775-F26866625F4A}"/>
              </a:ext>
            </a:extLst>
          </p:cNvPr>
          <p:cNvGrpSpPr/>
          <p:nvPr/>
        </p:nvGrpSpPr>
        <p:grpSpPr>
          <a:xfrm>
            <a:off x="430923" y="2703680"/>
            <a:ext cx="8311971" cy="3297684"/>
            <a:chOff x="177926" y="2668118"/>
            <a:chExt cx="8311971" cy="3297684"/>
          </a:xfrm>
        </p:grpSpPr>
        <p:pic>
          <p:nvPicPr>
            <p:cNvPr id="13" name="Picture 12">
              <a:extLst>
                <a:ext uri="{FF2B5EF4-FFF2-40B4-BE49-F238E27FC236}">
                  <a16:creationId xmlns:a16="http://schemas.microsoft.com/office/drawing/2014/main" id="{B2B84CB2-2BD2-48A7-A401-501818CDDF4B}"/>
                </a:ext>
              </a:extLst>
            </p:cNvPr>
            <p:cNvPicPr>
              <a:picLocks noChangeAspect="1"/>
            </p:cNvPicPr>
            <p:nvPr/>
          </p:nvPicPr>
          <p:blipFill>
            <a:blip r:embed="rId3"/>
            <a:stretch>
              <a:fillRect/>
            </a:stretch>
          </p:blipFill>
          <p:spPr>
            <a:xfrm>
              <a:off x="177926" y="2668118"/>
              <a:ext cx="8311971" cy="3297684"/>
            </a:xfrm>
            <a:prstGeom prst="rect">
              <a:avLst/>
            </a:prstGeom>
          </p:spPr>
        </p:pic>
        <p:sp>
          <p:nvSpPr>
            <p:cNvPr id="14" name="Rectangle 13">
              <a:extLst>
                <a:ext uri="{FF2B5EF4-FFF2-40B4-BE49-F238E27FC236}">
                  <a16:creationId xmlns:a16="http://schemas.microsoft.com/office/drawing/2014/main" id="{A8C483FF-7E78-445D-B6A5-727CBAC51C9D}"/>
                </a:ext>
              </a:extLst>
            </p:cNvPr>
            <p:cNvSpPr/>
            <p:nvPr/>
          </p:nvSpPr>
          <p:spPr>
            <a:xfrm>
              <a:off x="639965" y="3980897"/>
              <a:ext cx="7849932" cy="167366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a:extLst>
              <a:ext uri="{FF2B5EF4-FFF2-40B4-BE49-F238E27FC236}">
                <a16:creationId xmlns:a16="http://schemas.microsoft.com/office/drawing/2014/main" id="{1297A249-90FF-42F7-8AE2-73BD323720C7}"/>
              </a:ext>
            </a:extLst>
          </p:cNvPr>
          <p:cNvPicPr>
            <a:picLocks noChangeAspect="1"/>
          </p:cNvPicPr>
          <p:nvPr/>
        </p:nvPicPr>
        <p:blipFill>
          <a:blip r:embed="rId4"/>
          <a:stretch>
            <a:fillRect/>
          </a:stretch>
        </p:blipFill>
        <p:spPr>
          <a:xfrm>
            <a:off x="8636832" y="5647250"/>
            <a:ext cx="3513124" cy="801919"/>
          </a:xfrm>
          <a:prstGeom prst="rect">
            <a:avLst/>
          </a:prstGeom>
        </p:spPr>
      </p:pic>
    </p:spTree>
    <p:extLst>
      <p:ext uri="{BB962C8B-B14F-4D97-AF65-F5344CB8AC3E}">
        <p14:creationId xmlns:p14="http://schemas.microsoft.com/office/powerpoint/2010/main" val="2409306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385333" cy="575433"/>
          </a:xfrm>
        </p:spPr>
        <p:txBody>
          <a:bodyPr>
            <a:noAutofit/>
          </a:bodyPr>
          <a:lstStyle/>
          <a:p>
            <a:r>
              <a:rPr lang="en-US" sz="4000" b="1"/>
              <a:t>Generic Delegate Types </a:t>
            </a:r>
            <a:endParaRPr lang="en-US" sz="4000" b="1" dirty="0"/>
          </a:p>
        </p:txBody>
      </p:sp>
      <p:sp>
        <p:nvSpPr>
          <p:cNvPr id="10" name="TextBox 9">
            <a:extLst>
              <a:ext uri="{FF2B5EF4-FFF2-40B4-BE49-F238E27FC236}">
                <a16:creationId xmlns:a16="http://schemas.microsoft.com/office/drawing/2014/main" id="{233E1458-CA81-4807-8B69-8DA16927390E}"/>
              </a:ext>
            </a:extLst>
          </p:cNvPr>
          <p:cNvSpPr txBox="1"/>
          <p:nvPr/>
        </p:nvSpPr>
        <p:spPr>
          <a:xfrm>
            <a:off x="-105100" y="1371609"/>
            <a:ext cx="12297100" cy="5109091"/>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C# includes built-in generic delegate types </a:t>
            </a:r>
            <a:r>
              <a:rPr lang="en-US" sz="2600" b="1">
                <a:solidFill>
                  <a:srgbClr val="111111"/>
                </a:solidFill>
                <a:latin typeface="+mj-lt"/>
              </a:rPr>
              <a:t>Func</a:t>
            </a:r>
            <a:r>
              <a:rPr lang="en-US" sz="2600">
                <a:solidFill>
                  <a:srgbClr val="111111"/>
                </a:solidFill>
                <a:latin typeface="+mj-lt"/>
              </a:rPr>
              <a:t> and </a:t>
            </a:r>
            <a:r>
              <a:rPr lang="en-US" sz="2600" b="1">
                <a:solidFill>
                  <a:srgbClr val="111111"/>
                </a:solidFill>
                <a:latin typeface="+mj-lt"/>
              </a:rPr>
              <a:t>Action</a:t>
            </a:r>
            <a:r>
              <a:rPr lang="en-US" sz="2600">
                <a:solidFill>
                  <a:srgbClr val="111111"/>
                </a:solidFill>
                <a:latin typeface="+mj-lt"/>
              </a:rPr>
              <a:t>, so that we don't need to define custom delegates manually in most cases</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Func</a:t>
            </a:r>
            <a:r>
              <a:rPr lang="en-US" sz="2600">
                <a:solidFill>
                  <a:srgbClr val="111111"/>
                </a:solidFill>
                <a:latin typeface="+mj-lt"/>
              </a:rPr>
              <a:t> is a generic delegate included in the System namespace. It has zero or to 16 input parameters and one output parameter. The last parameter is considered as an output parameter</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Func</a:t>
            </a:r>
            <a:r>
              <a:rPr lang="en-US" sz="2600">
                <a:solidFill>
                  <a:srgbClr val="111111"/>
                </a:solidFill>
                <a:latin typeface="+mj-lt"/>
              </a:rPr>
              <a:t> does not allow ref and out parameters. It an be used with an anonymous method or lambda expression.</a:t>
            </a:r>
          </a:p>
          <a:p>
            <a:pPr algn="just">
              <a:spcBef>
                <a:spcPts val="600"/>
              </a:spcBef>
              <a:spcAft>
                <a:spcPts val="600"/>
              </a:spcAft>
              <a:buClr>
                <a:srgbClr val="973735"/>
              </a:buClr>
              <a:buSzPct val="50000"/>
              <a:tabLst>
                <a:tab pos="241300" algn="l"/>
              </a:tabLst>
              <a:defRPr/>
            </a:pPr>
            <a:endParaRPr lang="en-US" sz="2600" b="1">
              <a:solidFill>
                <a:srgbClr val="111111"/>
              </a:solidFill>
              <a:latin typeface="+mj-lt"/>
            </a:endParaRP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An </a:t>
            </a:r>
            <a:r>
              <a:rPr lang="en-US" sz="2600" b="1">
                <a:solidFill>
                  <a:srgbClr val="111111"/>
                </a:solidFill>
                <a:latin typeface="+mj-lt"/>
              </a:rPr>
              <a:t>Action</a:t>
            </a:r>
            <a:r>
              <a:rPr lang="en-US" sz="2600">
                <a:solidFill>
                  <a:srgbClr val="111111"/>
                </a:solidFill>
                <a:latin typeface="+mj-lt"/>
              </a:rPr>
              <a:t> type delegate is the same as a </a:t>
            </a:r>
            <a:r>
              <a:rPr lang="en-US" sz="2600" b="1">
                <a:solidFill>
                  <a:srgbClr val="111111"/>
                </a:solidFill>
                <a:latin typeface="+mj-lt"/>
              </a:rPr>
              <a:t>Func</a:t>
            </a:r>
            <a:r>
              <a:rPr lang="en-US" sz="2600">
                <a:solidFill>
                  <a:srgbClr val="111111"/>
                </a:solidFill>
                <a:latin typeface="+mj-lt"/>
              </a:rPr>
              <a:t> delegate except that the </a:t>
            </a:r>
            <a:r>
              <a:rPr lang="en-US" sz="2600" b="1">
                <a:solidFill>
                  <a:srgbClr val="111111"/>
                </a:solidFill>
                <a:latin typeface="+mj-lt"/>
              </a:rPr>
              <a:t>Action</a:t>
            </a:r>
            <a:r>
              <a:rPr lang="en-US" sz="2600">
                <a:solidFill>
                  <a:srgbClr val="111111"/>
                </a:solidFill>
                <a:latin typeface="+mj-lt"/>
              </a:rPr>
              <a:t> delegate doesn't return a value(can be used with a method that has a void return type)</a:t>
            </a:r>
          </a:p>
        </p:txBody>
      </p:sp>
      <p:sp>
        <p:nvSpPr>
          <p:cNvPr id="11" name="Freeform 7">
            <a:extLst>
              <a:ext uri="{FF2B5EF4-FFF2-40B4-BE49-F238E27FC236}">
                <a16:creationId xmlns:a16="http://schemas.microsoft.com/office/drawing/2014/main" id="{2C2AEFDE-1EEF-4AA0-BC2E-7038CB3ACDE2}"/>
              </a:ext>
            </a:extLst>
          </p:cNvPr>
          <p:cNvSpPr/>
          <p:nvPr/>
        </p:nvSpPr>
        <p:spPr bwMode="auto">
          <a:xfrm>
            <a:off x="2405004" y="4503028"/>
            <a:ext cx="7276891" cy="689084"/>
          </a:xfrm>
          <a:custGeom>
            <a:avLst/>
            <a:gdLst>
              <a:gd name="connsiteX0" fmla="*/ 0 w 2511809"/>
              <a:gd name="connsiteY0" fmla="*/ 0 h 1004723"/>
              <a:gd name="connsiteX1" fmla="*/ 2511809 w 2511809"/>
              <a:gd name="connsiteY1" fmla="*/ 0 h 1004723"/>
              <a:gd name="connsiteX2" fmla="*/ 2511809 w 2511809"/>
              <a:gd name="connsiteY2" fmla="*/ 1004723 h 1004723"/>
              <a:gd name="connsiteX3" fmla="*/ 0 w 2511809"/>
              <a:gd name="connsiteY3" fmla="*/ 1004723 h 1004723"/>
              <a:gd name="connsiteX4" fmla="*/ 0 w 2511809"/>
              <a:gd name="connsiteY4" fmla="*/ 0 h 1004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809" h="1004723">
                <a:moveTo>
                  <a:pt x="0" y="0"/>
                </a:moveTo>
                <a:lnTo>
                  <a:pt x="2511809" y="0"/>
                </a:lnTo>
                <a:lnTo>
                  <a:pt x="2511809" y="1004723"/>
                </a:lnTo>
                <a:lnTo>
                  <a:pt x="0" y="1004723"/>
                </a:lnTo>
                <a:lnTo>
                  <a:pt x="0" y="0"/>
                </a:lnTo>
                <a:close/>
              </a:path>
            </a:pathLst>
          </a:custGeom>
          <a:solidFill>
            <a:srgbClr val="00B050"/>
          </a:solidFill>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85344" tIns="48768" rIns="85344" bIns="48768" spcCol="1270" anchor="ctr"/>
          <a:lstStyle/>
          <a:p>
            <a:pPr algn="ctr" defTabSz="533400">
              <a:lnSpc>
                <a:spcPct val="90000"/>
              </a:lnSpc>
              <a:spcAft>
                <a:spcPct val="35000"/>
              </a:spcAft>
              <a:defRPr/>
            </a:pPr>
            <a:r>
              <a:rPr lang="en-GB" sz="2000" b="1" dirty="0">
                <a:solidFill>
                  <a:schemeClr val="bg1"/>
                </a:solidFill>
                <a:latin typeface="+mj-lt"/>
                <a:cs typeface="Courier New" panose="02070309020205020404" pitchFamily="49" charset="0"/>
              </a:rPr>
              <a:t>Func&lt;T1, T2, TResult&gt;(T1 arg1, T2 arg2</a:t>
            </a:r>
            <a:r>
              <a:rPr lang="en-GB" sz="2000" b="1">
                <a:solidFill>
                  <a:schemeClr val="bg1"/>
                </a:solidFill>
                <a:latin typeface="+mj-lt"/>
                <a:cs typeface="Courier New" panose="02070309020205020404" pitchFamily="49" charset="0"/>
              </a:rPr>
              <a:t>)  Delegate</a:t>
            </a:r>
            <a:endParaRPr lang="en-US" sz="2000" dirty="0">
              <a:solidFill>
                <a:schemeClr val="bg1"/>
              </a:solidFill>
              <a:latin typeface="+mj-lt"/>
              <a:cs typeface="Courier New" panose="02070309020205020404" pitchFamily="49" charset="0"/>
            </a:endParaRPr>
          </a:p>
        </p:txBody>
      </p:sp>
    </p:spTree>
    <p:extLst>
      <p:ext uri="{BB962C8B-B14F-4D97-AF65-F5344CB8AC3E}">
        <p14:creationId xmlns:p14="http://schemas.microsoft.com/office/powerpoint/2010/main" val="760620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385333" cy="575433"/>
          </a:xfrm>
        </p:spPr>
        <p:txBody>
          <a:bodyPr>
            <a:noAutofit/>
          </a:bodyPr>
          <a:lstStyle/>
          <a:p>
            <a:r>
              <a:rPr lang="en-US" sz="4000" b="1"/>
              <a:t>Generic Delegate Types </a:t>
            </a:r>
            <a:endParaRPr lang="en-US" sz="4000" b="1" dirty="0"/>
          </a:p>
        </p:txBody>
      </p:sp>
      <p:grpSp>
        <p:nvGrpSpPr>
          <p:cNvPr id="18" name="Group 17">
            <a:extLst>
              <a:ext uri="{FF2B5EF4-FFF2-40B4-BE49-F238E27FC236}">
                <a16:creationId xmlns:a16="http://schemas.microsoft.com/office/drawing/2014/main" id="{D5F8617F-5E01-4DEF-8B61-19A06BB2B045}"/>
              </a:ext>
            </a:extLst>
          </p:cNvPr>
          <p:cNvGrpSpPr/>
          <p:nvPr/>
        </p:nvGrpSpPr>
        <p:grpSpPr>
          <a:xfrm>
            <a:off x="0" y="1716824"/>
            <a:ext cx="7714593" cy="4331980"/>
            <a:chOff x="0" y="1611764"/>
            <a:chExt cx="7714593" cy="4331980"/>
          </a:xfrm>
        </p:grpSpPr>
        <p:pic>
          <p:nvPicPr>
            <p:cNvPr id="15" name="Picture 14">
              <a:extLst>
                <a:ext uri="{FF2B5EF4-FFF2-40B4-BE49-F238E27FC236}">
                  <a16:creationId xmlns:a16="http://schemas.microsoft.com/office/drawing/2014/main" id="{74E3BB2A-1889-4CB4-95C5-D0C69E3CDC8E}"/>
                </a:ext>
              </a:extLst>
            </p:cNvPr>
            <p:cNvPicPr>
              <a:picLocks noChangeAspect="1"/>
            </p:cNvPicPr>
            <p:nvPr/>
          </p:nvPicPr>
          <p:blipFill>
            <a:blip r:embed="rId3"/>
            <a:stretch>
              <a:fillRect/>
            </a:stretch>
          </p:blipFill>
          <p:spPr>
            <a:xfrm>
              <a:off x="0" y="1611764"/>
              <a:ext cx="7714593" cy="4331980"/>
            </a:xfrm>
            <a:prstGeom prst="rect">
              <a:avLst/>
            </a:prstGeom>
          </p:spPr>
        </p:pic>
        <p:sp>
          <p:nvSpPr>
            <p:cNvPr id="16" name="Rectangle 15">
              <a:extLst>
                <a:ext uri="{FF2B5EF4-FFF2-40B4-BE49-F238E27FC236}">
                  <a16:creationId xmlns:a16="http://schemas.microsoft.com/office/drawing/2014/main" id="{18D61EB6-F286-48E1-A4F6-CD824255A1C6}"/>
                </a:ext>
              </a:extLst>
            </p:cNvPr>
            <p:cNvSpPr/>
            <p:nvPr/>
          </p:nvSpPr>
          <p:spPr>
            <a:xfrm>
              <a:off x="624626" y="3513080"/>
              <a:ext cx="4041967" cy="2496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89D382-8FC4-4336-9645-72FE198734B5}"/>
                </a:ext>
              </a:extLst>
            </p:cNvPr>
            <p:cNvSpPr/>
            <p:nvPr/>
          </p:nvSpPr>
          <p:spPr>
            <a:xfrm>
              <a:off x="624626" y="4707393"/>
              <a:ext cx="4041967" cy="2496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a:extLst>
              <a:ext uri="{FF2B5EF4-FFF2-40B4-BE49-F238E27FC236}">
                <a16:creationId xmlns:a16="http://schemas.microsoft.com/office/drawing/2014/main" id="{3754D876-909C-441A-A3CB-0B56238ADE87}"/>
              </a:ext>
            </a:extLst>
          </p:cNvPr>
          <p:cNvPicPr>
            <a:picLocks noChangeAspect="1"/>
          </p:cNvPicPr>
          <p:nvPr/>
        </p:nvPicPr>
        <p:blipFill>
          <a:blip r:embed="rId4"/>
          <a:stretch>
            <a:fillRect/>
          </a:stretch>
        </p:blipFill>
        <p:spPr>
          <a:xfrm>
            <a:off x="6458260" y="5503859"/>
            <a:ext cx="5532204" cy="934752"/>
          </a:xfrm>
          <a:prstGeom prst="rect">
            <a:avLst/>
          </a:prstGeom>
        </p:spPr>
      </p:pic>
    </p:spTree>
    <p:extLst>
      <p:ext uri="{BB962C8B-B14F-4D97-AF65-F5344CB8AC3E}">
        <p14:creationId xmlns:p14="http://schemas.microsoft.com/office/powerpoint/2010/main" val="2672513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Events in .NET</a:t>
            </a:r>
            <a:endParaRPr lang="en-US" sz="4400" dirty="0">
              <a:solidFill>
                <a:schemeClr val="accent2"/>
              </a:solidFill>
            </a:endParaRPr>
          </a:p>
        </p:txBody>
      </p:sp>
    </p:spTree>
    <p:extLst>
      <p:ext uri="{BB962C8B-B14F-4D97-AF65-F5344CB8AC3E}">
        <p14:creationId xmlns:p14="http://schemas.microsoft.com/office/powerpoint/2010/main" val="1357021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16</a:t>
            </a:fld>
            <a:endParaRPr lang="en-US" dirty="0"/>
          </a:p>
        </p:txBody>
      </p:sp>
      <p:sp>
        <p:nvSpPr>
          <p:cNvPr id="6" name="TextBox 5">
            <a:extLst>
              <a:ext uri="{FF2B5EF4-FFF2-40B4-BE49-F238E27FC236}">
                <a16:creationId xmlns:a16="http://schemas.microsoft.com/office/drawing/2014/main" id="{FE8A8772-1C54-462E-B588-C100B98B050D}"/>
              </a:ext>
            </a:extLst>
          </p:cNvPr>
          <p:cNvSpPr txBox="1"/>
          <p:nvPr/>
        </p:nvSpPr>
        <p:spPr>
          <a:xfrm>
            <a:off x="-73575" y="1465119"/>
            <a:ext cx="12170982" cy="5109091"/>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An event is a user-generated or system-generated action</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An event is a notification sent by an object to signal the occurrence of an action. Events in .NET follow the observer design pattern</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events allow an object (source of the event) be able to notify other objects (subscribers) about the appeared event (a change having occurred)</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class who raises events is called </a:t>
            </a:r>
            <a:r>
              <a:rPr lang="en-US" sz="2600" b="1">
                <a:solidFill>
                  <a:srgbClr val="111111"/>
                </a:solidFill>
                <a:latin typeface="+mj-lt"/>
              </a:rPr>
              <a:t>Publisher</a:t>
            </a:r>
            <a:r>
              <a:rPr lang="en-US" sz="2600">
                <a:solidFill>
                  <a:srgbClr val="111111"/>
                </a:solidFill>
                <a:latin typeface="+mj-lt"/>
              </a:rPr>
              <a:t>, and the class who receives the notification is called </a:t>
            </a:r>
            <a:r>
              <a:rPr lang="en-US" sz="2600" b="1">
                <a:solidFill>
                  <a:srgbClr val="111111"/>
                </a:solidFill>
                <a:latin typeface="+mj-lt"/>
              </a:rPr>
              <a:t>Subscriber</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There can be multiple subscribers of a single event. Typically, a publisher raises an event when some action occurred. The subscribers, who are interested in getting a notification when an action occurred, should register with an event and handle it</a:t>
            </a:r>
          </a:p>
        </p:txBody>
      </p:sp>
      <p:sp>
        <p:nvSpPr>
          <p:cNvPr id="10" name="Title 1">
            <a:extLst>
              <a:ext uri="{FF2B5EF4-FFF2-40B4-BE49-F238E27FC236}">
                <a16:creationId xmlns:a16="http://schemas.microsoft.com/office/drawing/2014/main" id="{E1F1777E-0F63-4CBE-8ADF-F6DD8FA14951}"/>
              </a:ext>
            </a:extLst>
          </p:cNvPr>
          <p:cNvSpPr>
            <a:spLocks noGrp="1"/>
          </p:cNvSpPr>
          <p:nvPr>
            <p:ph type="title"/>
          </p:nvPr>
        </p:nvSpPr>
        <p:spPr>
          <a:xfrm>
            <a:off x="241738" y="639619"/>
            <a:ext cx="6653048" cy="641002"/>
          </a:xfrm>
        </p:spPr>
        <p:txBody>
          <a:bodyPr>
            <a:normAutofit/>
          </a:bodyPr>
          <a:lstStyle/>
          <a:p>
            <a:pPr algn="ctr"/>
            <a:r>
              <a:rPr lang="en-US" sz="4000" b="1" dirty="0"/>
              <a:t>Understanding C# Events</a:t>
            </a:r>
            <a:endParaRPr lang="en-US" sz="4000" dirty="0"/>
          </a:p>
        </p:txBody>
      </p:sp>
    </p:spTree>
    <p:extLst>
      <p:ext uri="{BB962C8B-B14F-4D97-AF65-F5344CB8AC3E}">
        <p14:creationId xmlns:p14="http://schemas.microsoft.com/office/powerpoint/2010/main" val="626935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17</a:t>
            </a:fld>
            <a:endParaRPr lang="en-US" dirty="0"/>
          </a:p>
        </p:txBody>
      </p:sp>
      <p:pic>
        <p:nvPicPr>
          <p:cNvPr id="11" name="Picture 10">
            <a:extLst>
              <a:ext uri="{FF2B5EF4-FFF2-40B4-BE49-F238E27FC236}">
                <a16:creationId xmlns:a16="http://schemas.microsoft.com/office/drawing/2014/main" id="{03C9D83F-F19C-48E9-A750-409BF84DE67D}"/>
              </a:ext>
            </a:extLst>
          </p:cNvPr>
          <p:cNvPicPr>
            <a:picLocks noChangeAspect="1"/>
          </p:cNvPicPr>
          <p:nvPr/>
        </p:nvPicPr>
        <p:blipFill>
          <a:blip r:embed="rId3"/>
          <a:stretch>
            <a:fillRect/>
          </a:stretch>
        </p:blipFill>
        <p:spPr>
          <a:xfrm>
            <a:off x="0" y="2813648"/>
            <a:ext cx="6746750" cy="3656541"/>
          </a:xfrm>
          <a:prstGeom prst="rect">
            <a:avLst/>
          </a:prstGeom>
          <a:ln>
            <a:solidFill>
              <a:srgbClr val="FF0000"/>
            </a:solidFill>
          </a:ln>
        </p:spPr>
      </p:pic>
      <p:pic>
        <p:nvPicPr>
          <p:cNvPr id="5" name="Picture 4">
            <a:extLst>
              <a:ext uri="{FF2B5EF4-FFF2-40B4-BE49-F238E27FC236}">
                <a16:creationId xmlns:a16="http://schemas.microsoft.com/office/drawing/2014/main" id="{EB316A8A-8ABF-400B-9789-E5C017DA6987}"/>
              </a:ext>
            </a:extLst>
          </p:cNvPr>
          <p:cNvPicPr>
            <a:picLocks noChangeAspect="1"/>
          </p:cNvPicPr>
          <p:nvPr/>
        </p:nvPicPr>
        <p:blipFill>
          <a:blip r:embed="rId4"/>
          <a:stretch>
            <a:fillRect/>
          </a:stretch>
        </p:blipFill>
        <p:spPr>
          <a:xfrm>
            <a:off x="6870502" y="2813648"/>
            <a:ext cx="5254254" cy="3656541"/>
          </a:xfrm>
          <a:prstGeom prst="rect">
            <a:avLst/>
          </a:prstGeom>
          <a:ln w="12700">
            <a:solidFill>
              <a:srgbClr val="FF0000"/>
            </a:solidFill>
          </a:ln>
        </p:spPr>
      </p:pic>
      <p:sp>
        <p:nvSpPr>
          <p:cNvPr id="12" name="TextBox 11">
            <a:extLst>
              <a:ext uri="{FF2B5EF4-FFF2-40B4-BE49-F238E27FC236}">
                <a16:creationId xmlns:a16="http://schemas.microsoft.com/office/drawing/2014/main" id="{D95D4736-EC5B-4A01-8249-CCFBAB0A59E2}"/>
              </a:ext>
            </a:extLst>
          </p:cNvPr>
          <p:cNvSpPr txBox="1"/>
          <p:nvPr/>
        </p:nvSpPr>
        <p:spPr>
          <a:xfrm>
            <a:off x="0" y="1428348"/>
            <a:ext cx="12192000" cy="1231106"/>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altLang="en-US" sz="2300">
                <a:solidFill>
                  <a:srgbClr val="111111"/>
                </a:solidFill>
                <a:latin typeface="+mj-lt"/>
              </a:rPr>
              <a:t>Events can be used to perform customized actions that are not already supported by C#</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altLang="en-US" sz="2300">
                <a:solidFill>
                  <a:srgbClr val="111111"/>
                </a:solidFill>
                <a:latin typeface="+mj-lt"/>
              </a:rPr>
              <a:t>Events are widely used in creating GUI based applications, where events such as, selecting an item from a list and closing a window are tracked</a:t>
            </a:r>
            <a:endParaRPr lang="en-US" altLang="en-US" sz="2300" dirty="0">
              <a:solidFill>
                <a:srgbClr val="111111"/>
              </a:solidFill>
              <a:latin typeface="+mj-lt"/>
            </a:endParaRPr>
          </a:p>
        </p:txBody>
      </p:sp>
      <p:sp>
        <p:nvSpPr>
          <p:cNvPr id="13" name="Title 1">
            <a:extLst>
              <a:ext uri="{FF2B5EF4-FFF2-40B4-BE49-F238E27FC236}">
                <a16:creationId xmlns:a16="http://schemas.microsoft.com/office/drawing/2014/main" id="{A6F9732D-93EF-40A2-814C-F5607F87BEFC}"/>
              </a:ext>
            </a:extLst>
          </p:cNvPr>
          <p:cNvSpPr>
            <a:spLocks noGrp="1"/>
          </p:cNvSpPr>
          <p:nvPr>
            <p:ph type="title"/>
          </p:nvPr>
        </p:nvSpPr>
        <p:spPr>
          <a:xfrm>
            <a:off x="241738" y="639619"/>
            <a:ext cx="6653048" cy="641002"/>
          </a:xfrm>
        </p:spPr>
        <p:txBody>
          <a:bodyPr>
            <a:normAutofit/>
          </a:bodyPr>
          <a:lstStyle/>
          <a:p>
            <a:pPr algn="ctr"/>
            <a:r>
              <a:rPr lang="en-US" sz="4000" b="1" dirty="0"/>
              <a:t>Understanding C# Events</a:t>
            </a:r>
            <a:endParaRPr lang="en-US" sz="4000" dirty="0"/>
          </a:p>
        </p:txBody>
      </p:sp>
    </p:spTree>
    <p:extLst>
      <p:ext uri="{BB962C8B-B14F-4D97-AF65-F5344CB8AC3E}">
        <p14:creationId xmlns:p14="http://schemas.microsoft.com/office/powerpoint/2010/main" val="2417233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759" y="674176"/>
            <a:ext cx="4929352" cy="641002"/>
          </a:xfrm>
        </p:spPr>
        <p:txBody>
          <a:bodyPr>
            <a:normAutofit/>
          </a:bodyPr>
          <a:lstStyle/>
          <a:p>
            <a:pPr algn="ctr"/>
            <a:r>
              <a:rPr lang="en-US" sz="4000" b="1"/>
              <a:t>Defining </a:t>
            </a:r>
            <a:r>
              <a:rPr lang="en-US" sz="4000" b="1" dirty="0"/>
              <a:t>C# Events</a:t>
            </a:r>
            <a:endParaRPr lang="en-US" sz="4000" dirty="0"/>
          </a:p>
        </p:txBody>
      </p:sp>
      <p:sp>
        <p:nvSpPr>
          <p:cNvPr id="3" name="Content Placeholder 2"/>
          <p:cNvSpPr>
            <a:spLocks noGrp="1"/>
          </p:cNvSpPr>
          <p:nvPr>
            <p:ph idx="1"/>
          </p:nvPr>
        </p:nvSpPr>
        <p:spPr>
          <a:xfrm>
            <a:off x="-53861" y="1472834"/>
            <a:ext cx="12140757" cy="4097650"/>
          </a:xfrm>
        </p:spPr>
        <p:txBody>
          <a:bodyPr>
            <a:normAutofit fontScale="85000" lnSpcReduction="10000"/>
          </a:bodyPr>
          <a:lstStyle/>
          <a:p>
            <a:pPr marL="342900" indent="-342900" algn="just">
              <a:lnSpc>
                <a:spcPct val="120000"/>
              </a:lnSpc>
              <a:spcBef>
                <a:spcPts val="600"/>
              </a:spcBef>
              <a:spcAft>
                <a:spcPts val="600"/>
              </a:spcAft>
              <a:buClr>
                <a:srgbClr val="973735"/>
              </a:buClr>
              <a:buSzPct val="50000"/>
              <a:buFont typeface="Wingdings" pitchFamily="2" charset="2"/>
              <a:buChar char="u"/>
              <a:tabLst>
                <a:tab pos="241300" algn="l"/>
              </a:tabLst>
              <a:defRPr/>
            </a:pPr>
            <a:r>
              <a:rPr lang="en-US" sz="3100" dirty="0">
                <a:solidFill>
                  <a:srgbClr val="111111"/>
                </a:solidFill>
                <a:latin typeface="+mj-lt"/>
              </a:rPr>
              <a:t>Using </a:t>
            </a:r>
            <a:r>
              <a:rPr lang="en-US" sz="3100" b="1" dirty="0">
                <a:solidFill>
                  <a:srgbClr val="0070C0"/>
                </a:solidFill>
                <a:latin typeface="+mj-lt"/>
              </a:rPr>
              <a:t>event</a:t>
            </a:r>
            <a:r>
              <a:rPr lang="en-US" sz="3100" dirty="0">
                <a:solidFill>
                  <a:srgbClr val="111111"/>
                </a:solidFill>
                <a:latin typeface="+mj-lt"/>
              </a:rPr>
              <a:t> keyword, the registration and un-registration methods as well as any necessary member variable delegate types are </a:t>
            </a:r>
            <a:r>
              <a:rPr lang="en-US" sz="3100">
                <a:solidFill>
                  <a:srgbClr val="111111"/>
                </a:solidFill>
                <a:latin typeface="+mj-lt"/>
              </a:rPr>
              <a:t>done automatically</a:t>
            </a:r>
            <a:endParaRPr lang="en-US" sz="3100" dirty="0">
              <a:solidFill>
                <a:srgbClr val="111111"/>
              </a:solidFill>
              <a:latin typeface="+mj-lt"/>
            </a:endParaRPr>
          </a:p>
          <a:p>
            <a:pPr marL="342900" indent="-342900" algn="just">
              <a:lnSpc>
                <a:spcPct val="120000"/>
              </a:lnSpc>
              <a:spcBef>
                <a:spcPts val="600"/>
              </a:spcBef>
              <a:spcAft>
                <a:spcPts val="600"/>
              </a:spcAft>
              <a:buClr>
                <a:srgbClr val="973735"/>
              </a:buClr>
              <a:buSzPct val="50000"/>
              <a:buFont typeface="Wingdings" pitchFamily="2" charset="2"/>
              <a:buChar char="u"/>
              <a:tabLst>
                <a:tab pos="241300" algn="l"/>
              </a:tabLst>
              <a:defRPr/>
            </a:pPr>
            <a:r>
              <a:rPr lang="en-US" sz="2700" dirty="0">
                <a:solidFill>
                  <a:srgbClr val="111111"/>
                </a:solidFill>
                <a:latin typeface="+mj-lt"/>
              </a:rPr>
              <a:t>Defining an event is </a:t>
            </a:r>
            <a:r>
              <a:rPr lang="en-US" sz="2700">
                <a:solidFill>
                  <a:srgbClr val="111111"/>
                </a:solidFill>
                <a:latin typeface="+mj-lt"/>
              </a:rPr>
              <a:t>a four-steps :</a:t>
            </a:r>
            <a:endParaRPr lang="en-US" sz="2700" dirty="0">
              <a:solidFill>
                <a:srgbClr val="111111"/>
              </a:solidFill>
              <a:latin typeface="+mj-lt"/>
            </a:endParaRPr>
          </a:p>
          <a:p>
            <a:pPr marL="914400" lvl="1" indent="-514350">
              <a:lnSpc>
                <a:spcPct val="120000"/>
              </a:lnSpc>
              <a:spcBef>
                <a:spcPts val="600"/>
              </a:spcBef>
              <a:spcAft>
                <a:spcPts val="600"/>
              </a:spcAft>
              <a:buClr>
                <a:srgbClr val="973735"/>
              </a:buClr>
              <a:buSzPct val="100000"/>
              <a:buFont typeface="+mj-lt"/>
              <a:buAutoNum type="arabicParenR"/>
              <a:tabLst>
                <a:tab pos="241300" algn="l"/>
              </a:tabLst>
              <a:defRPr/>
            </a:pPr>
            <a:r>
              <a:rPr lang="en-US" sz="2700">
                <a:solidFill>
                  <a:srgbClr val="111111"/>
                </a:solidFill>
                <a:latin typeface="+mj-lt"/>
              </a:rPr>
              <a:t>Define </a:t>
            </a:r>
            <a:r>
              <a:rPr lang="en-US" sz="2700" dirty="0">
                <a:solidFill>
                  <a:srgbClr val="111111"/>
                </a:solidFill>
                <a:latin typeface="+mj-lt"/>
              </a:rPr>
              <a:t>a delegate that contains the methods to be called when the event </a:t>
            </a:r>
            <a:r>
              <a:rPr lang="en-US" sz="2700">
                <a:solidFill>
                  <a:srgbClr val="111111"/>
                </a:solidFill>
                <a:latin typeface="+mj-lt"/>
              </a:rPr>
              <a:t>is fired</a:t>
            </a:r>
            <a:endParaRPr lang="en-US" sz="2700" dirty="0">
              <a:solidFill>
                <a:srgbClr val="111111"/>
              </a:solidFill>
              <a:latin typeface="+mj-lt"/>
            </a:endParaRPr>
          </a:p>
          <a:p>
            <a:pPr marL="914400" lvl="1" indent="-514350">
              <a:lnSpc>
                <a:spcPct val="120000"/>
              </a:lnSpc>
              <a:spcBef>
                <a:spcPts val="600"/>
              </a:spcBef>
              <a:spcAft>
                <a:spcPts val="600"/>
              </a:spcAft>
              <a:buClr>
                <a:srgbClr val="973735"/>
              </a:buClr>
              <a:buSzPct val="100000"/>
              <a:buFont typeface="+mj-lt"/>
              <a:buAutoNum type="arabicParenR"/>
              <a:tabLst>
                <a:tab pos="241300" algn="l"/>
              </a:tabLst>
              <a:defRPr/>
            </a:pPr>
            <a:r>
              <a:rPr lang="en-US" sz="2700">
                <a:solidFill>
                  <a:srgbClr val="111111"/>
                </a:solidFill>
                <a:latin typeface="+mj-lt"/>
              </a:rPr>
              <a:t>Declare </a:t>
            </a:r>
            <a:r>
              <a:rPr lang="en-US" sz="2700" dirty="0">
                <a:solidFill>
                  <a:srgbClr val="111111"/>
                </a:solidFill>
                <a:latin typeface="+mj-lt"/>
              </a:rPr>
              <a:t>the events (using the C# event keyword) in terms of the </a:t>
            </a:r>
            <a:r>
              <a:rPr lang="en-US" sz="2700">
                <a:solidFill>
                  <a:srgbClr val="111111"/>
                </a:solidFill>
                <a:latin typeface="+mj-lt"/>
              </a:rPr>
              <a:t>related delegate</a:t>
            </a:r>
          </a:p>
          <a:p>
            <a:pPr marL="914400" lvl="1" indent="-514350">
              <a:lnSpc>
                <a:spcPct val="120000"/>
              </a:lnSpc>
              <a:spcBef>
                <a:spcPts val="600"/>
              </a:spcBef>
              <a:spcAft>
                <a:spcPts val="600"/>
              </a:spcAft>
              <a:buClr>
                <a:srgbClr val="973735"/>
              </a:buClr>
              <a:buSzPct val="100000"/>
              <a:buFont typeface="+mj-lt"/>
              <a:buAutoNum type="arabicParenR"/>
              <a:tabLst>
                <a:tab pos="241300" algn="l"/>
              </a:tabLst>
              <a:defRPr/>
            </a:pPr>
            <a:r>
              <a:rPr lang="en-US" sz="2700">
                <a:solidFill>
                  <a:srgbClr val="111111"/>
                </a:solidFill>
                <a:latin typeface="+mj-lt"/>
              </a:rPr>
              <a:t>Subscribe to listen and handle the event</a:t>
            </a:r>
          </a:p>
          <a:p>
            <a:pPr marL="914400" lvl="1" indent="-514350">
              <a:lnSpc>
                <a:spcPct val="120000"/>
              </a:lnSpc>
              <a:spcBef>
                <a:spcPts val="600"/>
              </a:spcBef>
              <a:spcAft>
                <a:spcPts val="600"/>
              </a:spcAft>
              <a:buClr>
                <a:srgbClr val="973735"/>
              </a:buClr>
              <a:buSzPct val="100000"/>
              <a:buFont typeface="+mj-lt"/>
              <a:buAutoNum type="arabicParenR"/>
              <a:tabLst>
                <a:tab pos="241300" algn="l"/>
              </a:tabLst>
              <a:defRPr/>
            </a:pPr>
            <a:r>
              <a:rPr lang="en-US" sz="2700">
                <a:solidFill>
                  <a:srgbClr val="111111"/>
                </a:solidFill>
                <a:latin typeface="+mj-lt"/>
              </a:rPr>
              <a:t>Raise the event</a:t>
            </a:r>
            <a:endParaRPr lang="en-US" sz="2700" dirty="0">
              <a:solidFill>
                <a:srgbClr val="111111"/>
              </a:solidFill>
              <a:latin typeface="+mj-lt"/>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pic>
        <p:nvPicPr>
          <p:cNvPr id="6" name="Picture 5">
            <a:extLst>
              <a:ext uri="{FF2B5EF4-FFF2-40B4-BE49-F238E27FC236}">
                <a16:creationId xmlns:a16="http://schemas.microsoft.com/office/drawing/2014/main" id="{4DCA1A8B-EB36-4D1D-96B9-09DD3018076E}"/>
              </a:ext>
            </a:extLst>
          </p:cNvPr>
          <p:cNvPicPr>
            <a:picLocks noChangeAspect="1"/>
          </p:cNvPicPr>
          <p:nvPr/>
        </p:nvPicPr>
        <p:blipFill>
          <a:blip r:embed="rId2"/>
          <a:stretch>
            <a:fillRect/>
          </a:stretch>
        </p:blipFill>
        <p:spPr>
          <a:xfrm>
            <a:off x="6243145" y="4607919"/>
            <a:ext cx="5917326" cy="18875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385333" cy="575433"/>
          </a:xfrm>
        </p:spPr>
        <p:txBody>
          <a:bodyPr>
            <a:noAutofit/>
          </a:bodyPr>
          <a:lstStyle/>
          <a:p>
            <a:r>
              <a:rPr lang="en-US" sz="4000" b="1"/>
              <a:t>Implement Events</a:t>
            </a:r>
          </a:p>
        </p:txBody>
      </p:sp>
      <p:grpSp>
        <p:nvGrpSpPr>
          <p:cNvPr id="32" name="Group 31">
            <a:extLst>
              <a:ext uri="{FF2B5EF4-FFF2-40B4-BE49-F238E27FC236}">
                <a16:creationId xmlns:a16="http://schemas.microsoft.com/office/drawing/2014/main" id="{637E3D6D-ED2D-4C7E-8EEA-0BF83A68B913}"/>
              </a:ext>
            </a:extLst>
          </p:cNvPr>
          <p:cNvGrpSpPr/>
          <p:nvPr/>
        </p:nvGrpSpPr>
        <p:grpSpPr>
          <a:xfrm>
            <a:off x="0" y="1174790"/>
            <a:ext cx="7864646" cy="5190967"/>
            <a:chOff x="396763" y="1038155"/>
            <a:chExt cx="7864646" cy="5190967"/>
          </a:xfrm>
        </p:grpSpPr>
        <p:grpSp>
          <p:nvGrpSpPr>
            <p:cNvPr id="2" name="Group 1">
              <a:extLst>
                <a:ext uri="{FF2B5EF4-FFF2-40B4-BE49-F238E27FC236}">
                  <a16:creationId xmlns:a16="http://schemas.microsoft.com/office/drawing/2014/main" id="{BC1AD3ED-8C2D-430F-91D5-0C11DCAB8137}"/>
                </a:ext>
              </a:extLst>
            </p:cNvPr>
            <p:cNvGrpSpPr/>
            <p:nvPr/>
          </p:nvGrpSpPr>
          <p:grpSpPr>
            <a:xfrm>
              <a:off x="396763" y="1574923"/>
              <a:ext cx="7864646" cy="4654199"/>
              <a:chOff x="396763" y="1574923"/>
              <a:chExt cx="7864646" cy="4654199"/>
            </a:xfrm>
          </p:grpSpPr>
          <p:pic>
            <p:nvPicPr>
              <p:cNvPr id="16" name="Picture 15">
                <a:extLst>
                  <a:ext uri="{FF2B5EF4-FFF2-40B4-BE49-F238E27FC236}">
                    <a16:creationId xmlns:a16="http://schemas.microsoft.com/office/drawing/2014/main" id="{EC3C123B-C062-4D5D-B360-8461389C22A2}"/>
                  </a:ext>
                </a:extLst>
              </p:cNvPr>
              <p:cNvPicPr>
                <a:picLocks noChangeAspect="1"/>
              </p:cNvPicPr>
              <p:nvPr/>
            </p:nvPicPr>
            <p:blipFill>
              <a:blip r:embed="rId3"/>
              <a:stretch>
                <a:fillRect/>
              </a:stretch>
            </p:blipFill>
            <p:spPr>
              <a:xfrm>
                <a:off x="396763" y="1574923"/>
                <a:ext cx="7864646" cy="4654199"/>
              </a:xfrm>
              <a:prstGeom prst="rect">
                <a:avLst/>
              </a:prstGeom>
            </p:spPr>
          </p:pic>
          <p:sp>
            <p:nvSpPr>
              <p:cNvPr id="7" name="Rectangle 6">
                <a:extLst>
                  <a:ext uri="{FF2B5EF4-FFF2-40B4-BE49-F238E27FC236}">
                    <a16:creationId xmlns:a16="http://schemas.microsoft.com/office/drawing/2014/main" id="{3E0C17A5-B79A-40A1-9A54-B05D16520559}"/>
                  </a:ext>
                </a:extLst>
              </p:cNvPr>
              <p:cNvSpPr/>
              <p:nvPr/>
            </p:nvSpPr>
            <p:spPr>
              <a:xfrm>
                <a:off x="396763" y="1574923"/>
                <a:ext cx="5835871" cy="3332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A3E16D8-1043-48C0-8DB1-933B0401E6A6}"/>
                  </a:ext>
                </a:extLst>
              </p:cNvPr>
              <p:cNvSpPr/>
              <p:nvPr/>
            </p:nvSpPr>
            <p:spPr>
              <a:xfrm>
                <a:off x="838200" y="3005959"/>
                <a:ext cx="3334407" cy="3332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A2EEC6C-D6D1-4240-888B-4551184A10D9}"/>
                  </a:ext>
                </a:extLst>
              </p:cNvPr>
              <p:cNvSpPr/>
              <p:nvPr/>
            </p:nvSpPr>
            <p:spPr>
              <a:xfrm>
                <a:off x="1346335" y="4437531"/>
                <a:ext cx="4676093" cy="3332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12B54D-03B0-4F5A-9D1B-3B5200698D25}"/>
                  </a:ext>
                </a:extLst>
              </p:cNvPr>
              <p:cNvSpPr/>
              <p:nvPr/>
            </p:nvSpPr>
            <p:spPr>
              <a:xfrm>
                <a:off x="1367358" y="5000402"/>
                <a:ext cx="3236174" cy="3332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813A8E61-C11B-49D3-ABD4-029D5B5189E5}"/>
                </a:ext>
              </a:extLst>
            </p:cNvPr>
            <p:cNvGrpSpPr/>
            <p:nvPr/>
          </p:nvGrpSpPr>
          <p:grpSpPr>
            <a:xfrm>
              <a:off x="6214370" y="1038155"/>
              <a:ext cx="1615549" cy="600571"/>
              <a:chOff x="6214370" y="1038155"/>
              <a:chExt cx="1615549" cy="600571"/>
            </a:xfrm>
          </p:grpSpPr>
          <p:sp>
            <p:nvSpPr>
              <p:cNvPr id="13" name="Oval 12">
                <a:extLst>
                  <a:ext uri="{FF2B5EF4-FFF2-40B4-BE49-F238E27FC236}">
                    <a16:creationId xmlns:a16="http://schemas.microsoft.com/office/drawing/2014/main" id="{CCDC831F-6B69-40B9-99FB-260DB44266AA}"/>
                  </a:ext>
                </a:extLst>
              </p:cNvPr>
              <p:cNvSpPr/>
              <p:nvPr/>
            </p:nvSpPr>
            <p:spPr>
              <a:xfrm>
                <a:off x="7195437" y="1038155"/>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1</a:t>
                </a:r>
              </a:p>
            </p:txBody>
          </p:sp>
          <p:cxnSp>
            <p:nvCxnSpPr>
              <p:cNvPr id="14" name="Straight Arrow Connector 13">
                <a:extLst>
                  <a:ext uri="{FF2B5EF4-FFF2-40B4-BE49-F238E27FC236}">
                    <a16:creationId xmlns:a16="http://schemas.microsoft.com/office/drawing/2014/main" id="{FFE82DC1-3B09-4113-83D2-380465411D87}"/>
                  </a:ext>
                </a:extLst>
              </p:cNvPr>
              <p:cNvCxnSpPr>
                <a:cxnSpLocks/>
              </p:cNvCxnSpPr>
              <p:nvPr/>
            </p:nvCxnSpPr>
            <p:spPr>
              <a:xfrm flipH="1">
                <a:off x="6214370" y="1420746"/>
                <a:ext cx="993156" cy="21798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29" name="Group 28">
              <a:extLst>
                <a:ext uri="{FF2B5EF4-FFF2-40B4-BE49-F238E27FC236}">
                  <a16:creationId xmlns:a16="http://schemas.microsoft.com/office/drawing/2014/main" id="{57F27817-D2E1-40C1-A76C-7AE323A60E9C}"/>
                </a:ext>
              </a:extLst>
            </p:cNvPr>
            <p:cNvGrpSpPr/>
            <p:nvPr/>
          </p:nvGrpSpPr>
          <p:grpSpPr>
            <a:xfrm>
              <a:off x="4154343" y="2480627"/>
              <a:ext cx="1636569" cy="600571"/>
              <a:chOff x="4154343" y="2480627"/>
              <a:chExt cx="1636569" cy="600571"/>
            </a:xfrm>
          </p:grpSpPr>
          <p:sp>
            <p:nvSpPr>
              <p:cNvPr id="15" name="Oval 14">
                <a:extLst>
                  <a:ext uri="{FF2B5EF4-FFF2-40B4-BE49-F238E27FC236}">
                    <a16:creationId xmlns:a16="http://schemas.microsoft.com/office/drawing/2014/main" id="{560F4A76-D19F-40C9-9BF5-49241900B94B}"/>
                  </a:ext>
                </a:extLst>
              </p:cNvPr>
              <p:cNvSpPr/>
              <p:nvPr/>
            </p:nvSpPr>
            <p:spPr>
              <a:xfrm>
                <a:off x="5156430" y="2480627"/>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2</a:t>
                </a:r>
              </a:p>
            </p:txBody>
          </p:sp>
          <p:cxnSp>
            <p:nvCxnSpPr>
              <p:cNvPr id="18" name="Straight Arrow Connector 17">
                <a:extLst>
                  <a:ext uri="{FF2B5EF4-FFF2-40B4-BE49-F238E27FC236}">
                    <a16:creationId xmlns:a16="http://schemas.microsoft.com/office/drawing/2014/main" id="{FFE00736-0720-4AA3-A7CA-2D5402E64852}"/>
                  </a:ext>
                </a:extLst>
              </p:cNvPr>
              <p:cNvCxnSpPr>
                <a:cxnSpLocks/>
              </p:cNvCxnSpPr>
              <p:nvPr/>
            </p:nvCxnSpPr>
            <p:spPr>
              <a:xfrm flipH="1">
                <a:off x="4154343" y="2863218"/>
                <a:ext cx="993156" cy="21798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30" name="Group 29">
              <a:extLst>
                <a:ext uri="{FF2B5EF4-FFF2-40B4-BE49-F238E27FC236}">
                  <a16:creationId xmlns:a16="http://schemas.microsoft.com/office/drawing/2014/main" id="{15F56D67-0117-44D9-B6C2-403710C92AC7}"/>
                </a:ext>
              </a:extLst>
            </p:cNvPr>
            <p:cNvGrpSpPr/>
            <p:nvPr/>
          </p:nvGrpSpPr>
          <p:grpSpPr>
            <a:xfrm>
              <a:off x="4729655" y="3775129"/>
              <a:ext cx="2245984" cy="632212"/>
              <a:chOff x="4729655" y="3775129"/>
              <a:chExt cx="2245984" cy="632212"/>
            </a:xfrm>
          </p:grpSpPr>
          <p:sp>
            <p:nvSpPr>
              <p:cNvPr id="19" name="Oval 18">
                <a:extLst>
                  <a:ext uri="{FF2B5EF4-FFF2-40B4-BE49-F238E27FC236}">
                    <a16:creationId xmlns:a16="http://schemas.microsoft.com/office/drawing/2014/main" id="{A3080719-382F-4D48-B1E2-4E1BDD584263}"/>
                  </a:ext>
                </a:extLst>
              </p:cNvPr>
              <p:cNvSpPr/>
              <p:nvPr/>
            </p:nvSpPr>
            <p:spPr>
              <a:xfrm>
                <a:off x="6341157" y="3775129"/>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3</a:t>
                </a:r>
              </a:p>
            </p:txBody>
          </p:sp>
          <p:cxnSp>
            <p:nvCxnSpPr>
              <p:cNvPr id="20" name="Straight Arrow Connector 19">
                <a:extLst>
                  <a:ext uri="{FF2B5EF4-FFF2-40B4-BE49-F238E27FC236}">
                    <a16:creationId xmlns:a16="http://schemas.microsoft.com/office/drawing/2014/main" id="{D4704371-712B-45D5-B132-709FDF2C53AC}"/>
                  </a:ext>
                </a:extLst>
              </p:cNvPr>
              <p:cNvCxnSpPr>
                <a:cxnSpLocks/>
              </p:cNvCxnSpPr>
              <p:nvPr/>
            </p:nvCxnSpPr>
            <p:spPr>
              <a:xfrm flipH="1">
                <a:off x="4729655" y="4168094"/>
                <a:ext cx="1611502" cy="23924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31" name="Group 30">
              <a:extLst>
                <a:ext uri="{FF2B5EF4-FFF2-40B4-BE49-F238E27FC236}">
                  <a16:creationId xmlns:a16="http://schemas.microsoft.com/office/drawing/2014/main" id="{503FE8B9-BC3D-4916-A946-A6DF9DB2459A}"/>
                </a:ext>
              </a:extLst>
            </p:cNvPr>
            <p:cNvGrpSpPr/>
            <p:nvPr/>
          </p:nvGrpSpPr>
          <p:grpSpPr>
            <a:xfrm>
              <a:off x="4603532" y="4633130"/>
              <a:ext cx="2372107" cy="591401"/>
              <a:chOff x="4603532" y="4633130"/>
              <a:chExt cx="2372107" cy="591401"/>
            </a:xfrm>
          </p:grpSpPr>
          <p:sp>
            <p:nvSpPr>
              <p:cNvPr id="21" name="Oval 20">
                <a:extLst>
                  <a:ext uri="{FF2B5EF4-FFF2-40B4-BE49-F238E27FC236}">
                    <a16:creationId xmlns:a16="http://schemas.microsoft.com/office/drawing/2014/main" id="{278097DC-A28B-4E3B-9325-6F08F089F393}"/>
                  </a:ext>
                </a:extLst>
              </p:cNvPr>
              <p:cNvSpPr/>
              <p:nvPr/>
            </p:nvSpPr>
            <p:spPr>
              <a:xfrm>
                <a:off x="6341157" y="4633130"/>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4</a:t>
                </a:r>
              </a:p>
            </p:txBody>
          </p:sp>
          <p:cxnSp>
            <p:nvCxnSpPr>
              <p:cNvPr id="22" name="Straight Arrow Connector 21">
                <a:extLst>
                  <a:ext uri="{FF2B5EF4-FFF2-40B4-BE49-F238E27FC236}">
                    <a16:creationId xmlns:a16="http://schemas.microsoft.com/office/drawing/2014/main" id="{7EA0071F-D4DB-4251-9326-6802E455595F}"/>
                  </a:ext>
                </a:extLst>
              </p:cNvPr>
              <p:cNvCxnSpPr>
                <a:cxnSpLocks/>
              </p:cNvCxnSpPr>
              <p:nvPr/>
            </p:nvCxnSpPr>
            <p:spPr>
              <a:xfrm flipH="1">
                <a:off x="4603532" y="4949838"/>
                <a:ext cx="1713185" cy="21718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pic>
        <p:nvPicPr>
          <p:cNvPr id="33" name="Picture 32">
            <a:extLst>
              <a:ext uri="{FF2B5EF4-FFF2-40B4-BE49-F238E27FC236}">
                <a16:creationId xmlns:a16="http://schemas.microsoft.com/office/drawing/2014/main" id="{0AB334DB-D961-4BB1-957A-98A3466FE0D0}"/>
              </a:ext>
            </a:extLst>
          </p:cNvPr>
          <p:cNvPicPr>
            <a:picLocks noChangeAspect="1"/>
          </p:cNvPicPr>
          <p:nvPr/>
        </p:nvPicPr>
        <p:blipFill>
          <a:blip r:embed="rId4"/>
          <a:stretch>
            <a:fillRect/>
          </a:stretch>
        </p:blipFill>
        <p:spPr>
          <a:xfrm>
            <a:off x="7657579" y="4961918"/>
            <a:ext cx="4277154" cy="1429757"/>
          </a:xfrm>
          <a:prstGeom prst="rect">
            <a:avLst/>
          </a:prstGeom>
        </p:spPr>
      </p:pic>
    </p:spTree>
    <p:extLst>
      <p:ext uri="{BB962C8B-B14F-4D97-AF65-F5344CB8AC3E}">
        <p14:creationId xmlns:p14="http://schemas.microsoft.com/office/powerpoint/2010/main" val="637570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6441" y="2241458"/>
            <a:ext cx="1027911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Language Integrated Query (LINQ)</a:t>
            </a:r>
            <a:endParaRPr lang="en-US" sz="4400" dirty="0">
              <a:solidFill>
                <a:schemeClr val="accent2"/>
              </a:solidFill>
            </a:endParaRPr>
          </a:p>
        </p:txBody>
      </p:sp>
    </p:spTree>
    <p:extLst>
      <p:ext uri="{BB962C8B-B14F-4D97-AF65-F5344CB8AC3E}">
        <p14:creationId xmlns:p14="http://schemas.microsoft.com/office/powerpoint/2010/main" val="2112190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Lambdas Expression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60" y="1421559"/>
            <a:ext cx="12255060" cy="2698175"/>
          </a:xfrm>
          <a:prstGeom prst="rect">
            <a:avLst/>
          </a:prstGeom>
          <a:noFill/>
        </p:spPr>
        <p:txBody>
          <a:bodyPr wrap="square">
            <a:spAutoFit/>
          </a:bodyPr>
          <a:lstStyle/>
          <a:p>
            <a:pPr marL="342900" indent="-342900" algn="just">
              <a:spcBef>
                <a:spcPts val="800"/>
              </a:spcBef>
              <a:spcAft>
                <a:spcPts val="800"/>
              </a:spcAft>
              <a:buClr>
                <a:srgbClr val="973735"/>
              </a:buClr>
              <a:buSzPct val="50000"/>
              <a:buFont typeface="Wingdings" pitchFamily="2" charset="2"/>
              <a:buChar char="u"/>
              <a:tabLst>
                <a:tab pos="241300" algn="l"/>
              </a:tabLst>
              <a:defRPr/>
            </a:pPr>
            <a:r>
              <a:rPr lang="en-US" sz="2600">
                <a:solidFill>
                  <a:srgbClr val="111111"/>
                </a:solidFill>
                <a:latin typeface="+mj-lt"/>
              </a:rPr>
              <a:t>Lambda expressions in C# are used like anonymous functions, with the difference that in Lambda expressions we don’t need to specify the type of the value that we input thus making it more flexible to use</a:t>
            </a:r>
          </a:p>
          <a:p>
            <a:pPr marL="342900" indent="-342900" algn="just">
              <a:spcBef>
                <a:spcPts val="800"/>
              </a:spcBef>
              <a:spcAft>
                <a:spcPts val="800"/>
              </a:spcAft>
              <a:buClr>
                <a:srgbClr val="973735"/>
              </a:buClr>
              <a:buSzPct val="50000"/>
              <a:buFont typeface="Wingdings" pitchFamily="2" charset="2"/>
              <a:buChar char="u"/>
              <a:tabLst>
                <a:tab pos="241300" algn="l"/>
              </a:tabLst>
              <a:defRPr/>
            </a:pPr>
            <a:r>
              <a:rPr lang="en-US" sz="2600">
                <a:solidFill>
                  <a:srgbClr val="111111"/>
                </a:solidFill>
                <a:latin typeface="+mj-lt"/>
              </a:rPr>
              <a:t>The ‘</a:t>
            </a:r>
            <a:r>
              <a:rPr lang="en-US" sz="2600">
                <a:solidFill>
                  <a:srgbClr val="FF0000"/>
                </a:solidFill>
                <a:latin typeface="+mj-lt"/>
              </a:rPr>
              <a:t>=&gt;</a:t>
            </a:r>
            <a:r>
              <a:rPr lang="en-US" sz="2600">
                <a:solidFill>
                  <a:srgbClr val="111111"/>
                </a:solidFill>
                <a:latin typeface="+mj-lt"/>
              </a:rPr>
              <a:t>’ is the lambda operator which is used in all lambda expressions. The Lambda expression is divided into two parts, the left side is the input and the right is the expression</a:t>
            </a:r>
            <a:endParaRPr lang="en-US" sz="2600" i="0" dirty="0">
              <a:solidFill>
                <a:srgbClr val="171717"/>
              </a:solidFill>
              <a:effectLst/>
              <a:latin typeface="+mj-lt"/>
            </a:endParaRPr>
          </a:p>
        </p:txBody>
      </p:sp>
      <p:sp>
        <p:nvSpPr>
          <p:cNvPr id="10" name="Text Box 6">
            <a:extLst>
              <a:ext uri="{FF2B5EF4-FFF2-40B4-BE49-F238E27FC236}">
                <a16:creationId xmlns:a16="http://schemas.microsoft.com/office/drawing/2014/main" id="{CEC4ECD4-6F58-4C66-AB91-B6AEDBAFEE58}"/>
              </a:ext>
            </a:extLst>
          </p:cNvPr>
          <p:cNvSpPr txBox="1">
            <a:spLocks noChangeArrowheads="1"/>
          </p:cNvSpPr>
          <p:nvPr/>
        </p:nvSpPr>
        <p:spPr bwMode="auto">
          <a:xfrm>
            <a:off x="2374682" y="4922682"/>
            <a:ext cx="8073258" cy="746187"/>
          </a:xfrm>
          <a:prstGeom prst="rect">
            <a:avLst/>
          </a:prstGeom>
          <a:ln w="19050">
            <a:headEnd/>
            <a:tailEnd/>
          </a:ln>
        </p:spPr>
        <p:style>
          <a:lnRef idx="2">
            <a:schemeClr val="accent2"/>
          </a:lnRef>
          <a:fillRef idx="1">
            <a:schemeClr val="lt1"/>
          </a:fillRef>
          <a:effectRef idx="0">
            <a:schemeClr val="accent2"/>
          </a:effectRef>
          <a:fontRef idx="minor">
            <a:schemeClr val="dk1"/>
          </a:fontRef>
        </p:style>
        <p:txBody>
          <a:bodyPr anchor="t"/>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fontAlgn="base" hangingPunct="0">
              <a:spcAft>
                <a:spcPct val="0"/>
              </a:spcAft>
              <a:buChar char="»"/>
              <a:defRPr sz="2000">
                <a:solidFill>
                  <a:schemeClr val="tx1"/>
                </a:solidFill>
                <a:latin typeface="Arial" pitchFamily="34" charset="0"/>
              </a:defRPr>
            </a:lvl6pPr>
            <a:lvl7pPr eaLnBrk="0" fontAlgn="base" hangingPunct="0">
              <a:spcAft>
                <a:spcPct val="0"/>
              </a:spcAft>
              <a:buChar char="»"/>
              <a:defRPr sz="2000">
                <a:solidFill>
                  <a:schemeClr val="tx1"/>
                </a:solidFill>
                <a:latin typeface="Arial" pitchFamily="34" charset="0"/>
              </a:defRPr>
            </a:lvl7pPr>
            <a:lvl8pPr eaLnBrk="0" fontAlgn="base" hangingPunct="0">
              <a:spcAft>
                <a:spcPct val="0"/>
              </a:spcAft>
              <a:buChar char="»"/>
              <a:defRPr sz="2000">
                <a:solidFill>
                  <a:schemeClr val="tx1"/>
                </a:solidFill>
                <a:latin typeface="Arial" pitchFamily="34" charset="0"/>
              </a:defRPr>
            </a:lvl8pPr>
            <a:lvl9pPr eaLnBrk="0" fontAlgn="base" hangingPunct="0">
              <a:spcAft>
                <a:spcPct val="0"/>
              </a:spcAft>
              <a:buChar char="»"/>
              <a:defRPr sz="2000">
                <a:solidFill>
                  <a:schemeClr val="tx1"/>
                </a:solidFill>
                <a:latin typeface="Arial" pitchFamily="34" charset="0"/>
              </a:defRPr>
            </a:lvl9pPr>
          </a:lstStyle>
          <a:p>
            <a:pPr>
              <a:lnSpc>
                <a:spcPct val="150000"/>
              </a:lnSpc>
              <a:spcBef>
                <a:spcPts val="600"/>
              </a:spcBef>
            </a:pPr>
            <a:r>
              <a:rPr lang="en-GB" sz="2400" b="1">
                <a:solidFill>
                  <a:srgbClr val="00B0F0"/>
                </a:solidFill>
                <a:latin typeface="Courier New" pitchFamily="49" charset="0"/>
                <a:ea typeface="Calibri" pitchFamily="34" charset="0"/>
                <a:cs typeface="Courier New" pitchFamily="49" charset="0"/>
              </a:rPr>
              <a:t>parameter-list</a:t>
            </a:r>
            <a:r>
              <a:rPr lang="en-GB" sz="2400" b="1">
                <a:solidFill>
                  <a:srgbClr val="000000"/>
                </a:solidFill>
                <a:latin typeface="Courier New" pitchFamily="49" charset="0"/>
                <a:ea typeface="Calibri" pitchFamily="34" charset="0"/>
                <a:cs typeface="Courier New" pitchFamily="49" charset="0"/>
              </a:rPr>
              <a:t> </a:t>
            </a:r>
            <a:r>
              <a:rPr lang="en-GB" sz="2400" b="1">
                <a:solidFill>
                  <a:srgbClr val="FF0000"/>
                </a:solidFill>
                <a:latin typeface="Courier New" pitchFamily="49" charset="0"/>
                <a:ea typeface="Calibri" pitchFamily="34" charset="0"/>
                <a:cs typeface="Courier New" pitchFamily="49" charset="0"/>
              </a:rPr>
              <a:t>=&gt;</a:t>
            </a:r>
            <a:r>
              <a:rPr lang="en-GB" sz="2400" b="1">
                <a:solidFill>
                  <a:srgbClr val="000000"/>
                </a:solidFill>
                <a:latin typeface="Courier New" pitchFamily="49" charset="0"/>
                <a:ea typeface="Calibri" pitchFamily="34" charset="0"/>
                <a:cs typeface="Courier New" pitchFamily="49" charset="0"/>
              </a:rPr>
              <a:t> </a:t>
            </a:r>
            <a:r>
              <a:rPr lang="en-GB" sz="2400" b="1">
                <a:solidFill>
                  <a:srgbClr val="FF0000"/>
                </a:solidFill>
                <a:latin typeface="Courier New" pitchFamily="49" charset="0"/>
                <a:ea typeface="Calibri" pitchFamily="34" charset="0"/>
                <a:cs typeface="Courier New" pitchFamily="49" charset="0"/>
              </a:rPr>
              <a:t>expression</a:t>
            </a:r>
            <a:r>
              <a:rPr lang="en-GB" sz="2400" b="1">
                <a:solidFill>
                  <a:srgbClr val="000000"/>
                </a:solidFill>
                <a:latin typeface="Courier New" pitchFamily="49" charset="0"/>
                <a:ea typeface="Calibri" pitchFamily="34" charset="0"/>
                <a:cs typeface="Courier New" pitchFamily="49" charset="0"/>
              </a:rPr>
              <a:t> or </a:t>
            </a:r>
            <a:r>
              <a:rPr lang="en-GB" sz="2400" b="1">
                <a:solidFill>
                  <a:srgbClr val="00B050"/>
                </a:solidFill>
                <a:latin typeface="Courier New" pitchFamily="49" charset="0"/>
                <a:ea typeface="Calibri" pitchFamily="34" charset="0"/>
                <a:cs typeface="Courier New" pitchFamily="49" charset="0"/>
              </a:rPr>
              <a:t>statements</a:t>
            </a:r>
            <a:endParaRPr lang="en-US" sz="2400" b="1">
              <a:solidFill>
                <a:srgbClr val="00B050"/>
              </a:solidFill>
              <a:latin typeface="Courier New" pitchFamily="49" charset="0"/>
              <a:ea typeface="Calibri" pitchFamily="34" charset="0"/>
              <a:cs typeface="Courier New" pitchFamily="49" charset="0"/>
            </a:endParaRPr>
          </a:p>
          <a:p>
            <a:pPr eaLnBrk="1" hangingPunct="1">
              <a:lnSpc>
                <a:spcPct val="150000"/>
              </a:lnSpc>
              <a:spcBef>
                <a:spcPts val="600"/>
              </a:spcBef>
            </a:pPr>
            <a:endParaRPr lang="en-US" sz="2100" b="1" dirty="0">
              <a:latin typeface="+mj-lt"/>
              <a:ea typeface="Calibri" pitchFamily="34" charset="0"/>
              <a:cs typeface="Times New Roman" pitchFamily="18" charset="0"/>
            </a:endParaRPr>
          </a:p>
        </p:txBody>
      </p:sp>
      <p:sp>
        <p:nvSpPr>
          <p:cNvPr id="11" name="Text Box 4">
            <a:extLst>
              <a:ext uri="{FF2B5EF4-FFF2-40B4-BE49-F238E27FC236}">
                <a16:creationId xmlns:a16="http://schemas.microsoft.com/office/drawing/2014/main" id="{5DEF5FE8-916B-42F7-B5B8-78E1E8057DAF}"/>
              </a:ext>
            </a:extLst>
          </p:cNvPr>
          <p:cNvSpPr txBox="1">
            <a:spLocks noChangeArrowheads="1"/>
          </p:cNvSpPr>
          <p:nvPr/>
        </p:nvSpPr>
        <p:spPr bwMode="auto">
          <a:xfrm>
            <a:off x="702213" y="4528204"/>
            <a:ext cx="1586415" cy="415498"/>
          </a:xfrm>
          <a:prstGeom prst="rect">
            <a:avLst/>
          </a:prstGeom>
          <a:solidFill>
            <a:srgbClr val="00B050"/>
          </a:solidFill>
          <a:ln>
            <a:noFill/>
          </a:ln>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fontAlgn="base" hangingPunct="0">
              <a:spcAft>
                <a:spcPct val="0"/>
              </a:spcAft>
              <a:buChar char="»"/>
              <a:defRPr sz="2000">
                <a:solidFill>
                  <a:schemeClr val="tx1"/>
                </a:solidFill>
                <a:latin typeface="Arial" pitchFamily="34" charset="0"/>
              </a:defRPr>
            </a:lvl6pPr>
            <a:lvl7pPr eaLnBrk="0" fontAlgn="base" hangingPunct="0">
              <a:spcAft>
                <a:spcPct val="0"/>
              </a:spcAft>
              <a:buChar char="»"/>
              <a:defRPr sz="2000">
                <a:solidFill>
                  <a:schemeClr val="tx1"/>
                </a:solidFill>
                <a:latin typeface="Arial" pitchFamily="34" charset="0"/>
              </a:defRPr>
            </a:lvl7pPr>
            <a:lvl8pPr eaLnBrk="0" fontAlgn="base" hangingPunct="0">
              <a:spcAft>
                <a:spcPct val="0"/>
              </a:spcAft>
              <a:buChar char="»"/>
              <a:defRPr sz="2000">
                <a:solidFill>
                  <a:schemeClr val="tx1"/>
                </a:solidFill>
                <a:latin typeface="Arial" pitchFamily="34" charset="0"/>
              </a:defRPr>
            </a:lvl8pPr>
            <a:lvl9pPr eaLnBrk="0" fontAlgn="base" hangingPunct="0">
              <a:spcAft>
                <a:spcPct val="0"/>
              </a:spcAft>
              <a:buChar char="»"/>
              <a:defRPr sz="2000">
                <a:solidFill>
                  <a:schemeClr val="tx1"/>
                </a:solidFill>
                <a:latin typeface="Arial" pitchFamily="34" charset="0"/>
              </a:defRPr>
            </a:lvl9pPr>
          </a:lstStyle>
          <a:p>
            <a:pPr algn="ctr" eaLnBrk="1" hangingPunct="1">
              <a:spcBef>
                <a:spcPct val="50000"/>
              </a:spcBef>
            </a:pPr>
            <a:r>
              <a:rPr lang="en-US" sz="2100" dirty="0">
                <a:solidFill>
                  <a:schemeClr val="bg1"/>
                </a:solidFill>
                <a:latin typeface="+mj-lt"/>
              </a:rPr>
              <a:t>Syntax</a:t>
            </a:r>
          </a:p>
        </p:txBody>
      </p:sp>
      <p:sp>
        <p:nvSpPr>
          <p:cNvPr id="12" name="TextBox 11">
            <a:extLst>
              <a:ext uri="{FF2B5EF4-FFF2-40B4-BE49-F238E27FC236}">
                <a16:creationId xmlns:a16="http://schemas.microsoft.com/office/drawing/2014/main" id="{7D9F5BA4-0240-4A8D-927E-9E3C4411A829}"/>
              </a:ext>
            </a:extLst>
          </p:cNvPr>
          <p:cNvSpPr txBox="1"/>
          <p:nvPr/>
        </p:nvSpPr>
        <p:spPr>
          <a:xfrm>
            <a:off x="1839311" y="5730773"/>
            <a:ext cx="9144000" cy="707886"/>
          </a:xfrm>
          <a:prstGeom prst="rect">
            <a:avLst/>
          </a:prstGeom>
          <a:noFill/>
        </p:spPr>
        <p:txBody>
          <a:bodyPr wrap="square">
            <a:spAutoFit/>
          </a:bodyPr>
          <a:lstStyle/>
          <a:p>
            <a:pPr marL="800100" lvl="1" indent="-342900" eaLnBrk="1" hangingPunct="1">
              <a:spcBef>
                <a:spcPts val="0"/>
              </a:spcBef>
              <a:buFont typeface="Wingdings" panose="05000000000000000000" pitchFamily="2" charset="2"/>
              <a:buChar char="§"/>
            </a:pPr>
            <a:r>
              <a:rPr lang="en-GB" sz="2000" b="1">
                <a:solidFill>
                  <a:srgbClr val="FF0000"/>
                </a:solidFill>
                <a:latin typeface="+mj-lt"/>
                <a:cs typeface="Courier New" pitchFamily="49" charset="0"/>
              </a:rPr>
              <a:t>parameter-list </a:t>
            </a:r>
            <a:r>
              <a:rPr lang="en-GB" sz="2000">
                <a:latin typeface="+mj-lt"/>
              </a:rPr>
              <a:t>: is an explicitly typed or implicitly typed parameter list</a:t>
            </a:r>
            <a:endParaRPr lang="en-US" sz="2000">
              <a:latin typeface="+mj-lt"/>
            </a:endParaRPr>
          </a:p>
          <a:p>
            <a:pPr marL="800100" lvl="1" indent="-342900" eaLnBrk="1" hangingPunct="1">
              <a:spcBef>
                <a:spcPts val="0"/>
              </a:spcBef>
              <a:buFont typeface="Wingdings" panose="05000000000000000000" pitchFamily="2" charset="2"/>
              <a:buChar char="§"/>
            </a:pPr>
            <a:r>
              <a:rPr lang="en-GB" sz="2000">
                <a:solidFill>
                  <a:srgbClr val="FF0000"/>
                </a:solidFill>
                <a:latin typeface="+mj-lt"/>
                <a:cs typeface="Courier New" pitchFamily="49" charset="0"/>
              </a:rPr>
              <a:t>=&gt; </a:t>
            </a:r>
            <a:r>
              <a:rPr lang="en-GB" sz="2000">
                <a:latin typeface="+mj-lt"/>
                <a:cs typeface="Courier New" pitchFamily="49" charset="0"/>
              </a:rPr>
              <a:t>: </a:t>
            </a:r>
            <a:r>
              <a:rPr lang="en-GB" sz="2000">
                <a:latin typeface="+mj-lt"/>
              </a:rPr>
              <a:t> is the lambda operator</a:t>
            </a:r>
            <a:endParaRPr lang="en-US" sz="2000" dirty="0">
              <a:latin typeface="+mj-lt"/>
            </a:endParaRPr>
          </a:p>
        </p:txBody>
      </p:sp>
    </p:spTree>
    <p:extLst>
      <p:ext uri="{BB962C8B-B14F-4D97-AF65-F5344CB8AC3E}">
        <p14:creationId xmlns:p14="http://schemas.microsoft.com/office/powerpoint/2010/main" val="1170922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Lambdas Expression</a:t>
            </a:r>
            <a:endParaRPr lang="en-US" sz="4000" b="1" dirty="0"/>
          </a:p>
        </p:txBody>
      </p:sp>
      <p:grpSp>
        <p:nvGrpSpPr>
          <p:cNvPr id="8" name="Group 7">
            <a:extLst>
              <a:ext uri="{FF2B5EF4-FFF2-40B4-BE49-F238E27FC236}">
                <a16:creationId xmlns:a16="http://schemas.microsoft.com/office/drawing/2014/main" id="{5BA7A33D-E1EB-4EAB-A9B4-640E53E38FAA}"/>
              </a:ext>
            </a:extLst>
          </p:cNvPr>
          <p:cNvGrpSpPr/>
          <p:nvPr/>
        </p:nvGrpSpPr>
        <p:grpSpPr>
          <a:xfrm>
            <a:off x="0" y="1564908"/>
            <a:ext cx="7708259" cy="4635812"/>
            <a:chOff x="142967" y="1696885"/>
            <a:chExt cx="7708259" cy="4635812"/>
          </a:xfrm>
        </p:grpSpPr>
        <p:pic>
          <p:nvPicPr>
            <p:cNvPr id="5" name="Picture 4">
              <a:extLst>
                <a:ext uri="{FF2B5EF4-FFF2-40B4-BE49-F238E27FC236}">
                  <a16:creationId xmlns:a16="http://schemas.microsoft.com/office/drawing/2014/main" id="{632303A7-80F1-42AF-A82F-BADCF9BA7F35}"/>
                </a:ext>
              </a:extLst>
            </p:cNvPr>
            <p:cNvPicPr>
              <a:picLocks noChangeAspect="1"/>
            </p:cNvPicPr>
            <p:nvPr/>
          </p:nvPicPr>
          <p:blipFill>
            <a:blip r:embed="rId3"/>
            <a:stretch>
              <a:fillRect/>
            </a:stretch>
          </p:blipFill>
          <p:spPr>
            <a:xfrm>
              <a:off x="142967" y="1696885"/>
              <a:ext cx="7708259" cy="4635812"/>
            </a:xfrm>
            <a:prstGeom prst="rect">
              <a:avLst/>
            </a:prstGeom>
          </p:spPr>
        </p:pic>
        <p:sp>
          <p:nvSpPr>
            <p:cNvPr id="7" name="Rectangle 6">
              <a:extLst>
                <a:ext uri="{FF2B5EF4-FFF2-40B4-BE49-F238E27FC236}">
                  <a16:creationId xmlns:a16="http://schemas.microsoft.com/office/drawing/2014/main" id="{0B512EFF-1C90-4646-B019-A390949AED09}"/>
                </a:ext>
              </a:extLst>
            </p:cNvPr>
            <p:cNvSpPr/>
            <p:nvPr/>
          </p:nvSpPr>
          <p:spPr>
            <a:xfrm>
              <a:off x="5759670" y="4298730"/>
              <a:ext cx="1944413" cy="3363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BE35F4B5-1133-4706-B1F0-0B431CD02073}"/>
              </a:ext>
            </a:extLst>
          </p:cNvPr>
          <p:cNvPicPr>
            <a:picLocks noChangeAspect="1"/>
          </p:cNvPicPr>
          <p:nvPr/>
        </p:nvPicPr>
        <p:blipFill>
          <a:blip r:embed="rId4"/>
          <a:stretch>
            <a:fillRect/>
          </a:stretch>
        </p:blipFill>
        <p:spPr>
          <a:xfrm>
            <a:off x="7654967" y="5487144"/>
            <a:ext cx="4199961" cy="903789"/>
          </a:xfrm>
          <a:prstGeom prst="rect">
            <a:avLst/>
          </a:prstGeom>
        </p:spPr>
      </p:pic>
    </p:spTree>
    <p:extLst>
      <p:ext uri="{BB962C8B-B14F-4D97-AF65-F5344CB8AC3E}">
        <p14:creationId xmlns:p14="http://schemas.microsoft.com/office/powerpoint/2010/main" val="19896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Lambdas with Standard Query Operators </a:t>
            </a:r>
            <a:endParaRPr lang="en-US" sz="4000" b="1" dirty="0"/>
          </a:p>
        </p:txBody>
      </p:sp>
      <p:graphicFrame>
        <p:nvGraphicFramePr>
          <p:cNvPr id="10" name="Group 28">
            <a:extLst>
              <a:ext uri="{FF2B5EF4-FFF2-40B4-BE49-F238E27FC236}">
                <a16:creationId xmlns:a16="http://schemas.microsoft.com/office/drawing/2014/main" id="{4DE41FB4-6F02-4904-8235-6C3C5C090CE0}"/>
              </a:ext>
            </a:extLst>
          </p:cNvPr>
          <p:cNvGraphicFramePr>
            <a:graphicFrameLocks noGrp="1"/>
          </p:cNvGraphicFramePr>
          <p:nvPr>
            <p:extLst>
              <p:ext uri="{D42A27DB-BD31-4B8C-83A1-F6EECF244321}">
                <p14:modId xmlns:p14="http://schemas.microsoft.com/office/powerpoint/2010/main" val="3668428700"/>
              </p:ext>
            </p:extLst>
          </p:nvPr>
        </p:nvGraphicFramePr>
        <p:xfrm>
          <a:off x="1434141" y="2641910"/>
          <a:ext cx="8760893" cy="2304431"/>
        </p:xfrm>
        <a:graphic>
          <a:graphicData uri="http://schemas.openxmlformats.org/drawingml/2006/table">
            <a:tbl>
              <a:tblPr>
                <a:tableStyleId>{BDBED569-4797-4DF1-A0F4-6AAB3CD982D8}</a:tableStyleId>
              </a:tblPr>
              <a:tblGrid>
                <a:gridCol w="2264050">
                  <a:extLst>
                    <a:ext uri="{9D8B030D-6E8A-4147-A177-3AD203B41FA5}">
                      <a16:colId xmlns:a16="http://schemas.microsoft.com/office/drawing/2014/main" val="20000"/>
                    </a:ext>
                  </a:extLst>
                </a:gridCol>
                <a:gridCol w="6496843">
                  <a:extLst>
                    <a:ext uri="{9D8B030D-6E8A-4147-A177-3AD203B41FA5}">
                      <a16:colId xmlns:a16="http://schemas.microsoft.com/office/drawing/2014/main" val="20001"/>
                    </a:ext>
                  </a:extLst>
                </a:gridCol>
              </a:tblGrid>
              <a:tr h="41607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GB" sz="2000" b="1" kern="1200" dirty="0">
                          <a:solidFill>
                            <a:schemeClr val="tx1"/>
                          </a:solidFill>
                        </a:rPr>
                        <a:t>Operator</a:t>
                      </a:r>
                      <a:endParaRPr kumimoji="0" lang="en-US" sz="2000" b="0" i="0" u="none" strike="noStrike" cap="none" normalizeH="0" baseline="0" dirty="0">
                        <a:ln>
                          <a:noFill/>
                        </a:ln>
                        <a:solidFill>
                          <a:schemeClr val="tx1"/>
                        </a:solidFill>
                        <a:effectLst/>
                        <a:latin typeface="+mj-lt"/>
                      </a:endParaRPr>
                    </a:p>
                  </a:txBody>
                  <a:tcPr horzOverflow="overflow">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GB" sz="2000" b="1" kern="1200" dirty="0">
                          <a:solidFill>
                            <a:schemeClr val="tx1"/>
                          </a:solidFill>
                        </a:rPr>
                        <a:t>Description</a:t>
                      </a:r>
                      <a:endParaRPr kumimoji="0" lang="en-US" sz="2000" b="0" i="0" u="none" strike="noStrike" cap="none" normalizeH="0" baseline="0" dirty="0">
                        <a:ln>
                          <a:noFill/>
                        </a:ln>
                        <a:solidFill>
                          <a:schemeClr val="tx1"/>
                        </a:solidFill>
                        <a:effectLst/>
                        <a:latin typeface="+mj-lt"/>
                      </a:endParaRPr>
                    </a:p>
                  </a:txBody>
                  <a:tcPr horzOverflow="overflow">
                    <a:solidFill>
                      <a:srgbClr val="92D050"/>
                    </a:solidFill>
                  </a:tcPr>
                </a:tc>
                <a:extLst>
                  <a:ext uri="{0D108BD9-81ED-4DB2-BD59-A6C34878D82A}">
                    <a16:rowId xmlns:a16="http://schemas.microsoft.com/office/drawing/2014/main" val="10000"/>
                  </a:ext>
                </a:extLst>
              </a:tr>
              <a:tr h="4160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b="1" kern="1200" dirty="0">
                          <a:solidFill>
                            <a:schemeClr val="tx1"/>
                          </a:solidFill>
                        </a:rPr>
                        <a:t>Sum</a:t>
                      </a:r>
                      <a:endParaRPr kumimoji="0" lang="en-US" sz="2000" b="1" i="0" u="none" strike="noStrike" cap="none" normalizeH="0" baseline="0" dirty="0">
                        <a:ln>
                          <a:noFill/>
                        </a:ln>
                        <a:solidFill>
                          <a:schemeClr val="tx1"/>
                        </a:solidFill>
                        <a:effectLst/>
                        <a:latin typeface="+mj-lt"/>
                        <a:cs typeface="Courier New" pitchFamily="49"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kern="1200" dirty="0">
                          <a:solidFill>
                            <a:schemeClr val="tx1"/>
                          </a:solidFill>
                        </a:rPr>
                        <a:t>Calculates sum of the elements in the expression</a:t>
                      </a:r>
                      <a:endParaRPr kumimoji="0" lang="en-US" sz="2000" b="0"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1"/>
                  </a:ext>
                </a:extLst>
              </a:tr>
              <a:tr h="4160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b="1" kern="1200" dirty="0">
                          <a:solidFill>
                            <a:schemeClr val="tx1"/>
                          </a:solidFill>
                        </a:rPr>
                        <a:t>Count</a:t>
                      </a:r>
                      <a:endParaRPr kumimoji="0" lang="en-US" sz="2000" b="1" i="0" u="none" strike="noStrike" cap="none" normalizeH="0" baseline="0" dirty="0">
                        <a:ln>
                          <a:noFill/>
                        </a:ln>
                        <a:solidFill>
                          <a:schemeClr val="tx1"/>
                        </a:solidFill>
                        <a:effectLst/>
                        <a:latin typeface="+mj-lt"/>
                        <a:cs typeface="Courier New" pitchFamily="49"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kern="1200" dirty="0">
                          <a:solidFill>
                            <a:schemeClr val="tx1"/>
                          </a:solidFill>
                        </a:rPr>
                        <a:t>Counts the number of elements in the expression</a:t>
                      </a:r>
                      <a:endParaRPr kumimoji="0" lang="en-US" sz="2000" b="0"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2"/>
                  </a:ext>
                </a:extLst>
              </a:tr>
              <a:tr h="4160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b="1" kern="1200" dirty="0">
                          <a:solidFill>
                            <a:schemeClr val="tx1"/>
                          </a:solidFill>
                        </a:rPr>
                        <a:t>OrderBy</a:t>
                      </a:r>
                      <a:endParaRPr kumimoji="0" lang="en-US" sz="2000" b="1" i="0" u="none" strike="noStrike" cap="none" normalizeH="0" baseline="0" dirty="0">
                        <a:ln>
                          <a:noFill/>
                        </a:ln>
                        <a:solidFill>
                          <a:schemeClr val="tx1"/>
                        </a:solidFill>
                        <a:effectLst/>
                        <a:latin typeface="+mj-lt"/>
                        <a:cs typeface="Courier New" pitchFamily="49"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kern="1200" dirty="0">
                          <a:solidFill>
                            <a:schemeClr val="tx1"/>
                          </a:solidFill>
                        </a:rPr>
                        <a:t>Sorts the elements in the expression</a:t>
                      </a:r>
                      <a:endParaRPr kumimoji="0" lang="en-US" sz="2000" b="0"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3"/>
                  </a:ext>
                </a:extLst>
              </a:tr>
              <a:tr h="6401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GB" sz="2000" b="1" kern="1200" dirty="0">
                          <a:solidFill>
                            <a:schemeClr val="tx1"/>
                          </a:solidFill>
                        </a:rPr>
                        <a:t>Contains</a:t>
                      </a:r>
                      <a:endParaRPr kumimoji="0" lang="en-US" sz="2000" b="1" i="0" u="none" strike="noStrike" cap="none" normalizeH="0" baseline="0" dirty="0">
                        <a:ln>
                          <a:noFill/>
                        </a:ln>
                        <a:solidFill>
                          <a:schemeClr val="tx1"/>
                        </a:solidFill>
                        <a:effectLst/>
                        <a:latin typeface="+mj-lt"/>
                        <a:cs typeface="Courier New" pitchFamily="49" charset="0"/>
                      </a:endParaRPr>
                    </a:p>
                  </a:txBody>
                  <a:tcPr horzOverflow="overflow"/>
                </a:tc>
                <a:tc>
                  <a:txBody>
                    <a:bodyPr/>
                    <a:lstStyle/>
                    <a:p>
                      <a:pPr marL="0" marR="0">
                        <a:spcBef>
                          <a:spcPts val="1700"/>
                        </a:spcBef>
                        <a:spcAft>
                          <a:spcPts val="0"/>
                        </a:spcAft>
                      </a:pPr>
                      <a:r>
                        <a:rPr lang="en-GB" sz="2000" dirty="0">
                          <a:solidFill>
                            <a:srgbClr val="000000"/>
                          </a:solidFill>
                        </a:rPr>
                        <a:t>Determines if a given value is present in the expression</a:t>
                      </a:r>
                      <a:endParaRPr lang="en-US" sz="2000" dirty="0">
                        <a:latin typeface="+mj-lt"/>
                        <a:ea typeface="Calibri"/>
                      </a:endParaRPr>
                    </a:p>
                  </a:txBody>
                  <a:tcPr marL="68580" marR="68580" marT="0" marB="0"/>
                </a:tc>
                <a:extLst>
                  <a:ext uri="{0D108BD9-81ED-4DB2-BD59-A6C34878D82A}">
                    <a16:rowId xmlns:a16="http://schemas.microsoft.com/office/drawing/2014/main" val="10004"/>
                  </a:ext>
                </a:extLst>
              </a:tr>
            </a:tbl>
          </a:graphicData>
        </a:graphic>
      </p:graphicFrame>
      <p:sp>
        <p:nvSpPr>
          <p:cNvPr id="12" name="TextBox 11">
            <a:extLst>
              <a:ext uri="{FF2B5EF4-FFF2-40B4-BE49-F238E27FC236}">
                <a16:creationId xmlns:a16="http://schemas.microsoft.com/office/drawing/2014/main" id="{FB7D412B-CCAF-4A51-BBCF-12B03DDD4E68}"/>
              </a:ext>
            </a:extLst>
          </p:cNvPr>
          <p:cNvSpPr txBox="1"/>
          <p:nvPr/>
        </p:nvSpPr>
        <p:spPr>
          <a:xfrm>
            <a:off x="-42040" y="1399411"/>
            <a:ext cx="11288111" cy="627864"/>
          </a:xfrm>
          <a:prstGeom prst="rect">
            <a:avLst/>
          </a:prstGeom>
          <a:noFill/>
        </p:spPr>
        <p:txBody>
          <a:bodyPr wrap="square">
            <a:spAutoFit/>
          </a:bodyPr>
          <a:lstStyle/>
          <a:p>
            <a:pPr marL="342900" lvl="1" indent="-342900" algn="just">
              <a:lnSpc>
                <a:spcPct val="150000"/>
              </a:lnSpc>
              <a:spcBef>
                <a:spcPts val="1000"/>
              </a:spcBef>
              <a:buClr>
                <a:srgbClr val="973735"/>
              </a:buClr>
              <a:buSzPct val="50000"/>
              <a:buFont typeface="Wingdings" pitchFamily="2" charset="2"/>
              <a:buChar char="u"/>
              <a:tabLst>
                <a:tab pos="241300" algn="l"/>
              </a:tabLst>
              <a:defRPr/>
            </a:pPr>
            <a:r>
              <a:rPr lang="en-GB" sz="2600">
                <a:solidFill>
                  <a:srgbClr val="111111"/>
                </a:solidFill>
                <a:latin typeface="+mj-lt"/>
              </a:rPr>
              <a:t>Lambda expressions can also be used with standard query operators</a:t>
            </a:r>
            <a:endParaRPr lang="en-GB" sz="2600" dirty="0">
              <a:latin typeface="Calibri" pitchFamily="34" charset="0"/>
            </a:endParaRPr>
          </a:p>
        </p:txBody>
      </p:sp>
    </p:spTree>
    <p:extLst>
      <p:ext uri="{BB962C8B-B14F-4D97-AF65-F5344CB8AC3E}">
        <p14:creationId xmlns:p14="http://schemas.microsoft.com/office/powerpoint/2010/main" val="2258740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Lambdas with Standard Query Operators </a:t>
            </a:r>
            <a:endParaRPr lang="en-US" sz="4000" b="1" dirty="0"/>
          </a:p>
        </p:txBody>
      </p:sp>
      <p:pic>
        <p:nvPicPr>
          <p:cNvPr id="15" name="Picture 14">
            <a:extLst>
              <a:ext uri="{FF2B5EF4-FFF2-40B4-BE49-F238E27FC236}">
                <a16:creationId xmlns:a16="http://schemas.microsoft.com/office/drawing/2014/main" id="{106DC37D-2E08-4C08-B7E4-78959DBB7869}"/>
              </a:ext>
            </a:extLst>
          </p:cNvPr>
          <p:cNvPicPr>
            <a:picLocks noChangeAspect="1"/>
          </p:cNvPicPr>
          <p:nvPr/>
        </p:nvPicPr>
        <p:blipFill>
          <a:blip r:embed="rId3"/>
          <a:stretch>
            <a:fillRect/>
          </a:stretch>
        </p:blipFill>
        <p:spPr>
          <a:xfrm>
            <a:off x="8509580" y="4531134"/>
            <a:ext cx="3596197" cy="1818302"/>
          </a:xfrm>
          <a:prstGeom prst="rect">
            <a:avLst/>
          </a:prstGeom>
        </p:spPr>
      </p:pic>
      <p:grpSp>
        <p:nvGrpSpPr>
          <p:cNvPr id="18" name="Group 17">
            <a:extLst>
              <a:ext uri="{FF2B5EF4-FFF2-40B4-BE49-F238E27FC236}">
                <a16:creationId xmlns:a16="http://schemas.microsoft.com/office/drawing/2014/main" id="{B015DDE1-3C79-4005-8623-B80587D6F33A}"/>
              </a:ext>
            </a:extLst>
          </p:cNvPr>
          <p:cNvGrpSpPr/>
          <p:nvPr/>
        </p:nvGrpSpPr>
        <p:grpSpPr>
          <a:xfrm>
            <a:off x="50556" y="1626826"/>
            <a:ext cx="8459024" cy="4416622"/>
            <a:chOff x="50556" y="1584785"/>
            <a:chExt cx="8459024" cy="4416622"/>
          </a:xfrm>
        </p:grpSpPr>
        <p:pic>
          <p:nvPicPr>
            <p:cNvPr id="13" name="Picture 12">
              <a:extLst>
                <a:ext uri="{FF2B5EF4-FFF2-40B4-BE49-F238E27FC236}">
                  <a16:creationId xmlns:a16="http://schemas.microsoft.com/office/drawing/2014/main" id="{4ECE958F-968B-49FD-864E-0C53A7BA1FF2}"/>
                </a:ext>
              </a:extLst>
            </p:cNvPr>
            <p:cNvPicPr>
              <a:picLocks noChangeAspect="1"/>
            </p:cNvPicPr>
            <p:nvPr/>
          </p:nvPicPr>
          <p:blipFill>
            <a:blip r:embed="rId4"/>
            <a:stretch>
              <a:fillRect/>
            </a:stretch>
          </p:blipFill>
          <p:spPr>
            <a:xfrm>
              <a:off x="113616" y="1693330"/>
              <a:ext cx="8395964" cy="4308077"/>
            </a:xfrm>
            <a:prstGeom prst="rect">
              <a:avLst/>
            </a:prstGeom>
          </p:spPr>
        </p:pic>
        <p:sp>
          <p:nvSpPr>
            <p:cNvPr id="16" name="Rectangle 15">
              <a:extLst>
                <a:ext uri="{FF2B5EF4-FFF2-40B4-BE49-F238E27FC236}">
                  <a16:creationId xmlns:a16="http://schemas.microsoft.com/office/drawing/2014/main" id="{E764A317-36CC-4C36-9443-8F16AF34C6B9}"/>
                </a:ext>
              </a:extLst>
            </p:cNvPr>
            <p:cNvSpPr/>
            <p:nvPr/>
          </p:nvSpPr>
          <p:spPr>
            <a:xfrm>
              <a:off x="50556" y="1584785"/>
              <a:ext cx="2314274" cy="4009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CCEAB1F-D362-4729-BF22-E9D083F6FE5D}"/>
                </a:ext>
              </a:extLst>
            </p:cNvPr>
            <p:cNvSpPr/>
            <p:nvPr/>
          </p:nvSpPr>
          <p:spPr>
            <a:xfrm>
              <a:off x="1522004" y="3720482"/>
              <a:ext cx="5887789" cy="11142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67149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Query Expressions </a:t>
            </a:r>
            <a:endParaRPr lang="en-US" sz="4000" b="1" dirty="0"/>
          </a:p>
        </p:txBody>
      </p:sp>
      <p:sp>
        <p:nvSpPr>
          <p:cNvPr id="6" name="TextBox 5">
            <a:extLst>
              <a:ext uri="{FF2B5EF4-FFF2-40B4-BE49-F238E27FC236}">
                <a16:creationId xmlns:a16="http://schemas.microsoft.com/office/drawing/2014/main" id="{35400D0F-A306-412F-99B6-79F3CE954B72}"/>
              </a:ext>
            </a:extLst>
          </p:cNvPr>
          <p:cNvSpPr txBox="1"/>
          <p:nvPr/>
        </p:nvSpPr>
        <p:spPr>
          <a:xfrm>
            <a:off x="-63061" y="1343498"/>
            <a:ext cx="12244551" cy="5278368"/>
          </a:xfrm>
          <a:prstGeom prst="rect">
            <a:avLst/>
          </a:prstGeom>
          <a:noFill/>
        </p:spPr>
        <p:txBody>
          <a:bodyPr wrap="square">
            <a:spAutoFit/>
          </a:bodyPr>
          <a:lstStyle/>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A query expression is a query expressed in query syntax</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A query expression is a first-class language construct. It is just like any other expression and can be used in any context in which a C# expression is valid</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A query expression consists of a set of clauses written in a declarative syntax similar to SQL or XQuery</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A query expression is a query that is written in syntax using clauses such as </a:t>
            </a:r>
            <a:r>
              <a:rPr lang="en-US" sz="2600" b="1">
                <a:solidFill>
                  <a:srgbClr val="FF0000"/>
                </a:solidFill>
                <a:latin typeface="+mj-lt"/>
              </a:rPr>
              <a:t>from</a:t>
            </a:r>
            <a:r>
              <a:rPr lang="en-US" sz="2600">
                <a:solidFill>
                  <a:srgbClr val="111111"/>
                </a:solidFill>
                <a:latin typeface="+mj-lt"/>
              </a:rPr>
              <a:t>, </a:t>
            </a:r>
            <a:r>
              <a:rPr lang="en-US" sz="2600" b="1">
                <a:solidFill>
                  <a:srgbClr val="FF0000"/>
                </a:solidFill>
                <a:latin typeface="+mj-lt"/>
              </a:rPr>
              <a:t>select, where, group, order by, ascending, descending</a:t>
            </a:r>
            <a:r>
              <a:rPr lang="en-US" sz="2600">
                <a:solidFill>
                  <a:srgbClr val="111111"/>
                </a:solidFill>
                <a:latin typeface="+mj-lt"/>
              </a:rPr>
              <a:t>…These clauses are an inherent part of a LINQ query</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LINQ  simplifies working with data present in various formats in different data sources </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A </a:t>
            </a:r>
            <a:r>
              <a:rPr lang="en-US" sz="2600" b="1">
                <a:solidFill>
                  <a:srgbClr val="FF0000"/>
                </a:solidFill>
                <a:latin typeface="+mj-lt"/>
              </a:rPr>
              <a:t>from</a:t>
            </a:r>
            <a:r>
              <a:rPr lang="en-US" sz="2600">
                <a:solidFill>
                  <a:srgbClr val="111111"/>
                </a:solidFill>
                <a:latin typeface="+mj-lt"/>
              </a:rPr>
              <a:t> clause must be used to start a query expression and a </a:t>
            </a:r>
            <a:r>
              <a:rPr lang="en-US" sz="2600" b="1">
                <a:solidFill>
                  <a:srgbClr val="FF0000"/>
                </a:solidFill>
                <a:latin typeface="+mj-lt"/>
              </a:rPr>
              <a:t>select</a:t>
            </a:r>
            <a:r>
              <a:rPr lang="en-US" sz="2600">
                <a:solidFill>
                  <a:srgbClr val="111111"/>
                </a:solidFill>
                <a:latin typeface="+mj-lt"/>
              </a:rPr>
              <a:t> or </a:t>
            </a:r>
            <a:r>
              <a:rPr lang="en-US" sz="2600" b="1">
                <a:solidFill>
                  <a:srgbClr val="FF0000"/>
                </a:solidFill>
                <a:latin typeface="+mj-lt"/>
              </a:rPr>
              <a:t>group</a:t>
            </a:r>
            <a:r>
              <a:rPr lang="en-US" sz="2600">
                <a:solidFill>
                  <a:srgbClr val="111111"/>
                </a:solidFill>
                <a:latin typeface="+mj-lt"/>
              </a:rPr>
              <a:t> clause must be used to end the query expression</a:t>
            </a:r>
          </a:p>
        </p:txBody>
      </p:sp>
    </p:spTree>
    <p:extLst>
      <p:ext uri="{BB962C8B-B14F-4D97-AF65-F5344CB8AC3E}">
        <p14:creationId xmlns:p14="http://schemas.microsoft.com/office/powerpoint/2010/main" val="2244087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Introduction of LINQ to Objects</a:t>
            </a:r>
            <a:endParaRPr lang="en-US" sz="4000" b="1" dirty="0"/>
          </a:p>
        </p:txBody>
      </p:sp>
      <p:sp>
        <p:nvSpPr>
          <p:cNvPr id="6" name="TextBox 5">
            <a:extLst>
              <a:ext uri="{FF2B5EF4-FFF2-40B4-BE49-F238E27FC236}">
                <a16:creationId xmlns:a16="http://schemas.microsoft.com/office/drawing/2014/main" id="{50C0D041-10B0-4054-BF8D-10F469303B38}"/>
              </a:ext>
            </a:extLst>
          </p:cNvPr>
          <p:cNvSpPr txBox="1"/>
          <p:nvPr/>
        </p:nvSpPr>
        <p:spPr>
          <a:xfrm>
            <a:off x="-50769" y="1473334"/>
            <a:ext cx="12091209" cy="4724370"/>
          </a:xfrm>
          <a:prstGeom prst="rect">
            <a:avLst/>
          </a:prstGeom>
          <a:noFill/>
        </p:spPr>
        <p:txBody>
          <a:bodyPr wrap="square">
            <a:spAutoFit/>
          </a:bodyPr>
          <a:lstStyle/>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Queries in LINQ to Objects return variables of type usually IEnumerable&lt;T&gt; only</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LINQ to Objects offers a fresh approach to collections as earlier, it was vital to write long coding (foreach loops of much complexity) for retrieval of data from a collection which is now replaced by writing declarative code which clearly describes the desired data that is required to retrieve</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There are also many advantages of LINQ to Objects over traditional foreach loops like more readability, powerful filtering, capability of grouping, enhanced ordering with minimal application coding</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LINQ queries are also more compact in nature and are portable to any other data sources without any modification or with just a little modification</a:t>
            </a:r>
          </a:p>
        </p:txBody>
      </p:sp>
    </p:spTree>
    <p:extLst>
      <p:ext uri="{BB962C8B-B14F-4D97-AF65-F5344CB8AC3E}">
        <p14:creationId xmlns:p14="http://schemas.microsoft.com/office/powerpoint/2010/main" val="2399315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687200"/>
            <a:ext cx="11154104" cy="575433"/>
          </a:xfrm>
        </p:spPr>
        <p:txBody>
          <a:bodyPr>
            <a:noAutofit/>
          </a:bodyPr>
          <a:lstStyle/>
          <a:p>
            <a:r>
              <a:rPr lang="en-US" sz="4000" b="1"/>
              <a:t>LINQ to Objects with Query Expressions </a:t>
            </a:r>
            <a:endParaRPr lang="en-US" sz="4000" b="1" dirty="0"/>
          </a:p>
        </p:txBody>
      </p:sp>
      <p:pic>
        <p:nvPicPr>
          <p:cNvPr id="5" name="Picture 4">
            <a:extLst>
              <a:ext uri="{FF2B5EF4-FFF2-40B4-BE49-F238E27FC236}">
                <a16:creationId xmlns:a16="http://schemas.microsoft.com/office/drawing/2014/main" id="{A9F16D11-D718-41DF-A4B9-CBD3B5D35AED}"/>
              </a:ext>
            </a:extLst>
          </p:cNvPr>
          <p:cNvPicPr>
            <a:picLocks noChangeAspect="1"/>
          </p:cNvPicPr>
          <p:nvPr/>
        </p:nvPicPr>
        <p:blipFill>
          <a:blip r:embed="rId3"/>
          <a:stretch>
            <a:fillRect/>
          </a:stretch>
        </p:blipFill>
        <p:spPr>
          <a:xfrm>
            <a:off x="174445" y="1679952"/>
            <a:ext cx="9891235" cy="4490848"/>
          </a:xfrm>
          <a:prstGeom prst="rect">
            <a:avLst/>
          </a:prstGeom>
        </p:spPr>
      </p:pic>
      <p:pic>
        <p:nvPicPr>
          <p:cNvPr id="17" name="Picture 16">
            <a:extLst>
              <a:ext uri="{FF2B5EF4-FFF2-40B4-BE49-F238E27FC236}">
                <a16:creationId xmlns:a16="http://schemas.microsoft.com/office/drawing/2014/main" id="{FC8CAF17-2D2D-469D-93F1-F473BC033826}"/>
              </a:ext>
            </a:extLst>
          </p:cNvPr>
          <p:cNvPicPr>
            <a:picLocks noChangeAspect="1"/>
          </p:cNvPicPr>
          <p:nvPr/>
        </p:nvPicPr>
        <p:blipFill>
          <a:blip r:embed="rId4"/>
          <a:stretch>
            <a:fillRect/>
          </a:stretch>
        </p:blipFill>
        <p:spPr>
          <a:xfrm>
            <a:off x="8122304" y="4660015"/>
            <a:ext cx="3722855" cy="1660479"/>
          </a:xfrm>
          <a:prstGeom prst="rect">
            <a:avLst/>
          </a:prstGeom>
        </p:spPr>
      </p:pic>
    </p:spTree>
    <p:extLst>
      <p:ext uri="{BB962C8B-B14F-4D97-AF65-F5344CB8AC3E}">
        <p14:creationId xmlns:p14="http://schemas.microsoft.com/office/powerpoint/2010/main" val="1873187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28</a:t>
            </a:fld>
            <a:endParaRPr lang="en-US" dirty="0"/>
          </a:p>
        </p:txBody>
      </p:sp>
      <p:sp>
        <p:nvSpPr>
          <p:cNvPr id="6" name="TextBox 5">
            <a:extLst>
              <a:ext uri="{FF2B5EF4-FFF2-40B4-BE49-F238E27FC236}">
                <a16:creationId xmlns:a16="http://schemas.microsoft.com/office/drawing/2014/main" id="{50C0D041-10B0-4054-BF8D-10F469303B38}"/>
              </a:ext>
            </a:extLst>
          </p:cNvPr>
          <p:cNvSpPr txBox="1"/>
          <p:nvPr/>
        </p:nvSpPr>
        <p:spPr>
          <a:xfrm>
            <a:off x="-50768" y="1473334"/>
            <a:ext cx="6998324" cy="3600986"/>
          </a:xfrm>
          <a:prstGeom prst="rect">
            <a:avLst/>
          </a:prstGeom>
          <a:noFill/>
        </p:spPr>
        <p:txBody>
          <a:bodyPr wrap="square">
            <a:spAutoFit/>
          </a:bodyPr>
          <a:lstStyle/>
          <a:p>
            <a:pPr marL="342900" lvl="1" indent="-342900" algn="just">
              <a:buClr>
                <a:srgbClr val="973735"/>
              </a:buClr>
              <a:buSzPct val="50000"/>
              <a:buFont typeface="Wingdings" pitchFamily="2" charset="2"/>
              <a:buChar char="u"/>
              <a:tabLst>
                <a:tab pos="241300" algn="l"/>
              </a:tabLst>
              <a:defRPr/>
            </a:pPr>
            <a:r>
              <a:rPr lang="en-US" sz="2600" dirty="0" err="1">
                <a:solidFill>
                  <a:srgbClr val="111111"/>
                </a:solidFill>
                <a:latin typeface="+mj-lt"/>
              </a:rPr>
              <a:t>IEnumerable</a:t>
            </a:r>
            <a:r>
              <a:rPr lang="en-US" sz="2600" dirty="0">
                <a:solidFill>
                  <a:srgbClr val="111111"/>
                </a:solidFill>
                <a:latin typeface="+mj-lt"/>
              </a:rPr>
              <a:t>: Represents a collection that can be enumerated. </a:t>
            </a:r>
            <a:r>
              <a:rPr lang="en-US" sz="2600" dirty="0" err="1">
                <a:solidFill>
                  <a:srgbClr val="111111"/>
                </a:solidFill>
                <a:latin typeface="+mj-lt"/>
              </a:rPr>
              <a:t>IEnumerable</a:t>
            </a:r>
            <a:r>
              <a:rPr lang="en-US" sz="2600" dirty="0">
                <a:solidFill>
                  <a:srgbClr val="111111"/>
                </a:solidFill>
                <a:latin typeface="+mj-lt"/>
              </a:rPr>
              <a:t> is an interface that exposes a method for iterating over a collection.</a:t>
            </a:r>
          </a:p>
          <a:p>
            <a:pPr marL="342900" lvl="1" indent="-342900" algn="just">
              <a:buClr>
                <a:srgbClr val="973735"/>
              </a:buClr>
              <a:buSzPct val="50000"/>
              <a:buFont typeface="Wingdings" pitchFamily="2" charset="2"/>
              <a:buChar char="u"/>
              <a:tabLst>
                <a:tab pos="241300" algn="l"/>
              </a:tabLst>
              <a:defRPr/>
            </a:pPr>
            <a:r>
              <a:rPr lang="en-US" sz="2600" dirty="0" err="1">
                <a:solidFill>
                  <a:srgbClr val="111111"/>
                </a:solidFill>
                <a:latin typeface="+mj-lt"/>
              </a:rPr>
              <a:t>IEnumerator</a:t>
            </a:r>
            <a:r>
              <a:rPr lang="en-US" sz="2600" dirty="0">
                <a:solidFill>
                  <a:srgbClr val="111111"/>
                </a:solidFill>
                <a:latin typeface="+mj-lt"/>
              </a:rPr>
              <a:t>: Provides a mechanism for iterating over the elements of a collection. </a:t>
            </a:r>
            <a:r>
              <a:rPr lang="en-US" sz="2600" dirty="0" err="1">
                <a:solidFill>
                  <a:srgbClr val="111111"/>
                </a:solidFill>
                <a:latin typeface="+mj-lt"/>
              </a:rPr>
              <a:t>IEnumerator</a:t>
            </a:r>
            <a:r>
              <a:rPr lang="en-US" sz="2600" dirty="0">
                <a:solidFill>
                  <a:srgbClr val="111111"/>
                </a:solidFill>
                <a:latin typeface="+mj-lt"/>
              </a:rPr>
              <a:t> is an interface that represents an iterator over a collection.</a:t>
            </a:r>
          </a:p>
          <a:p>
            <a:pPr marL="457200" lvl="2" algn="just">
              <a:buClr>
                <a:srgbClr val="973735"/>
              </a:buClr>
              <a:buSzPct val="50000"/>
              <a:tabLst>
                <a:tab pos="241300" algn="l"/>
              </a:tabLst>
              <a:defRPr/>
            </a:pPr>
            <a:r>
              <a:rPr lang="en-US" sz="2000" dirty="0">
                <a:solidFill>
                  <a:srgbClr val="111111"/>
                </a:solidFill>
                <a:latin typeface="Courier" panose="02020500000000000000" pitchFamily="18" charset="0"/>
                <a:ea typeface="Courier" panose="02020500000000000000" pitchFamily="18" charset="0"/>
                <a:cs typeface="Courier" panose="02020500000000000000" pitchFamily="18" charset="0"/>
              </a:rPr>
              <a:t>	</a:t>
            </a:r>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186117" y="720006"/>
            <a:ext cx="11364751" cy="575433"/>
          </a:xfrm>
        </p:spPr>
        <p:txBody>
          <a:bodyPr>
            <a:noAutofit/>
          </a:bodyPr>
          <a:lstStyle/>
          <a:p>
            <a:r>
              <a:rPr lang="en-US" sz="4000" b="1" dirty="0"/>
              <a:t> </a:t>
            </a:r>
            <a:r>
              <a:rPr lang="en-US" sz="4000" b="1" dirty="0" err="1"/>
              <a:t>IEnumerable</a:t>
            </a:r>
            <a:r>
              <a:rPr lang="en-US" sz="4000" b="1" dirty="0"/>
              <a:t> – </a:t>
            </a:r>
            <a:r>
              <a:rPr lang="en-US" sz="4000" b="1" dirty="0" err="1"/>
              <a:t>IEnumerator</a:t>
            </a:r>
            <a:r>
              <a:rPr lang="en-US" sz="4000" b="1" dirty="0"/>
              <a:t> in details</a:t>
            </a:r>
          </a:p>
        </p:txBody>
      </p:sp>
      <p:pic>
        <p:nvPicPr>
          <p:cNvPr id="7" name="Picture 6"/>
          <p:cNvPicPr>
            <a:picLocks noChangeAspect="1"/>
          </p:cNvPicPr>
          <p:nvPr/>
        </p:nvPicPr>
        <p:blipFill>
          <a:blip r:embed="rId3"/>
          <a:stretch>
            <a:fillRect/>
          </a:stretch>
        </p:blipFill>
        <p:spPr>
          <a:xfrm>
            <a:off x="236742" y="4817720"/>
            <a:ext cx="3497402" cy="1139728"/>
          </a:xfrm>
          <a:prstGeom prst="rect">
            <a:avLst/>
          </a:prstGeom>
        </p:spPr>
      </p:pic>
      <p:pic>
        <p:nvPicPr>
          <p:cNvPr id="10" name="Picture 9"/>
          <p:cNvPicPr>
            <a:picLocks noChangeAspect="1"/>
          </p:cNvPicPr>
          <p:nvPr/>
        </p:nvPicPr>
        <p:blipFill>
          <a:blip r:embed="rId4"/>
          <a:stretch>
            <a:fillRect/>
          </a:stretch>
        </p:blipFill>
        <p:spPr>
          <a:xfrm>
            <a:off x="4107490" y="4783577"/>
            <a:ext cx="2466720" cy="1464615"/>
          </a:xfrm>
          <a:prstGeom prst="rect">
            <a:avLst/>
          </a:prstGeom>
        </p:spPr>
      </p:pic>
      <p:pic>
        <p:nvPicPr>
          <p:cNvPr id="11" name="Picture 10"/>
          <p:cNvPicPr>
            <a:picLocks noChangeAspect="1"/>
          </p:cNvPicPr>
          <p:nvPr/>
        </p:nvPicPr>
        <p:blipFill>
          <a:blip r:embed="rId5"/>
          <a:stretch>
            <a:fillRect/>
          </a:stretch>
        </p:blipFill>
        <p:spPr>
          <a:xfrm>
            <a:off x="7088956" y="1514074"/>
            <a:ext cx="5090663" cy="3387864"/>
          </a:xfrm>
          <a:prstGeom prst="rect">
            <a:avLst/>
          </a:prstGeom>
        </p:spPr>
      </p:pic>
    </p:spTree>
    <p:extLst>
      <p:ext uri="{BB962C8B-B14F-4D97-AF65-F5344CB8AC3E}">
        <p14:creationId xmlns:p14="http://schemas.microsoft.com/office/powerpoint/2010/main" val="1919246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IQueryable in .NET</a:t>
            </a:r>
            <a:endParaRPr lang="en-US" sz="4000" b="1" dirty="0"/>
          </a:p>
        </p:txBody>
      </p:sp>
      <p:sp>
        <p:nvSpPr>
          <p:cNvPr id="6" name="TextBox 5">
            <a:extLst>
              <a:ext uri="{FF2B5EF4-FFF2-40B4-BE49-F238E27FC236}">
                <a16:creationId xmlns:a16="http://schemas.microsoft.com/office/drawing/2014/main" id="{50C0D041-10B0-4054-BF8D-10F469303B38}"/>
              </a:ext>
            </a:extLst>
          </p:cNvPr>
          <p:cNvSpPr txBox="1"/>
          <p:nvPr/>
        </p:nvSpPr>
        <p:spPr>
          <a:xfrm>
            <a:off x="-50769" y="1473334"/>
            <a:ext cx="12091209" cy="4801314"/>
          </a:xfrm>
          <a:prstGeom prst="rect">
            <a:avLst/>
          </a:prstGeom>
          <a:noFill/>
        </p:spPr>
        <p:txBody>
          <a:bodyPr wrap="square">
            <a:spAutoFit/>
          </a:bodyPr>
          <a:lstStyle/>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err="1">
                <a:solidFill>
                  <a:srgbClr val="111111"/>
                </a:solidFill>
                <a:latin typeface="+mj-lt"/>
              </a:rPr>
              <a:t>IQueryable</a:t>
            </a:r>
            <a:r>
              <a:rPr lang="en-US" sz="2600" dirty="0">
                <a:solidFill>
                  <a:srgbClr val="111111"/>
                </a:solidFill>
                <a:latin typeface="+mj-lt"/>
              </a:rPr>
              <a:t> is an interface in .NET that represents a </a:t>
            </a:r>
            <a:r>
              <a:rPr lang="en-US" sz="2600" dirty="0" err="1">
                <a:solidFill>
                  <a:srgbClr val="111111"/>
                </a:solidFill>
                <a:latin typeface="+mj-lt"/>
              </a:rPr>
              <a:t>queryable</a:t>
            </a:r>
            <a:r>
              <a:rPr lang="en-US" sz="2600" dirty="0">
                <a:solidFill>
                  <a:srgbClr val="111111"/>
                </a:solidFill>
                <a:latin typeface="+mj-lt"/>
              </a:rPr>
              <a:t> data source, allowing for deferred execution of queries.</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err="1">
                <a:solidFill>
                  <a:srgbClr val="111111"/>
                </a:solidFill>
                <a:latin typeface="+mj-lt"/>
              </a:rPr>
              <a:t>IQueryable</a:t>
            </a:r>
            <a:r>
              <a:rPr lang="en-US" sz="2600" dirty="0">
                <a:solidFill>
                  <a:srgbClr val="111111"/>
                </a:solidFill>
                <a:latin typeface="+mj-lt"/>
              </a:rPr>
              <a:t> enables building dynamic queries at runtime and executing them against various data sources, such as databases or in-memory collections.</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err="1">
                <a:solidFill>
                  <a:srgbClr val="111111"/>
                </a:solidFill>
                <a:latin typeface="+mj-lt"/>
              </a:rPr>
              <a:t>IQueryable</a:t>
            </a:r>
            <a:r>
              <a:rPr lang="en-US" sz="2600" dirty="0">
                <a:solidFill>
                  <a:srgbClr val="111111"/>
                </a:solidFill>
                <a:latin typeface="+mj-lt"/>
              </a:rPr>
              <a:t>&lt;T&gt; is a generic interface that inherits from </a:t>
            </a:r>
            <a:r>
              <a:rPr lang="en-US" sz="2600" dirty="0" err="1">
                <a:solidFill>
                  <a:srgbClr val="111111"/>
                </a:solidFill>
                <a:latin typeface="+mj-lt"/>
              </a:rPr>
              <a:t>IEnumerable</a:t>
            </a:r>
            <a:r>
              <a:rPr lang="en-US" sz="2600" dirty="0">
                <a:solidFill>
                  <a:srgbClr val="111111"/>
                </a:solidFill>
                <a:latin typeface="+mj-lt"/>
              </a:rPr>
              <a:t>&lt;T&gt; and represents a </a:t>
            </a:r>
            <a:r>
              <a:rPr lang="en-US" sz="2600" dirty="0" err="1">
                <a:solidFill>
                  <a:srgbClr val="111111"/>
                </a:solidFill>
                <a:latin typeface="+mj-lt"/>
              </a:rPr>
              <a:t>queryable</a:t>
            </a:r>
            <a:r>
              <a:rPr lang="en-US" sz="2600" dirty="0">
                <a:solidFill>
                  <a:srgbClr val="111111"/>
                </a:solidFill>
                <a:latin typeface="+mj-lt"/>
              </a:rPr>
              <a:t> data source of type T.</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err="1">
                <a:solidFill>
                  <a:srgbClr val="111111"/>
                </a:solidFill>
                <a:latin typeface="+mj-lt"/>
              </a:rPr>
              <a:t>IQueryable</a:t>
            </a:r>
            <a:r>
              <a:rPr lang="en-US" sz="2600" dirty="0">
                <a:solidFill>
                  <a:srgbClr val="111111"/>
                </a:solidFill>
                <a:latin typeface="+mj-lt"/>
              </a:rPr>
              <a:t>&lt;T&gt; provides methods for querying data, such as Where, Select, </a:t>
            </a:r>
            <a:r>
              <a:rPr lang="en-US" sz="2600" dirty="0" err="1">
                <a:solidFill>
                  <a:srgbClr val="111111"/>
                </a:solidFill>
                <a:latin typeface="+mj-lt"/>
              </a:rPr>
              <a:t>OrderBy</a:t>
            </a:r>
            <a:r>
              <a:rPr lang="en-US" sz="2600" dirty="0">
                <a:solidFill>
                  <a:srgbClr val="111111"/>
                </a:solidFill>
                <a:latin typeface="+mj-lt"/>
              </a:rPr>
              <a:t>, Skip, Take, etc.</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Example: </a:t>
            </a:r>
            <a:r>
              <a:rPr lang="en-US" sz="2600" dirty="0" err="1">
                <a:solidFill>
                  <a:srgbClr val="111111"/>
                </a:solidFill>
                <a:latin typeface="+mj-lt"/>
              </a:rPr>
              <a:t>IQueryable</a:t>
            </a:r>
            <a:r>
              <a:rPr lang="en-US" sz="2600" dirty="0">
                <a:solidFill>
                  <a:srgbClr val="111111"/>
                </a:solidFill>
                <a:latin typeface="+mj-lt"/>
              </a:rPr>
              <a:t>&lt;Product&gt; query = </a:t>
            </a:r>
            <a:r>
              <a:rPr lang="en-US" sz="2600" dirty="0" err="1">
                <a:solidFill>
                  <a:srgbClr val="111111"/>
                </a:solidFill>
                <a:latin typeface="+mj-lt"/>
              </a:rPr>
              <a:t>dbContext.Products</a:t>
            </a:r>
            <a:r>
              <a:rPr lang="en-US" sz="2600" dirty="0">
                <a:solidFill>
                  <a:srgbClr val="111111"/>
                </a:solidFill>
                <a:latin typeface="+mj-lt"/>
              </a:rPr>
              <a:t>                                .Where(p =&gt; </a:t>
            </a:r>
            <a:r>
              <a:rPr lang="en-US" sz="2600" dirty="0" err="1">
                <a:solidFill>
                  <a:srgbClr val="111111"/>
                </a:solidFill>
                <a:latin typeface="+mj-lt"/>
              </a:rPr>
              <a:t>p.Category</a:t>
            </a:r>
            <a:r>
              <a:rPr lang="en-US" sz="2600" dirty="0">
                <a:solidFill>
                  <a:srgbClr val="111111"/>
                </a:solidFill>
                <a:latin typeface="+mj-lt"/>
              </a:rPr>
              <a:t> == "Electronics").</a:t>
            </a:r>
            <a:r>
              <a:rPr lang="en-US" sz="2600" dirty="0" err="1">
                <a:solidFill>
                  <a:srgbClr val="111111"/>
                </a:solidFill>
                <a:latin typeface="+mj-lt"/>
              </a:rPr>
              <a:t>OrderBy</a:t>
            </a:r>
            <a:r>
              <a:rPr lang="en-US" sz="2600" dirty="0">
                <a:solidFill>
                  <a:srgbClr val="111111"/>
                </a:solidFill>
                <a:latin typeface="+mj-lt"/>
              </a:rPr>
              <a:t>(p =&gt; </a:t>
            </a:r>
            <a:r>
              <a:rPr lang="en-US" sz="2600" dirty="0" err="1">
                <a:solidFill>
                  <a:srgbClr val="111111"/>
                </a:solidFill>
                <a:latin typeface="+mj-lt"/>
              </a:rPr>
              <a:t>p.Price</a:t>
            </a:r>
            <a:r>
              <a:rPr lang="en-US" sz="2600" dirty="0">
                <a:solidFill>
                  <a:srgbClr val="111111"/>
                </a:solidFill>
                <a:latin typeface="+mj-lt"/>
              </a:rPr>
              <a:t>)                             .Skip(5).Take(10);</a:t>
            </a:r>
          </a:p>
        </p:txBody>
      </p:sp>
    </p:spTree>
    <p:extLst>
      <p:ext uri="{BB962C8B-B14F-4D97-AF65-F5344CB8AC3E}">
        <p14:creationId xmlns:p14="http://schemas.microsoft.com/office/powerpoint/2010/main" val="3612142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IQueryable in .NET</a:t>
            </a:r>
            <a:endParaRPr lang="en-US" sz="4000" b="1" dirty="0"/>
          </a:p>
        </p:txBody>
      </p:sp>
      <p:sp>
        <p:nvSpPr>
          <p:cNvPr id="6" name="TextBox 5">
            <a:extLst>
              <a:ext uri="{FF2B5EF4-FFF2-40B4-BE49-F238E27FC236}">
                <a16:creationId xmlns:a16="http://schemas.microsoft.com/office/drawing/2014/main" id="{50C0D041-10B0-4054-BF8D-10F469303B38}"/>
              </a:ext>
            </a:extLst>
          </p:cNvPr>
          <p:cNvSpPr txBox="1"/>
          <p:nvPr/>
        </p:nvSpPr>
        <p:spPr>
          <a:xfrm>
            <a:off x="-50769" y="1473334"/>
            <a:ext cx="12091209" cy="4632037"/>
          </a:xfrm>
          <a:prstGeom prst="rect">
            <a:avLst/>
          </a:prstGeom>
          <a:noFill/>
        </p:spPr>
        <p:txBody>
          <a:bodyPr wrap="square">
            <a:spAutoFit/>
          </a:bodyPr>
          <a:lstStyle/>
          <a:p>
            <a:pPr marL="342900" lvl="1" indent="-342900">
              <a:spcBef>
                <a:spcPts val="300"/>
              </a:spcBef>
              <a:spcAft>
                <a:spcPts val="300"/>
              </a:spcAft>
              <a:buClr>
                <a:srgbClr val="973735"/>
              </a:buClr>
              <a:buSzPct val="50000"/>
              <a:buFont typeface="Wingdings" pitchFamily="2" charset="2"/>
              <a:buChar char="u"/>
              <a:tabLst>
                <a:tab pos="241300" algn="l"/>
              </a:tabLst>
              <a:defRPr/>
            </a:pPr>
            <a:r>
              <a:rPr lang="en-US" sz="2600" dirty="0" err="1">
                <a:solidFill>
                  <a:srgbClr val="111111"/>
                </a:solidFill>
                <a:latin typeface="+mj-lt"/>
              </a:rPr>
              <a:t>IQueryable</a:t>
            </a:r>
            <a:r>
              <a:rPr lang="en-US" sz="2600" dirty="0">
                <a:solidFill>
                  <a:srgbClr val="111111"/>
                </a:solidFill>
                <a:latin typeface="+mj-lt"/>
              </a:rPr>
              <a:t>&lt;Product&gt; query = </a:t>
            </a:r>
            <a:r>
              <a:rPr lang="en-US" sz="2600" dirty="0" err="1">
                <a:solidFill>
                  <a:srgbClr val="111111"/>
                </a:solidFill>
                <a:latin typeface="+mj-lt"/>
              </a:rPr>
              <a:t>dbContext.Products</a:t>
            </a:r>
            <a:r>
              <a:rPr lang="en-US" sz="2600" dirty="0">
                <a:solidFill>
                  <a:srgbClr val="111111"/>
                </a:solidFill>
                <a:latin typeface="+mj-lt"/>
              </a:rPr>
              <a:t>                               </a:t>
            </a:r>
          </a:p>
          <a:p>
            <a:pPr marL="1828800" lvl="5">
              <a:spcBef>
                <a:spcPts val="300"/>
              </a:spcBef>
              <a:spcAft>
                <a:spcPts val="300"/>
              </a:spcAft>
              <a:buClr>
                <a:srgbClr val="973735"/>
              </a:buClr>
              <a:buSzPct val="50000"/>
              <a:tabLst>
                <a:tab pos="241300" algn="l"/>
              </a:tabLst>
              <a:defRPr/>
            </a:pPr>
            <a:r>
              <a:rPr lang="en-US" sz="2600" dirty="0">
                <a:solidFill>
                  <a:srgbClr val="111111"/>
                </a:solidFill>
                <a:latin typeface="+mj-lt"/>
              </a:rPr>
              <a:t>.Where(p =&gt; </a:t>
            </a:r>
            <a:r>
              <a:rPr lang="en-US" sz="2600" dirty="0" err="1">
                <a:solidFill>
                  <a:srgbClr val="111111"/>
                </a:solidFill>
                <a:latin typeface="+mj-lt"/>
              </a:rPr>
              <a:t>p.Category</a:t>
            </a:r>
            <a:r>
              <a:rPr lang="en-US" sz="2600" dirty="0">
                <a:solidFill>
                  <a:srgbClr val="111111"/>
                </a:solidFill>
                <a:latin typeface="+mj-lt"/>
              </a:rPr>
              <a:t> == "Electronics")</a:t>
            </a:r>
          </a:p>
          <a:p>
            <a:pPr marL="1828800" lvl="5">
              <a:spcBef>
                <a:spcPts val="300"/>
              </a:spcBef>
              <a:spcAft>
                <a:spcPts val="300"/>
              </a:spcAft>
              <a:buClr>
                <a:srgbClr val="973735"/>
              </a:buClr>
              <a:buSzPct val="50000"/>
              <a:tabLst>
                <a:tab pos="241300" algn="l"/>
              </a:tabLst>
              <a:defRPr/>
            </a:pPr>
            <a:r>
              <a:rPr lang="en-US" sz="2600" dirty="0">
                <a:solidFill>
                  <a:srgbClr val="111111"/>
                </a:solidFill>
                <a:latin typeface="+mj-lt"/>
              </a:rPr>
              <a:t>.</a:t>
            </a:r>
            <a:r>
              <a:rPr lang="en-US" sz="2600" dirty="0" err="1">
                <a:solidFill>
                  <a:srgbClr val="111111"/>
                </a:solidFill>
                <a:latin typeface="+mj-lt"/>
              </a:rPr>
              <a:t>OrderBy</a:t>
            </a:r>
            <a:r>
              <a:rPr lang="en-US" sz="2600" dirty="0">
                <a:solidFill>
                  <a:srgbClr val="111111"/>
                </a:solidFill>
                <a:latin typeface="+mj-lt"/>
              </a:rPr>
              <a:t>(p =&gt; </a:t>
            </a:r>
            <a:r>
              <a:rPr lang="en-US" sz="2600" dirty="0" err="1">
                <a:solidFill>
                  <a:srgbClr val="111111"/>
                </a:solidFill>
                <a:latin typeface="+mj-lt"/>
              </a:rPr>
              <a:t>p.Price</a:t>
            </a:r>
            <a:r>
              <a:rPr lang="en-US" sz="2600" dirty="0">
                <a:solidFill>
                  <a:srgbClr val="111111"/>
                </a:solidFill>
                <a:latin typeface="+mj-lt"/>
              </a:rPr>
              <a:t>)</a:t>
            </a:r>
          </a:p>
          <a:p>
            <a:pPr marL="1828800" lvl="5">
              <a:spcBef>
                <a:spcPts val="300"/>
              </a:spcBef>
              <a:spcAft>
                <a:spcPts val="300"/>
              </a:spcAft>
              <a:buClr>
                <a:srgbClr val="973735"/>
              </a:buClr>
              <a:buSzPct val="50000"/>
              <a:tabLst>
                <a:tab pos="241300" algn="l"/>
              </a:tabLst>
              <a:defRPr/>
            </a:pPr>
            <a:r>
              <a:rPr lang="en-US" sz="2600" dirty="0">
                <a:solidFill>
                  <a:srgbClr val="111111"/>
                </a:solidFill>
                <a:latin typeface="+mj-lt"/>
              </a:rPr>
              <a:t>.Skip(5)</a:t>
            </a:r>
          </a:p>
          <a:p>
            <a:pPr marL="1828800" lvl="5">
              <a:spcBef>
                <a:spcPts val="300"/>
              </a:spcBef>
              <a:spcAft>
                <a:spcPts val="300"/>
              </a:spcAft>
              <a:buClr>
                <a:srgbClr val="973735"/>
              </a:buClr>
              <a:buSzPct val="50000"/>
              <a:tabLst>
                <a:tab pos="241300" algn="l"/>
              </a:tabLst>
              <a:defRPr/>
            </a:pPr>
            <a:r>
              <a:rPr lang="en-US" sz="2600" dirty="0">
                <a:solidFill>
                  <a:srgbClr val="111111"/>
                </a:solidFill>
                <a:latin typeface="+mj-lt"/>
              </a:rPr>
              <a:t>.Take(10);</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This example creates an </a:t>
            </a:r>
            <a:r>
              <a:rPr lang="en-US" sz="2600" dirty="0" err="1">
                <a:solidFill>
                  <a:srgbClr val="111111"/>
                </a:solidFill>
                <a:latin typeface="+mj-lt"/>
              </a:rPr>
              <a:t>IQueryable</a:t>
            </a:r>
            <a:r>
              <a:rPr lang="en-US" sz="2600" dirty="0">
                <a:solidFill>
                  <a:srgbClr val="111111"/>
                </a:solidFill>
                <a:latin typeface="+mj-lt"/>
              </a:rPr>
              <a:t> object representing a query to retrieve products from a database.</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The query is composed of multiple operations like filtering by category, ordering by price, skipping the first 5 records, and taking the next 10 records.</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The actual execution of the query is deferred until enumeration.</a:t>
            </a:r>
          </a:p>
        </p:txBody>
      </p:sp>
    </p:spTree>
    <p:extLst>
      <p:ext uri="{BB962C8B-B14F-4D97-AF65-F5344CB8AC3E}">
        <p14:creationId xmlns:p14="http://schemas.microsoft.com/office/powerpoint/2010/main" val="797995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dirty="0"/>
              <a:t> Benefits of Using </a:t>
            </a:r>
            <a:r>
              <a:rPr lang="en-US" sz="4000" b="1" dirty="0" err="1"/>
              <a:t>IQueryable</a:t>
            </a:r>
            <a:endParaRPr lang="en-US" sz="4000" b="1" dirty="0"/>
          </a:p>
        </p:txBody>
      </p:sp>
      <p:sp>
        <p:nvSpPr>
          <p:cNvPr id="6" name="TextBox 5">
            <a:extLst>
              <a:ext uri="{FF2B5EF4-FFF2-40B4-BE49-F238E27FC236}">
                <a16:creationId xmlns:a16="http://schemas.microsoft.com/office/drawing/2014/main" id="{50C0D041-10B0-4054-BF8D-10F469303B38}"/>
              </a:ext>
            </a:extLst>
          </p:cNvPr>
          <p:cNvSpPr txBox="1"/>
          <p:nvPr/>
        </p:nvSpPr>
        <p:spPr>
          <a:xfrm>
            <a:off x="-50769" y="1473334"/>
            <a:ext cx="12091209" cy="3123932"/>
          </a:xfrm>
          <a:prstGeom prst="rect">
            <a:avLst/>
          </a:prstGeom>
          <a:noFill/>
        </p:spPr>
        <p:txBody>
          <a:bodyPr wrap="square">
            <a:spAutoFit/>
          </a:bodyPr>
          <a:lstStyle/>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Dynamic Queries: Allows for building dynamic queries at runtime based on user input or conditions.</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Optimized Query Execution: Enables the query provider to translate LINQ queries into efficient SQL queries for databases.</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Code Reusability: Queries can be defined as </a:t>
            </a:r>
            <a:r>
              <a:rPr lang="en-US" sz="2600" dirty="0" err="1">
                <a:solidFill>
                  <a:srgbClr val="111111"/>
                </a:solidFill>
                <a:latin typeface="+mj-lt"/>
              </a:rPr>
              <a:t>IQueryable</a:t>
            </a:r>
            <a:r>
              <a:rPr lang="en-US" sz="2600" dirty="0">
                <a:solidFill>
                  <a:srgbClr val="111111"/>
                </a:solidFill>
                <a:latin typeface="+mj-lt"/>
              </a:rPr>
              <a:t> expressions and reused across multiple parts of the application.</a:t>
            </a:r>
          </a:p>
          <a:p>
            <a:pPr marL="342900" lvl="1"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solidFill>
                  <a:srgbClr val="111111"/>
                </a:solidFill>
                <a:latin typeface="+mj-lt"/>
              </a:rPr>
              <a:t> </a:t>
            </a:r>
          </a:p>
        </p:txBody>
      </p:sp>
    </p:spTree>
    <p:extLst>
      <p:ext uri="{BB962C8B-B14F-4D97-AF65-F5344CB8AC3E}">
        <p14:creationId xmlns:p14="http://schemas.microsoft.com/office/powerpoint/2010/main" val="3160393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dirty="0"/>
              <a:t> LINQ Exercises</a:t>
            </a:r>
          </a:p>
        </p:txBody>
      </p:sp>
      <p:sp>
        <p:nvSpPr>
          <p:cNvPr id="6" name="TextBox 5">
            <a:extLst>
              <a:ext uri="{FF2B5EF4-FFF2-40B4-BE49-F238E27FC236}">
                <a16:creationId xmlns:a16="http://schemas.microsoft.com/office/drawing/2014/main" id="{50C0D041-10B0-4054-BF8D-10F469303B38}"/>
              </a:ext>
            </a:extLst>
          </p:cNvPr>
          <p:cNvSpPr txBox="1"/>
          <p:nvPr/>
        </p:nvSpPr>
        <p:spPr>
          <a:xfrm>
            <a:off x="396764" y="1341105"/>
            <a:ext cx="11643676" cy="5239896"/>
          </a:xfrm>
          <a:prstGeom prst="rect">
            <a:avLst/>
          </a:prstGeom>
          <a:noFill/>
        </p:spPr>
        <p:txBody>
          <a:bodyPr wrap="square">
            <a:spAutoFit/>
          </a:bodyPr>
          <a:lstStyle/>
          <a:p>
            <a:r>
              <a:rPr lang="en-US" dirty="0"/>
              <a:t>#1.</a:t>
            </a:r>
          </a:p>
          <a:p>
            <a:r>
              <a:rPr lang="en-US" dirty="0" err="1"/>
              <a:t>int</a:t>
            </a:r>
            <a:r>
              <a:rPr lang="en-US" dirty="0"/>
              <a:t>[] n1 = new </a:t>
            </a:r>
            <a:r>
              <a:rPr lang="en-US" dirty="0" err="1"/>
              <a:t>int</a:t>
            </a:r>
            <a:r>
              <a:rPr lang="en-US" dirty="0"/>
              <a:t>[10] { 0, 1, 2, 3, 4, 5, 6, 7, 8, 9 };       </a:t>
            </a:r>
          </a:p>
          <a:p>
            <a:r>
              <a:rPr lang="en-US" dirty="0"/>
              <a:t>// </a:t>
            </a:r>
            <a:r>
              <a:rPr lang="en-US" dirty="0" err="1"/>
              <a:t>nQuery</a:t>
            </a:r>
            <a:r>
              <a:rPr lang="en-US" dirty="0"/>
              <a:t> is an </a:t>
            </a:r>
            <a:r>
              <a:rPr lang="en-US" dirty="0" err="1"/>
              <a:t>IEnumerable</a:t>
            </a:r>
            <a:r>
              <a:rPr lang="en-US" dirty="0"/>
              <a:t>&lt;</a:t>
            </a:r>
            <a:r>
              <a:rPr lang="en-US" dirty="0" err="1"/>
              <a:t>int</a:t>
            </a:r>
            <a:r>
              <a:rPr lang="en-US" dirty="0"/>
              <a:t>&gt;</a:t>
            </a:r>
          </a:p>
          <a:p>
            <a:r>
              <a:rPr lang="en-US" dirty="0" err="1"/>
              <a:t>var</a:t>
            </a:r>
            <a:r>
              <a:rPr lang="en-US" dirty="0"/>
              <a:t> </a:t>
            </a:r>
            <a:r>
              <a:rPr lang="en-US" dirty="0" err="1"/>
              <a:t>nQuery</a:t>
            </a:r>
            <a:r>
              <a:rPr lang="en-US" dirty="0"/>
              <a:t> = from </a:t>
            </a:r>
            <a:r>
              <a:rPr lang="en-US" dirty="0" err="1"/>
              <a:t>tmp</a:t>
            </a:r>
            <a:r>
              <a:rPr lang="en-US" dirty="0"/>
              <a:t> in n1</a:t>
            </a:r>
          </a:p>
          <a:p>
            <a:r>
              <a:rPr lang="en-US" dirty="0"/>
              <a:t>             where (</a:t>
            </a:r>
            <a:r>
              <a:rPr lang="en-US" dirty="0" err="1"/>
              <a:t>tmp</a:t>
            </a:r>
            <a:r>
              <a:rPr lang="en-US" dirty="0"/>
              <a:t> % 2) == 0</a:t>
            </a:r>
          </a:p>
          <a:p>
            <a:r>
              <a:rPr lang="en-US" dirty="0"/>
              <a:t>             select </a:t>
            </a:r>
            <a:r>
              <a:rPr lang="en-US" dirty="0" err="1"/>
              <a:t>tmp</a:t>
            </a:r>
            <a:r>
              <a:rPr lang="en-US" dirty="0"/>
              <a:t> ;</a:t>
            </a:r>
          </a:p>
          <a:p>
            <a:r>
              <a:rPr lang="en-US" dirty="0"/>
              <a:t> </a:t>
            </a:r>
          </a:p>
          <a:p>
            <a:r>
              <a:rPr lang="en-US" dirty="0"/>
              <a:t>#2.</a:t>
            </a:r>
          </a:p>
          <a:p>
            <a:r>
              <a:rPr lang="en-US" dirty="0" err="1"/>
              <a:t>int</a:t>
            </a:r>
            <a:r>
              <a:rPr lang="en-US" dirty="0"/>
              <a:t>[] n1 = { 1, 3, -2, -4, -7, -3, -8, 12, 19, 6, 9, 10, 14  };  </a:t>
            </a:r>
          </a:p>
          <a:p>
            <a:r>
              <a:rPr lang="en-US" dirty="0" err="1"/>
              <a:t>var</a:t>
            </a:r>
            <a:r>
              <a:rPr lang="en-US" dirty="0"/>
              <a:t> </a:t>
            </a:r>
            <a:r>
              <a:rPr lang="en-US" dirty="0" err="1"/>
              <a:t>nQuery</a:t>
            </a:r>
            <a:r>
              <a:rPr lang="en-US" dirty="0"/>
              <a:t> = from </a:t>
            </a:r>
            <a:r>
              <a:rPr lang="en-US" dirty="0" err="1"/>
              <a:t>tmp</a:t>
            </a:r>
            <a:r>
              <a:rPr lang="en-US" dirty="0"/>
              <a:t> in n1 </a:t>
            </a:r>
          </a:p>
          <a:p>
            <a:r>
              <a:rPr lang="en-US" dirty="0"/>
              <a:t>	     where </a:t>
            </a:r>
            <a:r>
              <a:rPr lang="en-US" dirty="0" err="1"/>
              <a:t>tmp</a:t>
            </a:r>
            <a:r>
              <a:rPr lang="en-US" dirty="0"/>
              <a:t>&gt; 0 </a:t>
            </a:r>
          </a:p>
          <a:p>
            <a:r>
              <a:rPr lang="en-US" dirty="0"/>
              <a:t>	     where </a:t>
            </a:r>
            <a:r>
              <a:rPr lang="en-US" dirty="0" err="1"/>
              <a:t>tmp</a:t>
            </a:r>
            <a:r>
              <a:rPr lang="en-US" dirty="0"/>
              <a:t>&lt; 12 </a:t>
            </a:r>
          </a:p>
          <a:p>
            <a:r>
              <a:rPr lang="en-US" dirty="0"/>
              <a:t>             select </a:t>
            </a:r>
            <a:r>
              <a:rPr lang="en-US" dirty="0" err="1"/>
              <a:t>tmp</a:t>
            </a:r>
            <a:r>
              <a:rPr lang="en-US" dirty="0"/>
              <a:t>;</a:t>
            </a:r>
          </a:p>
          <a:p>
            <a:r>
              <a:rPr lang="en-US" dirty="0"/>
              <a:t> </a:t>
            </a:r>
          </a:p>
          <a:p>
            <a:r>
              <a:rPr lang="en-US" dirty="0"/>
              <a:t>#3.</a:t>
            </a:r>
          </a:p>
          <a:p>
            <a:r>
              <a:rPr lang="en-US" dirty="0"/>
              <a:t>List&lt;string&gt; animals = new List&lt;string&gt; { "zebra", "elephant", "cat", "dog", "rhino", "bat" };</a:t>
            </a:r>
          </a:p>
          <a:p>
            <a:r>
              <a:rPr lang="en-US" dirty="0" err="1"/>
              <a:t>var</a:t>
            </a:r>
            <a:r>
              <a:rPr lang="en-US" dirty="0"/>
              <a:t> </a:t>
            </a:r>
            <a:r>
              <a:rPr lang="en-US" dirty="0" err="1"/>
              <a:t>selectedAnimals</a:t>
            </a:r>
            <a:r>
              <a:rPr lang="en-US" dirty="0"/>
              <a:t> = </a:t>
            </a:r>
            <a:r>
              <a:rPr lang="en-US" dirty="0" err="1"/>
              <a:t>animals.Where</a:t>
            </a:r>
            <a:r>
              <a:rPr lang="en-US" dirty="0"/>
              <a:t>(s =&gt; </a:t>
            </a:r>
            <a:r>
              <a:rPr lang="en-US" dirty="0" err="1"/>
              <a:t>s.Length</a:t>
            </a:r>
            <a:r>
              <a:rPr lang="en-US" dirty="0"/>
              <a:t> &gt;= 5).Select(x =&gt; </a:t>
            </a:r>
            <a:r>
              <a:rPr lang="en-US" dirty="0" err="1"/>
              <a:t>x.ToUpper</a:t>
            </a:r>
            <a:r>
              <a:rPr lang="en-US" dirty="0"/>
              <a:t>());</a:t>
            </a:r>
          </a:p>
          <a:p>
            <a:pPr marL="0" lvl="1" algn="just">
              <a:spcBef>
                <a:spcPts val="300"/>
              </a:spcBef>
              <a:spcAft>
                <a:spcPts val="300"/>
              </a:spcAft>
              <a:buClr>
                <a:srgbClr val="973735"/>
              </a:buClr>
              <a:buSzPct val="50000"/>
              <a:tabLst>
                <a:tab pos="241300" algn="l"/>
              </a:tabLst>
              <a:defRPr/>
            </a:pPr>
            <a:r>
              <a:rPr lang="en-US" dirty="0">
                <a:solidFill>
                  <a:srgbClr val="111111"/>
                </a:solidFill>
              </a:rPr>
              <a:t> </a:t>
            </a:r>
          </a:p>
        </p:txBody>
      </p:sp>
    </p:spTree>
    <p:extLst>
      <p:ext uri="{BB962C8B-B14F-4D97-AF65-F5344CB8AC3E}">
        <p14:creationId xmlns:p14="http://schemas.microsoft.com/office/powerpoint/2010/main" val="66729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dirty="0"/>
              <a:t> LINQ Exercises</a:t>
            </a:r>
          </a:p>
        </p:txBody>
      </p:sp>
      <p:sp>
        <p:nvSpPr>
          <p:cNvPr id="6" name="TextBox 5">
            <a:extLst>
              <a:ext uri="{FF2B5EF4-FFF2-40B4-BE49-F238E27FC236}">
                <a16:creationId xmlns:a16="http://schemas.microsoft.com/office/drawing/2014/main" id="{50C0D041-10B0-4054-BF8D-10F469303B38}"/>
              </a:ext>
            </a:extLst>
          </p:cNvPr>
          <p:cNvSpPr txBox="1"/>
          <p:nvPr/>
        </p:nvSpPr>
        <p:spPr>
          <a:xfrm>
            <a:off x="396764" y="1341105"/>
            <a:ext cx="11643676" cy="5355312"/>
          </a:xfrm>
          <a:prstGeom prst="rect">
            <a:avLst/>
          </a:prstGeom>
          <a:noFill/>
        </p:spPr>
        <p:txBody>
          <a:bodyPr wrap="square">
            <a:spAutoFit/>
          </a:bodyPr>
          <a:lstStyle/>
          <a:p>
            <a:r>
              <a:rPr lang="en-US" dirty="0"/>
              <a:t>#4. </a:t>
            </a:r>
          </a:p>
          <a:p>
            <a:r>
              <a:rPr lang="en-US" dirty="0"/>
              <a:t>List&lt;</a:t>
            </a:r>
            <a:r>
              <a:rPr lang="en-US" dirty="0" err="1"/>
              <a:t>int</a:t>
            </a:r>
            <a:r>
              <a:rPr lang="en-US" dirty="0"/>
              <a:t>&gt; numbers = new List&lt;</a:t>
            </a:r>
            <a:r>
              <a:rPr lang="en-US" dirty="0" err="1"/>
              <a:t>int</a:t>
            </a:r>
            <a:r>
              <a:rPr lang="en-US" dirty="0"/>
              <a:t>&gt; { 6, 0, 999, 11, 443, 6, 1, 24, 54 };</a:t>
            </a:r>
          </a:p>
          <a:p>
            <a:r>
              <a:rPr lang="en-US" dirty="0" err="1"/>
              <a:t>var</a:t>
            </a:r>
            <a:r>
              <a:rPr lang="en-US" dirty="0"/>
              <a:t> top5 = </a:t>
            </a:r>
            <a:r>
              <a:rPr lang="en-US" dirty="0" err="1"/>
              <a:t>numbers.OrderByDescending</a:t>
            </a:r>
            <a:r>
              <a:rPr lang="en-US" dirty="0"/>
              <a:t>(x =&gt; x).Take(5);</a:t>
            </a:r>
          </a:p>
          <a:p>
            <a:r>
              <a:rPr lang="en-US" dirty="0"/>
              <a:t> </a:t>
            </a:r>
          </a:p>
          <a:p>
            <a:r>
              <a:rPr lang="en-US" dirty="0"/>
              <a:t>#5. </a:t>
            </a:r>
          </a:p>
          <a:p>
            <a:r>
              <a:rPr lang="en-US" dirty="0"/>
              <a:t>class Pet</a:t>
            </a:r>
          </a:p>
          <a:p>
            <a:r>
              <a:rPr lang="en-US" dirty="0"/>
              <a:t>{</a:t>
            </a:r>
          </a:p>
          <a:p>
            <a:r>
              <a:rPr lang="en-US" dirty="0"/>
              <a:t>    public string Name { get; set; }</a:t>
            </a:r>
          </a:p>
          <a:p>
            <a:r>
              <a:rPr lang="en-US" dirty="0"/>
              <a:t>    public </a:t>
            </a:r>
            <a:r>
              <a:rPr lang="en-US" dirty="0" err="1"/>
              <a:t>int</a:t>
            </a:r>
            <a:r>
              <a:rPr lang="en-US" dirty="0"/>
              <a:t> Age { get; set; }</a:t>
            </a:r>
          </a:p>
          <a:p>
            <a:r>
              <a:rPr lang="en-US" dirty="0"/>
              <a:t>}</a:t>
            </a:r>
          </a:p>
          <a:p>
            <a:r>
              <a:rPr lang="en-US" dirty="0"/>
              <a:t>public static void OrderByEx1()</a:t>
            </a:r>
          </a:p>
          <a:p>
            <a:r>
              <a:rPr lang="en-US" dirty="0"/>
              <a:t>{</a:t>
            </a:r>
          </a:p>
          <a:p>
            <a:r>
              <a:rPr lang="en-US" dirty="0"/>
              <a:t>    Pet[] pets = { new Pet { Name="Barley", Age=8 },</a:t>
            </a:r>
          </a:p>
          <a:p>
            <a:r>
              <a:rPr lang="en-US" dirty="0"/>
              <a:t>                   new Pet { Name="Boots", Age=4 },</a:t>
            </a:r>
          </a:p>
          <a:p>
            <a:r>
              <a:rPr lang="en-US" dirty="0"/>
              <a:t>                   new Pet { Name="Whiskers", Age=1 } };</a:t>
            </a:r>
          </a:p>
          <a:p>
            <a:r>
              <a:rPr lang="en-US" dirty="0"/>
              <a:t> </a:t>
            </a:r>
          </a:p>
          <a:p>
            <a:r>
              <a:rPr lang="en-US" dirty="0"/>
              <a:t>    </a:t>
            </a:r>
            <a:r>
              <a:rPr lang="en-US" dirty="0" err="1"/>
              <a:t>IEnumerable</a:t>
            </a:r>
            <a:r>
              <a:rPr lang="en-US" dirty="0"/>
              <a:t>&lt;Pet&gt; query = </a:t>
            </a:r>
            <a:r>
              <a:rPr lang="en-US" dirty="0" err="1"/>
              <a:t>pets.OrderBy</a:t>
            </a:r>
            <a:r>
              <a:rPr lang="en-US" dirty="0"/>
              <a:t>(pet =&gt; </a:t>
            </a:r>
            <a:r>
              <a:rPr lang="en-US" dirty="0" err="1"/>
              <a:t>pet.Age</a:t>
            </a:r>
            <a:r>
              <a:rPr lang="en-US" dirty="0"/>
              <a:t>);</a:t>
            </a:r>
          </a:p>
          <a:p>
            <a:r>
              <a:rPr lang="en-US" dirty="0"/>
              <a:t>}</a:t>
            </a:r>
          </a:p>
          <a:p>
            <a:endParaRPr lang="en-US" dirty="0">
              <a:solidFill>
                <a:srgbClr val="111111"/>
              </a:solidFill>
            </a:endParaRPr>
          </a:p>
        </p:txBody>
      </p:sp>
    </p:spTree>
    <p:extLst>
      <p:ext uri="{BB962C8B-B14F-4D97-AF65-F5344CB8AC3E}">
        <p14:creationId xmlns:p14="http://schemas.microsoft.com/office/powerpoint/2010/main" val="2355161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dirty="0"/>
              <a:t> LINQ Exercises</a:t>
            </a:r>
          </a:p>
        </p:txBody>
      </p:sp>
      <p:sp>
        <p:nvSpPr>
          <p:cNvPr id="6" name="TextBox 5">
            <a:extLst>
              <a:ext uri="{FF2B5EF4-FFF2-40B4-BE49-F238E27FC236}">
                <a16:creationId xmlns:a16="http://schemas.microsoft.com/office/drawing/2014/main" id="{50C0D041-10B0-4054-BF8D-10F469303B38}"/>
              </a:ext>
            </a:extLst>
          </p:cNvPr>
          <p:cNvSpPr txBox="1"/>
          <p:nvPr/>
        </p:nvSpPr>
        <p:spPr>
          <a:xfrm>
            <a:off x="396764" y="1341105"/>
            <a:ext cx="11643676" cy="5632311"/>
          </a:xfrm>
          <a:prstGeom prst="rect">
            <a:avLst/>
          </a:prstGeom>
          <a:noFill/>
        </p:spPr>
        <p:txBody>
          <a:bodyPr wrap="square">
            <a:spAutoFit/>
          </a:bodyPr>
          <a:lstStyle/>
          <a:p>
            <a:r>
              <a:rPr lang="en-US" dirty="0"/>
              <a:t>#6. </a:t>
            </a:r>
          </a:p>
          <a:p>
            <a:r>
              <a:rPr lang="en-US" dirty="0"/>
              <a:t>class </a:t>
            </a:r>
            <a:r>
              <a:rPr lang="en-US" dirty="0" err="1"/>
              <a:t>PetOwner</a:t>
            </a:r>
            <a:r>
              <a:rPr lang="en-US" dirty="0"/>
              <a:t> {</a:t>
            </a:r>
          </a:p>
          <a:p>
            <a:r>
              <a:rPr lang="en-US" dirty="0"/>
              <a:t>    public string Name { get; set; }</a:t>
            </a:r>
          </a:p>
          <a:p>
            <a:r>
              <a:rPr lang="en-US" dirty="0"/>
              <a:t>    public List&lt;string&gt; Pets { get; set; }</a:t>
            </a:r>
          </a:p>
          <a:p>
            <a:r>
              <a:rPr lang="en-US" dirty="0"/>
              <a:t>}</a:t>
            </a:r>
          </a:p>
          <a:p>
            <a:r>
              <a:rPr lang="en-US" dirty="0"/>
              <a:t>public static void SelectManyEx3()</a:t>
            </a:r>
          </a:p>
          <a:p>
            <a:r>
              <a:rPr lang="en-US" dirty="0"/>
              <a:t>{</a:t>
            </a:r>
          </a:p>
          <a:p>
            <a:r>
              <a:rPr lang="en-US" dirty="0"/>
              <a:t>    </a:t>
            </a:r>
            <a:r>
              <a:rPr lang="en-US" dirty="0" err="1"/>
              <a:t>PetOwner</a:t>
            </a:r>
            <a:r>
              <a:rPr lang="en-US" dirty="0"/>
              <a:t>[] </a:t>
            </a:r>
            <a:r>
              <a:rPr lang="en-US" dirty="0" err="1"/>
              <a:t>petOwners</a:t>
            </a:r>
            <a:r>
              <a:rPr lang="en-US" dirty="0"/>
              <a:t> = { new </a:t>
            </a:r>
            <a:r>
              <a:rPr lang="en-US" dirty="0" err="1"/>
              <a:t>PetOwner</a:t>
            </a:r>
            <a:r>
              <a:rPr lang="en-US" dirty="0"/>
              <a:t> { Name="</a:t>
            </a:r>
            <a:r>
              <a:rPr lang="en-US" dirty="0" err="1"/>
              <a:t>Higa</a:t>
            </a:r>
            <a:r>
              <a:rPr lang="en-US" dirty="0"/>
              <a:t>", Pets = new List&lt;string&gt;{ "Scruffy", "Sam" } },</a:t>
            </a:r>
          </a:p>
          <a:p>
            <a:r>
              <a:rPr lang="en-US" dirty="0"/>
              <a:t>          new </a:t>
            </a:r>
            <a:r>
              <a:rPr lang="en-US" dirty="0" err="1"/>
              <a:t>PetOwner</a:t>
            </a:r>
            <a:r>
              <a:rPr lang="en-US" dirty="0"/>
              <a:t> { Name="Ashkenazi", Pets = new List&lt;string&gt;{ "Walker", "Sugar" } },</a:t>
            </a:r>
          </a:p>
          <a:p>
            <a:r>
              <a:rPr lang="en-US" dirty="0"/>
              <a:t>          new </a:t>
            </a:r>
            <a:r>
              <a:rPr lang="en-US" dirty="0" err="1"/>
              <a:t>PetOwner</a:t>
            </a:r>
            <a:r>
              <a:rPr lang="en-US" dirty="0"/>
              <a:t> { Name="Price", Pets = new List&lt;string&gt;{ "Scratches", "Diesel" } },</a:t>
            </a:r>
          </a:p>
          <a:p>
            <a:r>
              <a:rPr lang="en-US" dirty="0"/>
              <a:t>          new </a:t>
            </a:r>
            <a:r>
              <a:rPr lang="en-US" dirty="0" err="1"/>
              <a:t>PetOwner</a:t>
            </a:r>
            <a:r>
              <a:rPr lang="en-US" dirty="0"/>
              <a:t> { Name="Hines", Pets = new List&lt;string&gt;{ "Dusty" } } };</a:t>
            </a:r>
          </a:p>
          <a:p>
            <a:endParaRPr lang="en-US" dirty="0"/>
          </a:p>
          <a:p>
            <a:r>
              <a:rPr lang="en-US" dirty="0"/>
              <a:t>   </a:t>
            </a:r>
            <a:r>
              <a:rPr lang="en-US" dirty="0" err="1"/>
              <a:t>var</a:t>
            </a:r>
            <a:r>
              <a:rPr lang="en-US" dirty="0"/>
              <a:t> query =  </a:t>
            </a:r>
            <a:r>
              <a:rPr lang="en-US" dirty="0" err="1"/>
              <a:t>petOwners.SelectMany</a:t>
            </a:r>
            <a:r>
              <a:rPr lang="en-US" dirty="0"/>
              <a:t>(</a:t>
            </a:r>
            <a:r>
              <a:rPr lang="en-US" dirty="0" err="1"/>
              <a:t>petOwner</a:t>
            </a:r>
            <a:r>
              <a:rPr lang="en-US" dirty="0"/>
              <a:t> =&gt; </a:t>
            </a:r>
            <a:r>
              <a:rPr lang="en-US" dirty="0" err="1"/>
              <a:t>petOwner.Pets</a:t>
            </a:r>
            <a:r>
              <a:rPr lang="en-US" dirty="0"/>
              <a:t>, (</a:t>
            </a:r>
            <a:r>
              <a:rPr lang="en-US" dirty="0" err="1"/>
              <a:t>petOwner</a:t>
            </a:r>
            <a:r>
              <a:rPr lang="en-US" dirty="0"/>
              <a:t>, </a:t>
            </a:r>
            <a:r>
              <a:rPr lang="en-US" dirty="0" err="1"/>
              <a:t>petName</a:t>
            </a:r>
            <a:r>
              <a:rPr lang="en-US" dirty="0"/>
              <a:t>) =&gt; new { </a:t>
            </a:r>
            <a:r>
              <a:rPr lang="en-US" dirty="0" err="1"/>
              <a:t>petOwner</a:t>
            </a:r>
            <a:r>
              <a:rPr lang="en-US" dirty="0"/>
              <a:t>, </a:t>
            </a:r>
            <a:r>
              <a:rPr lang="en-US" dirty="0" err="1"/>
              <a:t>petName</a:t>
            </a:r>
            <a:r>
              <a:rPr lang="en-US" dirty="0"/>
              <a:t> }).Where(</a:t>
            </a:r>
            <a:r>
              <a:rPr lang="en-US" dirty="0" err="1"/>
              <a:t>ownerAndPet</a:t>
            </a:r>
            <a:r>
              <a:rPr lang="en-US" dirty="0"/>
              <a:t> =&gt; </a:t>
            </a:r>
            <a:r>
              <a:rPr lang="en-US" dirty="0" err="1"/>
              <a:t>ownerAndPet.petName.StartsWith</a:t>
            </a:r>
            <a:r>
              <a:rPr lang="en-US" dirty="0"/>
              <a:t>("S")) .Select(</a:t>
            </a:r>
            <a:r>
              <a:rPr lang="en-US" dirty="0" err="1"/>
              <a:t>ownerAndPet</a:t>
            </a:r>
            <a:r>
              <a:rPr lang="en-US" dirty="0"/>
              <a:t> =&gt;</a:t>
            </a:r>
          </a:p>
          <a:p>
            <a:r>
              <a:rPr lang="en-US" dirty="0"/>
              <a:t>                		new {</a:t>
            </a:r>
          </a:p>
          <a:p>
            <a:r>
              <a:rPr lang="en-US" dirty="0"/>
              <a:t>                    			Owner = </a:t>
            </a:r>
            <a:r>
              <a:rPr lang="en-US" dirty="0" err="1"/>
              <a:t>ownerAndPet.petOwner.Name</a:t>
            </a:r>
            <a:r>
              <a:rPr lang="en-US" dirty="0"/>
              <a:t>,</a:t>
            </a:r>
          </a:p>
          <a:p>
            <a:r>
              <a:rPr lang="en-US" dirty="0"/>
              <a:t>                    			Pet = </a:t>
            </a:r>
            <a:r>
              <a:rPr lang="en-US" dirty="0" err="1"/>
              <a:t>ownerAndPet.petName</a:t>
            </a:r>
            <a:endParaRPr lang="en-US" dirty="0"/>
          </a:p>
          <a:p>
            <a:r>
              <a:rPr lang="en-US" dirty="0"/>
              <a:t>                		})</a:t>
            </a:r>
          </a:p>
          <a:p>
            <a:r>
              <a:rPr lang="en-US" dirty="0"/>
              <a:t>}</a:t>
            </a:r>
          </a:p>
          <a:p>
            <a:endParaRPr lang="en-US" dirty="0">
              <a:solidFill>
                <a:srgbClr val="111111"/>
              </a:solidFill>
            </a:endParaRPr>
          </a:p>
        </p:txBody>
      </p:sp>
    </p:spTree>
    <p:extLst>
      <p:ext uri="{BB962C8B-B14F-4D97-AF65-F5344CB8AC3E}">
        <p14:creationId xmlns:p14="http://schemas.microsoft.com/office/powerpoint/2010/main" val="3278798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627993" y="700132"/>
            <a:ext cx="10515600" cy="592642"/>
          </a:xfrm>
        </p:spPr>
        <p:txBody>
          <a:bodyPr>
            <a:noAutofit/>
          </a:bodyPr>
          <a:lstStyle/>
          <a:p>
            <a:r>
              <a:rPr lang="en-US" sz="4000" b="1" dirty="0"/>
              <a:t>Summary</a:t>
            </a:r>
          </a:p>
        </p:txBody>
      </p:sp>
      <p:sp>
        <p:nvSpPr>
          <p:cNvPr id="18435" name="Rectangle 3"/>
          <p:cNvSpPr>
            <a:spLocks noGrp="1"/>
          </p:cNvSpPr>
          <p:nvPr>
            <p:ph idx="1"/>
          </p:nvPr>
        </p:nvSpPr>
        <p:spPr>
          <a:xfrm>
            <a:off x="627993" y="1492469"/>
            <a:ext cx="11111884" cy="4865095"/>
          </a:xfrm>
        </p:spPr>
        <p:txBody>
          <a:bodyPr>
            <a:normAutofit/>
          </a:bodyPr>
          <a:lstStyle/>
          <a:p>
            <a:pPr marL="342900" indent="-342900">
              <a:lnSpc>
                <a:spcPct val="120000"/>
              </a:lnSpc>
              <a:buClr>
                <a:srgbClr val="973735"/>
              </a:buClr>
              <a:buSzPct val="50000"/>
              <a:buFont typeface="Wingdings" pitchFamily="2" charset="2"/>
              <a:buChar char="u"/>
              <a:defRPr/>
            </a:pPr>
            <a:r>
              <a:rPr lang="en-US" sz="3000" dirty="0"/>
              <a:t>Concepts were introduced:</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Decrible about Delegate</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Decrible about Event</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Lambda and Query Expression</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LINQ to Object</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Generic Delegate Types: Func and Action </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about Func and Action delegates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creating and using Delegates, Lambdas Expression, Query Expression and Events </a:t>
            </a:r>
            <a:endParaRPr lang="en-US" sz="23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2064</TotalTime>
  <Words>2378</Words>
  <Application>Microsoft Office PowerPoint</Application>
  <PresentationFormat>Widescreen</PresentationFormat>
  <Paragraphs>279</Paragraphs>
  <Slides>35</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Courier</vt:lpstr>
      <vt:lpstr>Courier New</vt:lpstr>
      <vt:lpstr>Wingdings</vt:lpstr>
      <vt:lpstr>Office Theme</vt:lpstr>
      <vt:lpstr>Delegates, Events, and LINQ</vt:lpstr>
      <vt:lpstr>Objectives </vt:lpstr>
      <vt:lpstr>Delegates in .NET</vt:lpstr>
      <vt:lpstr>What is the Delegates?</vt:lpstr>
      <vt:lpstr>Delegate Class </vt:lpstr>
      <vt:lpstr>Delegate Class </vt:lpstr>
      <vt:lpstr>Delegate Type</vt:lpstr>
      <vt:lpstr>Instantiating Delegates</vt:lpstr>
      <vt:lpstr>Passing Delegate as a Parameter</vt:lpstr>
      <vt:lpstr>Multicast Delegate</vt:lpstr>
      <vt:lpstr>Multicast Delegate</vt:lpstr>
      <vt:lpstr>Anonymous Method</vt:lpstr>
      <vt:lpstr>Generic Delegate Types </vt:lpstr>
      <vt:lpstr>Generic Delegate Types </vt:lpstr>
      <vt:lpstr>Events in .NET</vt:lpstr>
      <vt:lpstr>Understanding C# Events</vt:lpstr>
      <vt:lpstr>Understanding C# Events</vt:lpstr>
      <vt:lpstr>Defining C# Events</vt:lpstr>
      <vt:lpstr>Implement Events</vt:lpstr>
      <vt:lpstr>Language Integrated Query (LINQ)</vt:lpstr>
      <vt:lpstr>Lambdas Expression</vt:lpstr>
      <vt:lpstr>Lambdas Expression</vt:lpstr>
      <vt:lpstr>Lambdas with Standard Query Operators </vt:lpstr>
      <vt:lpstr>Lambdas with Standard Query Operators </vt:lpstr>
      <vt:lpstr>Query Expressions </vt:lpstr>
      <vt:lpstr>Introduction of LINQ to Objects</vt:lpstr>
      <vt:lpstr>LINQ to Objects with Query Expressions </vt:lpstr>
      <vt:lpstr> IEnumerable – IEnumerator in details</vt:lpstr>
      <vt:lpstr>IQueryable in .NET</vt:lpstr>
      <vt:lpstr>IQueryable in .NET</vt:lpstr>
      <vt:lpstr> Benefits of Using IQueryable</vt:lpstr>
      <vt:lpstr> LINQ Exercises</vt:lpstr>
      <vt:lpstr> LINQ Exercises</vt:lpstr>
      <vt:lpstr> LINQ 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442</cp:revision>
  <dcterms:created xsi:type="dcterms:W3CDTF">2021-01-25T08:25:31Z</dcterms:created>
  <dcterms:modified xsi:type="dcterms:W3CDTF">2024-05-29T09:40:10Z</dcterms:modified>
</cp:coreProperties>
</file>